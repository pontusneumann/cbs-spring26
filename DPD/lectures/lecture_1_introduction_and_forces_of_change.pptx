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  <p:sldMasterId id="2147483684" r:id="rId5"/>
    <p:sldMasterId id="2147483689" r:id="rId6"/>
  </p:sldMasterIdLst>
  <p:notesMasterIdLst>
    <p:notesMasterId r:id="rId22"/>
  </p:notesMasterIdLst>
  <p:handoutMasterIdLst>
    <p:handoutMasterId r:id="rId23"/>
  </p:handoutMasterIdLst>
  <p:sldIdLst>
    <p:sldId id="259" r:id="rId7"/>
    <p:sldId id="697" r:id="rId8"/>
    <p:sldId id="341" r:id="rId9"/>
    <p:sldId id="696" r:id="rId10"/>
    <p:sldId id="285" r:id="rId11"/>
    <p:sldId id="698" r:id="rId12"/>
    <p:sldId id="699" r:id="rId13"/>
    <p:sldId id="321" r:id="rId14"/>
    <p:sldId id="737" r:id="rId15"/>
    <p:sldId id="694" r:id="rId16"/>
    <p:sldId id="695" r:id="rId17"/>
    <p:sldId id="555" r:id="rId18"/>
    <p:sldId id="307" r:id="rId19"/>
    <p:sldId id="739" r:id="rId20"/>
    <p:sldId id="693" r:id="rId21"/>
  </p:sldIdLst>
  <p:sldSz cx="9144000" cy="5143500" type="screen16x9"/>
  <p:notesSz cx="7099300" cy="10234613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3048">
          <p15:clr>
            <a:srgbClr val="A4A3A4"/>
          </p15:clr>
        </p15:guide>
        <p15:guide id="3" pos="5183">
          <p15:clr>
            <a:srgbClr val="A4A3A4"/>
          </p15:clr>
        </p15:guide>
        <p15:guide id="4" pos="579">
          <p15:clr>
            <a:srgbClr val="A4A3A4"/>
          </p15:clr>
        </p15:guide>
        <p15:guide id="5" pos="577">
          <p15:clr>
            <a:srgbClr val="A4A3A4"/>
          </p15:clr>
        </p15:guide>
        <p15:guide id="6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7A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387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25" y="82"/>
      </p:cViewPr>
      <p:guideLst>
        <p:guide orient="horz" pos="192"/>
        <p:guide orient="horz" pos="3048"/>
        <p:guide pos="5183"/>
        <p:guide pos="579"/>
        <p:guide pos="57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-3180" y="-96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F6992C72-CA01-4D4C-B1C4-5066EC55DB8A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8"/>
            <a:ext cx="3076363" cy="513507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EF7638A-64AC-4946-94B4-39EF7D477E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8651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B5C1DC36-FCF6-4F65-A8BC-386231DA6558}" type="datetimeFigureOut">
              <a:rPr lang="da-DK" smtClean="0"/>
              <a:t>04-02-2026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E59BDDC2-5BFA-453C-A225-5004D8F0E7E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68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Gaining Insights</a:t>
            </a:r>
          </a:p>
          <a:p>
            <a:pPr marL="171450" indent="-171450">
              <a:buFontTx/>
              <a:buChar char="-"/>
            </a:pPr>
            <a:r>
              <a:rPr lang="en-US" dirty="0"/>
              <a:t>Using ML / DL to discover patterns in huge amounts of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Models are trained on some parts of</a:t>
            </a:r>
            <a:r>
              <a:rPr lang="en-US" baseline="0" dirty="0"/>
              <a:t> the data set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Models learn from feedback and improve their performance over time (i.e., make better predictions, or more correct classifications)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B143-13E4-48E3-8C1F-6D30F7E081B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34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akkrediteringer-vandret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5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6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5793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w.it\Desktop\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06093" y="0"/>
            <a:ext cx="3837908" cy="34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333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aw.it\Desktop\CBS_NET_bold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960" y="0"/>
            <a:ext cx="4646040" cy="45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502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20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1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3672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7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9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0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569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7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8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8505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6A2FFD-EC8C-810A-5CD6-093DFDB464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3144EA-2540-DA25-C271-F4944856C8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145055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4E787AC-B9A2-8B31-A39F-E23F4C7F2073}"/>
              </a:ext>
            </a:extLst>
          </p:cNvPr>
          <p:cNvSpPr txBox="1"/>
          <p:nvPr userDrawn="1"/>
        </p:nvSpPr>
        <p:spPr>
          <a:xfrm>
            <a:off x="4964113" y="4698207"/>
            <a:ext cx="37846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fld id="{43C7A1DF-4FCF-4D58-B375-6C43727564E0}" type="slidenum">
              <a:rPr lang="en-US" sz="619" b="1">
                <a:solidFill>
                  <a:srgbClr val="4967AA"/>
                </a:solidFill>
                <a:latin typeface="Arial"/>
                <a:cs typeface="Arial"/>
              </a:rPr>
              <a:pPr algn="r">
                <a:defRPr/>
              </a:pPr>
              <a:t>‹#›</a:t>
            </a:fld>
            <a:endParaRPr lang="en-US" sz="619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5" name="Picture 7" descr="C:\Users\aw.it\Desktop\logo.png">
            <a:extLst>
              <a:ext uri="{FF2B5EF4-FFF2-40B4-BE49-F238E27FC236}">
                <a16:creationId xmlns:a16="http://schemas.microsoft.com/office/drawing/2014/main" id="{F957881E-FCD4-615A-F8E8-98B9521F5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1" y="247650"/>
            <a:ext cx="2411413" cy="20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5291" y="250032"/>
            <a:ext cx="5761037" cy="539354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395289" y="843559"/>
            <a:ext cx="8353424" cy="3854648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442093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B453C8B-FD61-3ECD-D1C6-E4EDFDB4BCC6}"/>
              </a:ext>
            </a:extLst>
          </p:cNvPr>
          <p:cNvSpPr txBox="1"/>
          <p:nvPr userDrawn="1"/>
        </p:nvSpPr>
        <p:spPr>
          <a:xfrm>
            <a:off x="4964113" y="4698207"/>
            <a:ext cx="37846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fld id="{618FDF75-8BEF-43E5-B64E-B55722CFE108}" type="slidenum">
              <a:rPr lang="en-US" sz="619" b="1">
                <a:solidFill>
                  <a:srgbClr val="4967AA"/>
                </a:solidFill>
                <a:latin typeface="Arial"/>
                <a:cs typeface="Arial"/>
              </a:rPr>
              <a:pPr algn="r">
                <a:defRPr/>
              </a:pPr>
              <a:t>‹#›</a:t>
            </a:fld>
            <a:endParaRPr lang="en-US" sz="619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5" name="Picture 7" descr="C:\Users\aw.it\Desktop\logo.png">
            <a:extLst>
              <a:ext uri="{FF2B5EF4-FFF2-40B4-BE49-F238E27FC236}">
                <a16:creationId xmlns:a16="http://schemas.microsoft.com/office/drawing/2014/main" id="{E3D46BD4-113B-02D2-0940-EA52EED3A8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1" y="247650"/>
            <a:ext cx="2411413" cy="20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5291" y="250032"/>
            <a:ext cx="5761037" cy="539354"/>
          </a:xfrm>
        </p:spPr>
        <p:txBody>
          <a:bodyPr>
            <a:normAutofit/>
          </a:bodyPr>
          <a:lstStyle>
            <a:lvl1pPr>
              <a:defRPr sz="1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395289" y="843559"/>
            <a:ext cx="8353424" cy="3854648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750787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8E8972-D6BB-CCD7-EDC0-DE925BA83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Session 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6ED265-C504-37CB-EEB5-37A683E9F6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ic.inf@cbs.dk</a:t>
            </a:r>
          </a:p>
        </p:txBody>
      </p:sp>
    </p:spTree>
    <p:extLst>
      <p:ext uri="{BB962C8B-B14F-4D97-AF65-F5344CB8AC3E}">
        <p14:creationId xmlns:p14="http://schemas.microsoft.com/office/powerpoint/2010/main" val="378109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1E674-6C67-2C73-BAC5-E34147AA55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40238" y="4523185"/>
            <a:ext cx="3784600" cy="24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5FF07E1-17A7-4734-9F32-9385723698CD}" type="slidenum">
              <a:rPr lang="en-US" altLang="da-DK" sz="975" b="1">
                <a:solidFill>
                  <a:srgbClr val="49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altLang="da-DK" sz="975" b="1">
              <a:solidFill>
                <a:srgbClr val="4967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7" descr="C:\Users\aw.it\Desktop\logo.png">
            <a:extLst>
              <a:ext uri="{FF2B5EF4-FFF2-40B4-BE49-F238E27FC236}">
                <a16:creationId xmlns:a16="http://schemas.microsoft.com/office/drawing/2014/main" id="{509C75F5-3AD6-4C28-7B79-1DBE207D87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4381"/>
            <a:ext cx="2411412" cy="267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/>
          <p:cNvSpPr>
            <a:spLocks noGrp="1"/>
          </p:cNvSpPr>
          <p:nvPr>
            <p:ph sz="quarter" idx="12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ladsholder til tekst 15"/>
          <p:cNvSpPr>
            <a:spLocks noGrp="1"/>
          </p:cNvSpPr>
          <p:nvPr>
            <p:ph type="body" sz="quarter" idx="10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4521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1E674-6C67-2C73-BAC5-E34147AA55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40238" y="4523185"/>
            <a:ext cx="3784600" cy="24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5FF07E1-17A7-4734-9F32-9385723698CD}" type="slidenum">
              <a:rPr lang="en-US" altLang="da-DK" sz="975" b="1">
                <a:solidFill>
                  <a:srgbClr val="49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altLang="da-DK" sz="975" b="1">
              <a:solidFill>
                <a:srgbClr val="4967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7" descr="C:\Users\aw.it\Desktop\logo.png">
            <a:extLst>
              <a:ext uri="{FF2B5EF4-FFF2-40B4-BE49-F238E27FC236}">
                <a16:creationId xmlns:a16="http://schemas.microsoft.com/office/drawing/2014/main" id="{509C75F5-3AD6-4C28-7B79-1DBE207D87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4381"/>
            <a:ext cx="2411412" cy="267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/>
          <p:cNvSpPr>
            <a:spLocks noGrp="1"/>
          </p:cNvSpPr>
          <p:nvPr>
            <p:ph sz="quarter" idx="12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ladsholder til tekst 15"/>
          <p:cNvSpPr>
            <a:spLocks noGrp="1"/>
          </p:cNvSpPr>
          <p:nvPr>
            <p:ph type="body" sz="quarter" idx="10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9088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440238" y="4523185"/>
            <a:ext cx="3784600" cy="24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12E46F86-BDE3-474A-B660-8642356C6F89}" type="slidenum">
              <a:rPr lang="en-US" altLang="da-DK" sz="975" b="1">
                <a:solidFill>
                  <a:srgbClr val="49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altLang="da-DK" sz="975" b="1">
              <a:solidFill>
                <a:srgbClr val="4967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4381"/>
            <a:ext cx="2411412" cy="267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/>
          <p:cNvSpPr>
            <a:spLocks noGrp="1"/>
          </p:cNvSpPr>
          <p:nvPr>
            <p:ph sz="quarter" idx="12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dsholder til tekst 15"/>
          <p:cNvSpPr>
            <a:spLocks noGrp="1"/>
          </p:cNvSpPr>
          <p:nvPr>
            <p:ph type="body" sz="quarter" idx="10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0074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6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296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6829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4808013" y="28479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96370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20750" y="28479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08013" y="1019175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59618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1071" y="1019175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</a:t>
            </a:r>
            <a:r>
              <a:rPr lang="da-DK" dirty="0" err="1"/>
              <a:t>add</a:t>
            </a:r>
            <a:r>
              <a:rPr lang="da-DK" dirty="0"/>
              <a:t> text – or click an icon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content</a:t>
            </a:r>
            <a:endParaRPr lang="da-DK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6" y="2847975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7050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6" y="2847975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4804838" y="1019175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8466637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10" y="4457138"/>
            <a:ext cx="3314700" cy="381000"/>
          </a:xfrm>
          <a:prstGeom prst="rect">
            <a:avLst/>
          </a:prstGeom>
        </p:spPr>
      </p:pic>
      <p:pic>
        <p:nvPicPr>
          <p:cNvPr id="17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0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9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0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2036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3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24274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49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DalgasHave-2590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2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1520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M0128_CBS_SolbjergPlads-2918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85374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w.it\Desktop\Picture10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5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3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094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914400" y="304800"/>
            <a:ext cx="7313613" cy="45339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4323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42" r:id="rId7"/>
    <p:sldLayoutId id="2147483745" r:id="rId8"/>
    <p:sldLayoutId id="2147483746" r:id="rId9"/>
    <p:sldLayoutId id="2147483748" r:id="rId10"/>
    <p:sldLayoutId id="2147483751" r:id="rId11"/>
    <p:sldLayoutId id="2147483755" r:id="rId12"/>
    <p:sldLayoutId id="2147483756" r:id="rId13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0" y="304800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87181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722" r:id="rId4"/>
    <p:sldLayoutId id="2147483688" r:id="rId5"/>
    <p:sldLayoutId id="2147483723" r:id="rId6"/>
    <p:sldLayoutId id="214748375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0" y="304800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1327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0" r:id="rId2"/>
    <p:sldLayoutId id="2147483708" r:id="rId3"/>
    <p:sldLayoutId id="2147483731" r:id="rId4"/>
    <p:sldLayoutId id="2147483732" r:id="rId5"/>
    <p:sldLayoutId id="214748373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.digi@cbs.dk" TargetMode="Externa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94BF2D-7D5E-59CF-F4FE-E99C0E597B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Data, </a:t>
            </a:r>
            <a:r>
              <a:rPr lang="en-US" dirty="0"/>
              <a:t>Platforms and Digitalization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9FE213-EC0C-8D0C-1004-CF6883E904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6663" y="2702628"/>
            <a:ext cx="7308850" cy="1464255"/>
          </a:xfrm>
        </p:spPr>
        <p:txBody>
          <a:bodyPr/>
          <a:lstStyle/>
          <a:p>
            <a:pPr eaLnBrk="1" hangingPunct="1"/>
            <a:r>
              <a:rPr lang="en-US" altLang="en-US" sz="1600" b="1" dirty="0"/>
              <a:t>Ioanna Constantiou, </a:t>
            </a:r>
            <a:r>
              <a:rPr lang="en-US" altLang="en-US" sz="1600" b="1" dirty="0">
                <a:solidFill>
                  <a:schemeClr val="accent2"/>
                </a:solidFill>
                <a:hlinkClick r:id="rId2"/>
              </a:rPr>
              <a:t>ic.digi@cbs.dk</a:t>
            </a:r>
            <a:endParaRPr lang="en-US" altLang="en-US" sz="1600" b="1" dirty="0">
              <a:solidFill>
                <a:schemeClr val="accent2"/>
              </a:solidFill>
            </a:endParaRPr>
          </a:p>
          <a:p>
            <a:pPr eaLnBrk="1" hangingPunct="1"/>
            <a:r>
              <a:rPr lang="en-US" altLang="en-US" sz="1600" b="1" dirty="0"/>
              <a:t>Department of Digitalization</a:t>
            </a:r>
          </a:p>
          <a:p>
            <a:endParaRPr lang="da-D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/>
          <p:cNvSpPr/>
          <p:nvPr/>
        </p:nvSpPr>
        <p:spPr>
          <a:xfrm rot="16200000">
            <a:off x="3960806" y="2686954"/>
            <a:ext cx="1064820" cy="2234045"/>
          </a:xfrm>
          <a:prstGeom prst="homePlat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Pentagon 17"/>
          <p:cNvSpPr/>
          <p:nvPr/>
        </p:nvSpPr>
        <p:spPr>
          <a:xfrm flipH="1">
            <a:off x="5391727" y="2161165"/>
            <a:ext cx="2185805" cy="871682"/>
          </a:xfrm>
          <a:prstGeom prst="homePlat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Pentagon 3"/>
          <p:cNvSpPr/>
          <p:nvPr/>
        </p:nvSpPr>
        <p:spPr>
          <a:xfrm>
            <a:off x="1675825" y="2280017"/>
            <a:ext cx="1887683" cy="871682"/>
          </a:xfrm>
          <a:prstGeom prst="homePlate">
            <a:avLst/>
          </a:prstGeom>
          <a:solidFill>
            <a:srgbClr val="00A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Forces of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453" y="4087117"/>
            <a:ext cx="1828859" cy="328935"/>
          </a:xfrm>
          <a:prstGeom prst="rect">
            <a:avLst/>
          </a:prstGeom>
          <a:noFill/>
        </p:spPr>
        <p:txBody>
          <a:bodyPr wrap="square" lIns="51434" tIns="25717" rIns="51434" bIns="25717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 kern="0" dirty="0">
                <a:solidFill>
                  <a:srgbClr val="000000"/>
                </a:solidFill>
                <a:latin typeface="Calibri"/>
                <a:cs typeface="Calibri"/>
              </a:rPr>
              <a:t>Source: P. Evans, “Networks, Data and Platforms,” in </a:t>
            </a:r>
            <a:r>
              <a:rPr lang="en-US" sz="600" i="1" kern="0" dirty="0">
                <a:solidFill>
                  <a:srgbClr val="000000"/>
                </a:solidFill>
                <a:latin typeface="Calibri"/>
                <a:cs typeface="Calibri"/>
              </a:rPr>
              <a:t>Growing Global: Lessons for the New Enterprise</a:t>
            </a:r>
            <a:r>
              <a:rPr lang="en-US" sz="600" kern="0" dirty="0">
                <a:solidFill>
                  <a:srgbClr val="000000"/>
                </a:solidFill>
                <a:latin typeface="Calibri"/>
                <a:cs typeface="Calibri"/>
              </a:rPr>
              <a:t>, Center for Global Enterprise, 2015.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0934" y="1210922"/>
            <a:ext cx="2761395" cy="259685"/>
          </a:xfrm>
          <a:prstGeom prst="rect">
            <a:avLst/>
          </a:prstGeom>
          <a:noFill/>
        </p:spPr>
        <p:txBody>
          <a:bodyPr wrap="none" lIns="51434" tIns="25717" rIns="51434" bIns="25717" rtlCol="0">
            <a:spAutoFit/>
          </a:bodyPr>
          <a:lstStyle/>
          <a:p>
            <a:r>
              <a:rPr lang="en-US" sz="1350" dirty="0">
                <a:latin typeface="Calibri"/>
                <a:cs typeface="Calibri"/>
              </a:rPr>
              <a:t>Trends likely to continue and intensify</a:t>
            </a:r>
          </a:p>
        </p:txBody>
      </p:sp>
      <p:pic>
        <p:nvPicPr>
          <p:cNvPr id="31" name="Picture 30" descr="Oblakoder-01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281" y="1419051"/>
            <a:ext cx="1601869" cy="2025404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715572" y="2445308"/>
            <a:ext cx="1718746" cy="519301"/>
          </a:xfrm>
          <a:prstGeom prst="round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/>
                <a:cs typeface="Calibri"/>
              </a:rPr>
              <a:t>Surge in data and tools that can manage and analyze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19410" y="2494247"/>
            <a:ext cx="1664396" cy="71558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/>
                <a:cs typeface="Calibri"/>
              </a:rPr>
              <a:t>Networks connect physical, digital, and social</a:t>
            </a:r>
          </a:p>
        </p:txBody>
      </p:sp>
      <p:sp>
        <p:nvSpPr>
          <p:cNvPr id="34" name="Oval 14"/>
          <p:cNvSpPr>
            <a:spLocks noChangeArrowheads="1"/>
          </p:cNvSpPr>
          <p:nvPr/>
        </p:nvSpPr>
        <p:spPr bwMode="auto">
          <a:xfrm>
            <a:off x="1781924" y="2252294"/>
            <a:ext cx="1398410" cy="30008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350" b="1" kern="0" dirty="0">
                <a:solidFill>
                  <a:srgbClr val="000000"/>
                </a:solidFill>
                <a:latin typeface="Calibri"/>
                <a:cs typeface="Calibri"/>
              </a:rPr>
              <a:t>Age of Networks</a:t>
            </a:r>
          </a:p>
        </p:txBody>
      </p:sp>
      <p:sp>
        <p:nvSpPr>
          <p:cNvPr id="35" name="Oval 14"/>
          <p:cNvSpPr>
            <a:spLocks noChangeArrowheads="1"/>
          </p:cNvSpPr>
          <p:nvPr/>
        </p:nvSpPr>
        <p:spPr bwMode="auto">
          <a:xfrm>
            <a:off x="5715001" y="2194570"/>
            <a:ext cx="1440529" cy="30008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r">
              <a:defRPr/>
            </a:pPr>
            <a:r>
              <a:rPr lang="en-US" sz="1350" b="1" kern="0" dirty="0">
                <a:solidFill>
                  <a:srgbClr val="000000"/>
                </a:solidFill>
                <a:latin typeface="Calibri"/>
                <a:cs typeface="Calibri"/>
              </a:rPr>
              <a:t>Age of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73096" y="2315614"/>
            <a:ext cx="1547751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rgbClr val="000000"/>
                </a:solidFill>
                <a:latin typeface="Abadi MT Condensed Extra Bold"/>
                <a:cs typeface="Abadi MT Condensed Extra Bold"/>
              </a:rPr>
              <a:t>FIRM</a:t>
            </a: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3843673" y="3509003"/>
            <a:ext cx="1266082" cy="276999"/>
          </a:xfrm>
          <a:prstGeom prst="rect">
            <a:avLst/>
          </a:prstGeom>
          <a:noFill/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1200" b="1" kern="0" dirty="0">
                <a:solidFill>
                  <a:srgbClr val="000000"/>
                </a:solidFill>
                <a:latin typeface="Calibri"/>
                <a:cs typeface="Calibri"/>
              </a:rPr>
              <a:t>Age of Platforms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44126" y="3714749"/>
            <a:ext cx="2018910" cy="625884"/>
          </a:xfrm>
          <a:prstGeom prst="round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/>
                <a:cs typeface="Calibri"/>
              </a:rPr>
              <a:t>New business models that that leverage networks and intelligence</a:t>
            </a:r>
          </a:p>
        </p:txBody>
      </p:sp>
      <p:pic>
        <p:nvPicPr>
          <p:cNvPr id="23" name="Picture 2" descr="CC-BY-SA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848" y="4712140"/>
            <a:ext cx="307391" cy="10828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1"/>
          <p:cNvSpPr txBox="1">
            <a:spLocks noChangeArrowheads="1"/>
          </p:cNvSpPr>
          <p:nvPr/>
        </p:nvSpPr>
        <p:spPr bwMode="auto">
          <a:xfrm>
            <a:off x="5568362" y="4691355"/>
            <a:ext cx="2013166" cy="189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70000"/>
              </a:lnSpc>
            </a:pPr>
            <a:r>
              <a:rPr lang="de-DE" altLang="en-US" sz="450" dirty="0"/>
              <a:t> 2016  </a:t>
            </a:r>
            <a:r>
              <a:rPr lang="en-US" altLang="en-US" sz="450" dirty="0"/>
              <a:t>Parker &amp; Van Alstyne, with </a:t>
            </a:r>
            <a:r>
              <a:rPr lang="en-US" altLang="en-US" sz="450" dirty="0" err="1"/>
              <a:t>Choudary</a:t>
            </a:r>
            <a:r>
              <a:rPr lang="en-US" altLang="en-US" sz="450" dirty="0"/>
              <a:t> – licensed under Creative Commons Attribution-</a:t>
            </a:r>
            <a:r>
              <a:rPr lang="en-US" altLang="en-US" sz="450" dirty="0" err="1"/>
              <a:t>ShareAlike</a:t>
            </a:r>
            <a:r>
              <a:rPr lang="en-US" altLang="en-US" sz="450" dirty="0"/>
              <a:t> 4.0 International (CC BY-SA 4.0).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64136F47-0C5D-0713-F607-9CD587001421}"/>
              </a:ext>
            </a:extLst>
          </p:cNvPr>
          <p:cNvSpPr/>
          <p:nvPr/>
        </p:nvSpPr>
        <p:spPr>
          <a:xfrm>
            <a:off x="6259086" y="304801"/>
            <a:ext cx="2648940" cy="1477891"/>
          </a:xfrm>
          <a:prstGeom prst="cloudCallout">
            <a:avLst/>
          </a:prstGeom>
          <a:noFill/>
          <a:ln>
            <a:solidFill>
              <a:srgbClr val="496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do the changes mean for the firm?</a:t>
            </a:r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06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6A8E6-ABAD-146B-1A59-0ADB43EE009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9D8BA7-215F-1F62-25F5-EA4D49CA18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20375" y="1006384"/>
            <a:ext cx="3420000" cy="33813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 Giants Revised Ethics Policies  and focus on Bold innovation vs EU AI Act with risk levels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GenAI</a:t>
            </a:r>
            <a:r>
              <a:rPr lang="en-US" dirty="0"/>
              <a:t> use and critical thinking </a:t>
            </a:r>
            <a:endParaRPr lang="da-DK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896656-B20F-4B49-92E1-63C0187B4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AU" sz="3200" dirty="0"/>
              <a:t>The latest developments</a:t>
            </a:r>
          </a:p>
        </p:txBody>
      </p:sp>
      <p:pic>
        <p:nvPicPr>
          <p:cNvPr id="2" name="Picture 2" descr="Welcome ChatGPT ... should Google be worried? - Chris Skinner's blog">
            <a:extLst>
              <a:ext uri="{FF2B5EF4-FFF2-40B4-BE49-F238E27FC236}">
                <a16:creationId xmlns:a16="http://schemas.microsoft.com/office/drawing/2014/main" id="{33B9FC30-846E-B23C-9E21-7CB161973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769512"/>
            <a:ext cx="3923761" cy="360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08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‘</a:t>
            </a:r>
            <a:r>
              <a:rPr lang="da-DK" sz="3200" dirty="0" err="1"/>
              <a:t>Walking</a:t>
            </a:r>
            <a:r>
              <a:rPr lang="da-DK" sz="3200" dirty="0"/>
              <a:t> Data Generator</a:t>
            </a:r>
            <a:endParaRPr lang="da-DK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656160" y="1383506"/>
            <a:ext cx="5413772" cy="2558407"/>
            <a:chOff x="1801794" y="1354066"/>
            <a:chExt cx="8699492" cy="3351813"/>
          </a:xfrm>
        </p:grpSpPr>
        <p:pic>
          <p:nvPicPr>
            <p:cNvPr id="18436" name="Grafik 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8089" y="2648316"/>
              <a:ext cx="1347297" cy="119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37" name="Grafik 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23793" y="2676156"/>
              <a:ext cx="1114425" cy="1114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8" name="Rechteck 4"/>
            <p:cNvSpPr>
              <a:spLocks noChangeArrowheads="1"/>
            </p:cNvSpPr>
            <p:nvPr/>
          </p:nvSpPr>
          <p:spPr bwMode="auto">
            <a:xfrm>
              <a:off x="6840867" y="2360283"/>
              <a:ext cx="1275289" cy="1656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wrap="none" lIns="51435" tIns="25718" rIns="51435" bIns="25718" anchor="ctr"/>
            <a:lstStyle>
              <a:lvl1pPr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endParaRPr lang="de-DE" altLang="da-DK" sz="1125"/>
            </a:p>
          </p:txBody>
        </p:sp>
        <p:sp>
          <p:nvSpPr>
            <p:cNvPr id="18439" name="Rechteck 5"/>
            <p:cNvSpPr>
              <a:spLocks noChangeArrowheads="1"/>
            </p:cNvSpPr>
            <p:nvPr/>
          </p:nvSpPr>
          <p:spPr bwMode="auto">
            <a:xfrm>
              <a:off x="4212574" y="2360283"/>
              <a:ext cx="1275289" cy="1656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wrap="none" lIns="51435" tIns="25718" rIns="51435" bIns="25718" anchor="ctr"/>
            <a:lstStyle>
              <a:lvl1pPr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endParaRPr lang="de-DE" altLang="da-DK" sz="1125"/>
            </a:p>
          </p:txBody>
        </p:sp>
        <p:cxnSp>
          <p:nvCxnSpPr>
            <p:cNvPr id="18440" name="Gewinkelte Verbindung 7"/>
            <p:cNvCxnSpPr>
              <a:cxnSpLocks noChangeShapeType="1"/>
            </p:cNvCxnSpPr>
            <p:nvPr/>
          </p:nvCxnSpPr>
          <p:spPr bwMode="auto">
            <a:xfrm rot="5400000" flipH="1" flipV="1">
              <a:off x="6164365" y="1046137"/>
              <a:ext cx="12700" cy="2628293"/>
            </a:xfrm>
            <a:prstGeom prst="bentConnector3">
              <a:avLst>
                <a:gd name="adj1" fmla="val 1800000"/>
              </a:avLst>
            </a:prstGeom>
            <a:noFill/>
            <a:ln w="31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1" name="Gewinkelte Verbindung 9"/>
            <p:cNvCxnSpPr>
              <a:cxnSpLocks noChangeShapeType="1"/>
            </p:cNvCxnSpPr>
            <p:nvPr/>
          </p:nvCxnSpPr>
          <p:spPr bwMode="auto">
            <a:xfrm rot="5400000">
              <a:off x="6164364" y="2702321"/>
              <a:ext cx="12700" cy="2628293"/>
            </a:xfrm>
            <a:prstGeom prst="bentConnector3">
              <a:avLst>
                <a:gd name="adj1" fmla="val 1800000"/>
              </a:avLst>
            </a:prstGeom>
            <a:noFill/>
            <a:ln w="31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Rechteck 13"/>
            <p:cNvSpPr/>
            <p:nvPr/>
          </p:nvSpPr>
          <p:spPr>
            <a:xfrm>
              <a:off x="4857234" y="1836063"/>
              <a:ext cx="2636443" cy="279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de-DE" sz="788" dirty="0"/>
                <a:t>Data Collection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4681216" y="4239803"/>
              <a:ext cx="2919601" cy="438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788" dirty="0"/>
                <a:t>Targeted communication; personalized products &amp; services </a:t>
              </a:r>
              <a:endParaRPr lang="de-DE" sz="788" dirty="0"/>
            </a:p>
          </p:txBody>
        </p:sp>
        <p:pic>
          <p:nvPicPr>
            <p:cNvPr id="33" name="Grafik 32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52260" y="3637251"/>
              <a:ext cx="468000" cy="468000"/>
            </a:xfrm>
            <a:prstGeom prst="rect">
              <a:avLst/>
            </a:prstGeom>
          </p:spPr>
        </p:pic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5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16260" y="2936535"/>
              <a:ext cx="504000" cy="504000"/>
            </a:xfrm>
            <a:prstGeom prst="rect">
              <a:avLst/>
            </a:prstGeom>
          </p:spPr>
        </p:pic>
        <p:pic>
          <p:nvPicPr>
            <p:cNvPr id="35" name="Grafik 34"/>
            <p:cNvPicPr>
              <a:picLocks noChangeAspect="1"/>
            </p:cNvPicPr>
            <p:nvPr/>
          </p:nvPicPr>
          <p:blipFill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89767" y="2345630"/>
              <a:ext cx="706674" cy="612000"/>
            </a:xfrm>
            <a:prstGeom prst="rect">
              <a:avLst/>
            </a:prstGeom>
          </p:spPr>
        </p:pic>
        <p:sp>
          <p:nvSpPr>
            <p:cNvPr id="18447" name="Textfeld 37"/>
            <p:cNvSpPr txBox="1">
              <a:spLocks noChangeArrowheads="1"/>
            </p:cNvSpPr>
            <p:nvPr/>
          </p:nvSpPr>
          <p:spPr bwMode="auto">
            <a:xfrm>
              <a:off x="8823271" y="3197284"/>
              <a:ext cx="1018133" cy="483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a-DK" sz="900" b="1">
                  <a:latin typeface="Times New Roman" panose="02020603050405020304" pitchFamily="18" charset="0"/>
                </a:rPr>
                <a:t>BI&amp;A 2.0</a:t>
              </a:r>
            </a:p>
          </p:txBody>
        </p:sp>
        <p:grpSp>
          <p:nvGrpSpPr>
            <p:cNvPr id="18448" name="Gruppieren 48"/>
            <p:cNvGrpSpPr>
              <a:grpSpLocks/>
            </p:cNvGrpSpPr>
            <p:nvPr/>
          </p:nvGrpSpPr>
          <p:grpSpPr bwMode="auto">
            <a:xfrm>
              <a:off x="8187054" y="2435266"/>
              <a:ext cx="2229427" cy="2111620"/>
              <a:chOff x="-468249" y="1404054"/>
              <a:chExt cx="2808000" cy="1971935"/>
            </a:xfrm>
          </p:grpSpPr>
          <p:sp>
            <p:nvSpPr>
              <p:cNvPr id="36" name="Richtungspfeil 35"/>
              <p:cNvSpPr/>
              <p:nvPr/>
            </p:nvSpPr>
            <p:spPr bwMode="auto">
              <a:xfrm rot="5400000">
                <a:off x="647751" y="288054"/>
                <a:ext cx="576000" cy="2808000"/>
              </a:xfrm>
              <a:prstGeom prst="homePlat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lg" len="lg"/>
              </a:ln>
              <a:effectLst/>
            </p:spPr>
            <p:txBody>
              <a:bodyPr vert="vert270" wrap="none" lIns="51435" tIns="25718" rIns="51435" bIns="25718" anchor="ctr"/>
              <a:lstStyle/>
              <a:p>
                <a:pPr algn="ctr">
                  <a:defRPr/>
                </a:pPr>
                <a:r>
                  <a:rPr lang="de-DE" sz="900" b="1" dirty="0"/>
                  <a:t>BI&amp;A 1.0</a:t>
                </a:r>
              </a:p>
            </p:txBody>
          </p:sp>
          <p:sp>
            <p:nvSpPr>
              <p:cNvPr id="37" name="Eingekerbter Richtungspfeil 36"/>
              <p:cNvSpPr/>
              <p:nvPr/>
            </p:nvSpPr>
            <p:spPr bwMode="auto">
              <a:xfrm rot="5400000">
                <a:off x="468057" y="813243"/>
                <a:ext cx="935184" cy="2809774"/>
              </a:xfrm>
              <a:prstGeom prst="chevron">
                <a:avLst>
                  <a:gd name="adj" fmla="val 31981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lg" len="lg"/>
              </a:ln>
              <a:effectLst/>
            </p:spPr>
            <p:txBody>
              <a:bodyPr vert="vert270" wrap="none" lIns="51435" tIns="25718" rIns="51435" bIns="25718" anchor="b"/>
              <a:lstStyle/>
              <a:p>
                <a:pPr algn="ctr">
                  <a:defRPr/>
                </a:pPr>
                <a:endParaRPr lang="de-DE" sz="1125" b="1" dirty="0">
                  <a:latin typeface="Arial" charset="0"/>
                </a:endParaRPr>
              </a:p>
            </p:txBody>
          </p:sp>
          <p:sp>
            <p:nvSpPr>
              <p:cNvPr id="39" name="Eingekerbter Richtungspfeil 38"/>
              <p:cNvSpPr/>
              <p:nvPr/>
            </p:nvSpPr>
            <p:spPr bwMode="auto">
              <a:xfrm rot="5400000">
                <a:off x="467328" y="1502977"/>
                <a:ext cx="936641" cy="2809774"/>
              </a:xfrm>
              <a:prstGeom prst="chevron">
                <a:avLst>
                  <a:gd name="adj" fmla="val 31981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lg" len="lg"/>
              </a:ln>
              <a:effectLst/>
            </p:spPr>
            <p:txBody>
              <a:bodyPr vert="vert270" wrap="none" lIns="51435" tIns="25718" rIns="51435" bIns="25718" anchor="b"/>
              <a:lstStyle/>
              <a:p>
                <a:pPr algn="ctr">
                  <a:defRPr/>
                </a:pPr>
                <a:endParaRPr lang="de-DE" sz="1125" b="1" dirty="0">
                  <a:latin typeface="Arial" charset="0"/>
                </a:endParaRPr>
              </a:p>
            </p:txBody>
          </p:sp>
        </p:grpSp>
        <p:sp>
          <p:nvSpPr>
            <p:cNvPr id="18449" name="Textfeld 39"/>
            <p:cNvSpPr txBox="1">
              <a:spLocks noChangeArrowheads="1"/>
            </p:cNvSpPr>
            <p:nvPr/>
          </p:nvSpPr>
          <p:spPr bwMode="auto">
            <a:xfrm>
              <a:off x="8823271" y="3886914"/>
              <a:ext cx="1018133" cy="483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de-DE" altLang="da-DK" sz="900" b="1">
                  <a:latin typeface="Times New Roman" panose="02020603050405020304" pitchFamily="18" charset="0"/>
                </a:rPr>
                <a:t>BI&amp;A 2.0</a:t>
              </a:r>
            </a:p>
          </p:txBody>
        </p:sp>
        <p:sp>
          <p:nvSpPr>
            <p:cNvPr id="18450" name="Kreuz 40"/>
            <p:cNvSpPr>
              <a:spLocks noChangeArrowheads="1"/>
            </p:cNvSpPr>
            <p:nvPr/>
          </p:nvSpPr>
          <p:spPr bwMode="auto">
            <a:xfrm>
              <a:off x="9183767" y="2900535"/>
              <a:ext cx="288000" cy="288000"/>
            </a:xfrm>
            <a:prstGeom prst="plus">
              <a:avLst>
                <a:gd name="adj" fmla="val 39699"/>
              </a:avLst>
            </a:prstGeom>
            <a:solidFill>
              <a:srgbClr val="115C40"/>
            </a:solidFill>
            <a:ln w="9525" algn="ctr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 lIns="51435" tIns="25718" rIns="51435" bIns="25718" anchor="ctr"/>
            <a:lstStyle>
              <a:lvl1pPr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endParaRPr lang="de-DE" altLang="da-DK" sz="1125"/>
            </a:p>
          </p:txBody>
        </p:sp>
        <p:sp>
          <p:nvSpPr>
            <p:cNvPr id="18451" name="Kreuz 41"/>
            <p:cNvSpPr>
              <a:spLocks noChangeArrowheads="1"/>
            </p:cNvSpPr>
            <p:nvPr/>
          </p:nvSpPr>
          <p:spPr bwMode="auto">
            <a:xfrm>
              <a:off x="9183767" y="3645832"/>
              <a:ext cx="288000" cy="288000"/>
            </a:xfrm>
            <a:prstGeom prst="plus">
              <a:avLst>
                <a:gd name="adj" fmla="val 39699"/>
              </a:avLst>
            </a:prstGeom>
            <a:solidFill>
              <a:srgbClr val="115C40"/>
            </a:solidFill>
            <a:ln w="9525" algn="ctr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 lIns="51435" tIns="25718" rIns="51435" bIns="25718" anchor="ctr"/>
            <a:lstStyle>
              <a:lvl1pPr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85800">
                <a:spcBef>
                  <a:spcPct val="2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858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endParaRPr lang="de-DE" altLang="da-DK" sz="1125"/>
            </a:p>
          </p:txBody>
        </p:sp>
        <p:sp>
          <p:nvSpPr>
            <p:cNvPr id="45" name="Rechteck 44"/>
            <p:cNvSpPr/>
            <p:nvPr/>
          </p:nvSpPr>
          <p:spPr>
            <a:xfrm>
              <a:off x="2926779" y="3932512"/>
              <a:ext cx="1092695" cy="257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de-DE" sz="675" b="1" dirty="0">
                  <a:latin typeface="+mj-lt"/>
                </a:rPr>
                <a:t>Sensor </a:t>
              </a:r>
              <a:r>
                <a:rPr lang="de-DE" sz="675" b="1" dirty="0" err="1">
                  <a:latin typeface="+mj-lt"/>
                </a:rPr>
                <a:t>data</a:t>
              </a:r>
              <a:endParaRPr lang="de-DE" sz="619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hteck 45"/>
            <p:cNvSpPr/>
            <p:nvPr/>
          </p:nvSpPr>
          <p:spPr>
            <a:xfrm>
              <a:off x="2926779" y="3344445"/>
              <a:ext cx="1471351" cy="325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675" b="1" dirty="0" err="1">
                  <a:latin typeface="+mj-lt"/>
                </a:rPr>
                <a:t>Social</a:t>
              </a:r>
              <a:r>
                <a:rPr lang="de-DE" sz="675" b="1" dirty="0">
                  <a:latin typeface="+mj-lt"/>
                </a:rPr>
                <a:t> </a:t>
              </a:r>
              <a:r>
                <a:rPr lang="de-DE" sz="675" b="1" dirty="0" err="1">
                  <a:latin typeface="+mj-lt"/>
                </a:rPr>
                <a:t>media</a:t>
              </a:r>
              <a:r>
                <a:rPr lang="de-DE" sz="675" b="1" dirty="0">
                  <a:latin typeface="+mj-lt"/>
                </a:rPr>
                <a:t> </a:t>
              </a:r>
              <a:r>
                <a:rPr lang="de-DE" sz="675" b="1" dirty="0" err="1">
                  <a:latin typeface="+mj-lt"/>
                </a:rPr>
                <a:t>data</a:t>
              </a:r>
              <a:endParaRPr lang="de-DE" sz="619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hteck 46"/>
            <p:cNvSpPr/>
            <p:nvPr/>
          </p:nvSpPr>
          <p:spPr>
            <a:xfrm>
              <a:off x="2926779" y="2757938"/>
              <a:ext cx="914959" cy="325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675" b="1" dirty="0">
                  <a:latin typeface="+mj-lt"/>
                </a:rPr>
                <a:t>Web </a:t>
              </a:r>
              <a:r>
                <a:rPr lang="de-DE" sz="675" b="1" dirty="0" err="1">
                  <a:latin typeface="+mj-lt"/>
                </a:rPr>
                <a:t>data</a:t>
              </a:r>
              <a:endParaRPr lang="de-DE" sz="619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hteck 47"/>
            <p:cNvSpPr/>
            <p:nvPr/>
          </p:nvSpPr>
          <p:spPr>
            <a:xfrm>
              <a:off x="2926779" y="2169872"/>
              <a:ext cx="1672272" cy="3250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de-DE" sz="675" b="1" dirty="0">
                  <a:latin typeface="+mj-lt"/>
                </a:rPr>
                <a:t>Communication </a:t>
              </a:r>
              <a:r>
                <a:rPr lang="de-DE" sz="675" b="1" dirty="0" err="1">
                  <a:latin typeface="+mj-lt"/>
                </a:rPr>
                <a:t>data</a:t>
              </a:r>
              <a:endParaRPr lang="de-DE" sz="619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8456" name="Picture 6"/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5878" y="2169514"/>
              <a:ext cx="366368" cy="366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7" name="Picture 8"/>
            <p:cNvPicPr>
              <a:picLocks noChangeAspect="1" noChangeArrowheads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3096" y="2170157"/>
              <a:ext cx="365082" cy="365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8" name="Picture 10"/>
            <p:cNvPicPr>
              <a:picLocks noChangeAspect="1" noChangeArrowheads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1794" y="2660304"/>
              <a:ext cx="768524" cy="715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9" name="Picture 12"/>
            <p:cNvPicPr>
              <a:picLocks noChangeAspect="1" noChangeArrowheads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7760" y="2824929"/>
              <a:ext cx="426268" cy="385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0" name="Picture 2"/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0601" y="3376834"/>
              <a:ext cx="490075" cy="384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1" name="Picture 4"/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2914" y="3384354"/>
              <a:ext cx="369333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2" name="Picture 14"/>
            <p:cNvPicPr>
              <a:picLocks noChangeAspect="1" noChangeArrowheads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8066" y="3872238"/>
              <a:ext cx="409515" cy="479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63" name="Picture 16"/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1376" y="3892636"/>
              <a:ext cx="604500" cy="438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Textfeld 78"/>
            <p:cNvSpPr txBox="1"/>
            <p:nvPr/>
          </p:nvSpPr>
          <p:spPr>
            <a:xfrm>
              <a:off x="2285843" y="1360305"/>
              <a:ext cx="2749322" cy="27982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de-DE" sz="788" b="1" dirty="0"/>
                <a:t>«Walking Data Generator»</a:t>
              </a:r>
            </a:p>
          </p:txBody>
        </p:sp>
        <p:sp>
          <p:nvSpPr>
            <p:cNvPr id="80" name="Textfeld 79"/>
            <p:cNvSpPr txBox="1"/>
            <p:nvPr/>
          </p:nvSpPr>
          <p:spPr>
            <a:xfrm>
              <a:off x="7751964" y="1354066"/>
              <a:ext cx="2749322" cy="27982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788" b="1" dirty="0">
                  <a:latin typeface="+mj-lt"/>
                </a:rPr>
                <a:t>Big Data Analytics</a:t>
              </a:r>
            </a:p>
          </p:txBody>
        </p:sp>
        <p:sp>
          <p:nvSpPr>
            <p:cNvPr id="83" name="Rechteck 82"/>
            <p:cNvSpPr/>
            <p:nvPr/>
          </p:nvSpPr>
          <p:spPr>
            <a:xfrm>
              <a:off x="2926779" y="4448824"/>
              <a:ext cx="435841" cy="257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de-DE" sz="675" b="1" dirty="0">
                  <a:latin typeface="+mj-lt"/>
                </a:rPr>
                <a:t>…</a:t>
              </a:r>
              <a:endParaRPr lang="de-DE" sz="619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836CCD8B-D877-8725-47A6-51AD8AA684C6}"/>
              </a:ext>
            </a:extLst>
          </p:cNvPr>
          <p:cNvSpPr/>
          <p:nvPr/>
        </p:nvSpPr>
        <p:spPr>
          <a:xfrm>
            <a:off x="6564916" y="98109"/>
            <a:ext cx="2648940" cy="1477891"/>
          </a:xfrm>
          <a:prstGeom prst="cloudCallout">
            <a:avLst/>
          </a:prstGeom>
          <a:noFill/>
          <a:ln>
            <a:solidFill>
              <a:srgbClr val="496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a firm exploit the data?</a:t>
            </a:r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397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5104D5D-2562-5899-8D2D-1B17194821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1428" y="1019176"/>
            <a:ext cx="7786585" cy="3381375"/>
          </a:xfrm>
        </p:spPr>
        <p:txBody>
          <a:bodyPr>
            <a:normAutofit/>
          </a:bodyPr>
          <a:lstStyle/>
          <a:p>
            <a:pPr>
              <a:buFontTx/>
              <a:buChar char="•"/>
              <a:defRPr/>
            </a:pPr>
            <a:r>
              <a:rPr lang="en-GB" altLang="en-US" sz="2400" dirty="0"/>
              <a:t>Multiple simultaneous business transformations</a:t>
            </a:r>
          </a:p>
          <a:p>
            <a:pPr>
              <a:buFontTx/>
              <a:buChar char="•"/>
              <a:defRPr/>
            </a:pPr>
            <a:r>
              <a:rPr lang="en-GB" altLang="en-US" sz="2400" dirty="0"/>
              <a:t>IT enabled and Digital</a:t>
            </a:r>
          </a:p>
          <a:p>
            <a:pPr marL="0" indent="0">
              <a:defRPr/>
            </a:pPr>
            <a:r>
              <a:rPr lang="en-GB" altLang="en-US" sz="2800" dirty="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64F412-FB2E-E73F-138C-F8CD342F69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Difference between IT and Digital </a:t>
            </a:r>
            <a:endParaRPr lang="da-DK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614" y="2068117"/>
            <a:ext cx="270867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511" y="2069307"/>
            <a:ext cx="2607469" cy="228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5F968AE3-87BD-1403-3B20-BE753A6E64ED}"/>
              </a:ext>
            </a:extLst>
          </p:cNvPr>
          <p:cNvSpPr/>
          <p:nvPr/>
        </p:nvSpPr>
        <p:spPr>
          <a:xfrm>
            <a:off x="6586834" y="954861"/>
            <a:ext cx="2397453" cy="1367720"/>
          </a:xfrm>
          <a:prstGeom prst="cloudCallout">
            <a:avLst/>
          </a:prstGeom>
          <a:noFill/>
          <a:ln>
            <a:solidFill>
              <a:srgbClr val="496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different for strategy?</a:t>
            </a:r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07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334482-7FCA-BF78-72DE-24E5215B645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emposText-Regular"/>
              </a:rPr>
              <a:t>D</a:t>
            </a:r>
            <a:r>
              <a:rPr lang="en-US" b="0" i="0" u="none" strike="noStrike" baseline="0" dirty="0">
                <a:latin typeface="TiemposText-Regular"/>
              </a:rPr>
              <a:t>igital mindset</a:t>
            </a:r>
            <a:r>
              <a:rPr lang="en-US" dirty="0">
                <a:latin typeface="TiemposText-Regular"/>
              </a:rPr>
              <a:t>- </a:t>
            </a:r>
            <a:r>
              <a:rPr lang="en-US" b="0" i="0" u="none" strike="noStrike" baseline="0" dirty="0">
                <a:latin typeface="TiemposText-Regular"/>
              </a:rPr>
              <a:t>a set of attitudes and behaviors that enable people and organizations to see how data, algorithms, and AI open up new possibilities and to chart a path for success in a business landscape increasingly dominated</a:t>
            </a:r>
            <a:r>
              <a:rPr lang="da-DK" b="0" i="0" u="none" strike="noStrike" baseline="0" dirty="0">
                <a:latin typeface="TiemposText-Regular"/>
              </a:rPr>
              <a:t> by data-intensive and intelligent </a:t>
            </a:r>
            <a:r>
              <a:rPr lang="en-US" b="0" i="0" u="none" strike="noStrike" baseline="0" dirty="0">
                <a:latin typeface="TiemposText-Regular"/>
              </a:rPr>
              <a:t>technologies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TiemposText-Regular"/>
              </a:rPr>
              <a:t>preparing</a:t>
            </a:r>
            <a:r>
              <a:rPr lang="da-DK" b="0" i="0" u="none" strike="noStrike" baseline="0" dirty="0">
                <a:latin typeface="TiemposText-Regular"/>
              </a:rPr>
              <a:t> </a:t>
            </a:r>
            <a:r>
              <a:rPr lang="en-US" b="0" i="0" u="none" strike="noStrike" baseline="0" dirty="0">
                <a:latin typeface="TiemposText-Regular"/>
              </a:rPr>
              <a:t>people</a:t>
            </a:r>
            <a:r>
              <a:rPr lang="da-DK" b="0" i="0" u="none" strike="noStrike" baseline="0" dirty="0">
                <a:latin typeface="TiemposText-Regular"/>
              </a:rPr>
              <a:t> for a </a:t>
            </a:r>
            <a:r>
              <a:rPr lang="en-US" b="0" i="0" u="none" strike="noStrike" baseline="0" dirty="0">
                <a:latin typeface="TiemposText-Regular"/>
              </a:rPr>
              <a:t>new digital organizational culture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emposText-Regular"/>
              </a:rPr>
              <a:t>Continuous learning culture</a:t>
            </a:r>
            <a:endParaRPr lang="en-US" sz="1800" b="0" i="0" u="none" strike="noStrike" baseline="0" dirty="0">
              <a:latin typeface="TiemposText-Regula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emposText-Regular"/>
              </a:rPr>
              <a:t>d</a:t>
            </a:r>
            <a:r>
              <a:rPr lang="en-US" b="0" i="0" u="none" strike="noStrike" baseline="0" dirty="0">
                <a:latin typeface="TiemposText-Regular"/>
              </a:rPr>
              <a:t>esigning and aligning systems and processes</a:t>
            </a:r>
            <a:r>
              <a:rPr lang="da-DK" b="0" i="0" u="none" strike="noStrike" baseline="0" dirty="0">
                <a:latin typeface="TiemposText-Regular"/>
              </a:rPr>
              <a:t>.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da-DK" sz="1800" dirty="0">
                <a:latin typeface="TiemposText-Regular"/>
              </a:rPr>
              <a:t>Data, Cloud </a:t>
            </a:r>
            <a:r>
              <a:rPr lang="en-US" sz="1800" dirty="0">
                <a:latin typeface="TiemposText-Regular"/>
              </a:rPr>
              <a:t>computing</a:t>
            </a:r>
            <a:r>
              <a:rPr lang="da-DK" sz="1800" dirty="0">
                <a:latin typeface="TiemposText-Regular"/>
              </a:rPr>
              <a:t> &amp; </a:t>
            </a:r>
            <a:r>
              <a:rPr lang="en-US" sz="1800" dirty="0">
                <a:latin typeface="TiemposText-Regular"/>
              </a:rPr>
              <a:t>Algorithms</a:t>
            </a:r>
            <a:r>
              <a:rPr lang="da-DK" sz="1800" dirty="0">
                <a:latin typeface="TiemposText-Regular"/>
              </a:rPr>
              <a:t> </a:t>
            </a:r>
            <a:endParaRPr lang="da-DK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555A5-655A-0EF4-FCA7-35D2B5DE17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Digital Mindset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404549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5CE7DE-39C3-95C9-C972-A399FAF361B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456878" y="1150936"/>
            <a:ext cx="3635298" cy="3449402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C19AA-D93E-6F57-A5AE-F4ECED20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7574" y="304801"/>
            <a:ext cx="7497879" cy="650060"/>
          </a:xfrm>
        </p:spPr>
        <p:txBody>
          <a:bodyPr>
            <a:noAutofit/>
          </a:bodyPr>
          <a:lstStyle/>
          <a:p>
            <a:pPr algn="l"/>
            <a:r>
              <a:rPr lang="da-DK" sz="2800" i="0" u="none" strike="noStrike" baseline="0" dirty="0"/>
              <a:t>The Adoption Matrix: </a:t>
            </a:r>
            <a:r>
              <a:rPr lang="en-US" sz="2800" i="0" u="none" strike="noStrike" baseline="0" dirty="0"/>
              <a:t>Digital transformation sparks a range of responses</a:t>
            </a:r>
            <a:r>
              <a:rPr lang="da-DK" sz="2800" i="0" u="none" strike="noStrike" baseline="0" dirty="0"/>
              <a:t> in </a:t>
            </a:r>
            <a:r>
              <a:rPr lang="en-US" sz="2800" i="0" u="none" strike="noStrike" baseline="0" dirty="0"/>
              <a:t>employees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227631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4407A-BBA0-2A35-A5C6-A62689E1CB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How AI-Driven companies outstrip traditional firms</a:t>
            </a:r>
            <a:r>
              <a:rPr lang="en-AU" sz="2800" dirty="0"/>
              <a:t> (</a:t>
            </a:r>
            <a:r>
              <a:rPr lang="fi-FI" sz="2800" dirty="0"/>
              <a:t>Iansiti &amp; Lakhani, 2020)</a:t>
            </a:r>
            <a:endParaRPr lang="da-DK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ADB338-A496-DB97-09A9-69E5E7E4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738" y="1136423"/>
            <a:ext cx="4496362" cy="3708448"/>
          </a:xfrm>
          <a:prstGeom prst="rect">
            <a:avLst/>
          </a:prstGeom>
        </p:spPr>
      </p:pic>
      <p:pic>
        <p:nvPicPr>
          <p:cNvPr id="2050" name="Picture 2" descr="Få Competing in the Age of AI af Marco Iansiti som Hardback bog på engelsk  - 9781633697621">
            <a:extLst>
              <a:ext uri="{FF2B5EF4-FFF2-40B4-BE49-F238E27FC236}">
                <a16:creationId xmlns:a16="http://schemas.microsoft.com/office/drawing/2014/main" id="{1A06D01C-37AD-D3FD-8583-E785A326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78" y="1618740"/>
            <a:ext cx="1431215" cy="215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76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79E80-A832-F8EF-2DE7-BA0E421E1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104" y="312210"/>
            <a:ext cx="7310438" cy="650060"/>
          </a:xfrm>
        </p:spPr>
        <p:txBody>
          <a:bodyPr>
            <a:noAutofit/>
          </a:bodyPr>
          <a:lstStyle/>
          <a:p>
            <a:r>
              <a:rPr lang="en-US" sz="2800" dirty="0"/>
              <a:t>Value creation, capture and delivery</a:t>
            </a:r>
            <a:r>
              <a:rPr lang="en-AU" sz="2800" dirty="0"/>
              <a:t> (</a:t>
            </a:r>
            <a:r>
              <a:rPr lang="fi-FI" sz="2800" dirty="0"/>
              <a:t>Iansiti &amp; Lakhani, 2020)</a:t>
            </a:r>
            <a:endParaRPr lang="da-DK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D6538-D6CE-50DE-4E96-94A070E5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0" y="1210309"/>
            <a:ext cx="6091084" cy="327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1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A45095-82F7-0784-9CC1-A5EEB00DCF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Is there a relationship between Digitalization and AI adoption?</a:t>
            </a:r>
          </a:p>
          <a:p>
            <a:endParaRPr lang="en-US" sz="2800" dirty="0"/>
          </a:p>
          <a:p>
            <a:r>
              <a:rPr lang="en-US" sz="2800" dirty="0">
                <a:sym typeface="Wingdings" panose="05000000000000000000" pitchFamily="2" charset="2"/>
              </a:rPr>
              <a:t> Survey results</a:t>
            </a:r>
            <a:endParaRPr lang="da-DK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8C3AA-CBEB-5D38-B309-3CBA907BA9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AI adoption in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01109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7574" y="304801"/>
            <a:ext cx="7826375" cy="650060"/>
          </a:xfrm>
        </p:spPr>
        <p:txBody>
          <a:bodyPr>
            <a:noAutofit/>
          </a:bodyPr>
          <a:lstStyle/>
          <a:p>
            <a:r>
              <a:rPr lang="en-US" sz="3200" dirty="0"/>
              <a:t>What business needs can AI support?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847" y="1258002"/>
            <a:ext cx="3640703" cy="13137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900"/>
              </a:spcAft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Process Automation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Automating repetitive tasks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Example: Customer Service - Transferring data from emails into systems of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2503" y="1727668"/>
            <a:ext cx="4055747" cy="135843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900"/>
              </a:spcAft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Gaining Insights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Detecting patterns in huge amounts of data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Examples: Prediction of customer preferences, fraud detection, targeted advertising, drug-discovery in pharma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8747" y="3194287"/>
            <a:ext cx="4055747" cy="123884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900"/>
              </a:spcAft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Fostering Engagement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Engaging customers and employees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Examples: service </a:t>
            </a:r>
            <a:r>
              <a:rPr lang="en-US" sz="1350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dirty="0" err="1">
                <a:latin typeface="Arial" panose="020B0604020202020204" pitchFamily="34" charset="0"/>
                <a:cs typeface="Arial" panose="020B0604020202020204" pitchFamily="34" charset="0"/>
              </a:rPr>
              <a:t>roboadvisor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, recommender systems for products or content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170" y="4896791"/>
            <a:ext cx="562104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Davenport &amp; </a:t>
            </a:r>
            <a:r>
              <a:rPr lang="en-US" sz="750" dirty="0" err="1">
                <a:latin typeface="Arial" panose="020B0604020202020204" pitchFamily="34" charset="0"/>
                <a:cs typeface="Arial" panose="020B0604020202020204" pitchFamily="34" charset="0"/>
              </a:rPr>
              <a:t>Ronanki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 (2018). Artificial intelligence for the real world. Harvard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5179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sing AI in Decision Making: When and Why">
            <a:extLst>
              <a:ext uri="{FF2B5EF4-FFF2-40B4-BE49-F238E27FC236}">
                <a16:creationId xmlns:a16="http://schemas.microsoft.com/office/drawing/2014/main" id="{5E1B6058-2419-6F9E-64F3-99CFF6795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880" y="243245"/>
            <a:ext cx="3770864" cy="45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584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EBDB28B-1846-4A4B-AD04-5A76DED13F8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6781" y="1369220"/>
            <a:ext cx="7310437" cy="338137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At the core of the new firm is a </a:t>
            </a:r>
            <a:r>
              <a:rPr lang="en-GB" sz="1600" b="1" dirty="0"/>
              <a:t>decision factory</a:t>
            </a:r>
            <a:r>
              <a:rPr lang="en-GB" sz="1600" dirty="0"/>
              <a:t>—what we call the “AI factory.” Its software runs the millions of daily data (e.g., Google ads).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Its algorithms make decisions on resources allocation (e.g., which cars offer rides, pricing strategy in retail, runs the robots, chatbots </a:t>
            </a:r>
            <a:r>
              <a:rPr lang="en-US" sz="1600" dirty="0" err="1"/>
              <a:t>diagnositcs</a:t>
            </a:r>
            <a:r>
              <a:rPr lang="en-US" sz="1600" dirty="0"/>
              <a:t> </a:t>
            </a:r>
            <a:r>
              <a:rPr lang="en-US" sz="1600" dirty="0" err="1"/>
              <a:t>etc</a:t>
            </a:r>
            <a:r>
              <a:rPr lang="en-US" sz="1600" dirty="0"/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 each case the AI factory treats decision-making as a science. Analytics systematically convert internal and external data into predictions, insights, and choices, which in turn guide and automate operational workflows</a:t>
            </a:r>
            <a:r>
              <a:rPr lang="de-CH" sz="1600" dirty="0"/>
              <a:t>.</a:t>
            </a:r>
            <a:endParaRPr lang="en-AU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11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896656-B20F-4B49-92E1-63C0187B4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7575" y="304801"/>
            <a:ext cx="7490780" cy="650060"/>
          </a:xfrm>
        </p:spPr>
        <p:txBody>
          <a:bodyPr>
            <a:noAutofit/>
          </a:bodyPr>
          <a:lstStyle/>
          <a:p>
            <a:r>
              <a:rPr lang="en-AU" sz="2800" dirty="0"/>
              <a:t>The AI Factory metaphor (</a:t>
            </a:r>
            <a:r>
              <a:rPr lang="fi-FI" sz="2800" dirty="0"/>
              <a:t>Iansiti &amp; Lakhani, 2020)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486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F6399-FEDC-BABE-306C-3CB6474B3A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AI Factory components </a:t>
            </a:r>
            <a:r>
              <a:rPr lang="en-AU" sz="2800" dirty="0"/>
              <a:t>(</a:t>
            </a:r>
            <a:r>
              <a:rPr lang="fi-FI" sz="2800" dirty="0"/>
              <a:t>Iansiti &amp; Lakhani, 2020)</a:t>
            </a:r>
            <a:endParaRPr lang="da-DK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B7BE4-BA68-F1D4-F813-849F49A8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39" y="1214438"/>
            <a:ext cx="7029451" cy="31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5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725848" y="1457258"/>
            <a:ext cx="7310437" cy="2928699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Consider an organization that you know relatively well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What type of AI solutions are they using, or planning to and in which business activities?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What should the company choose for future AI solutions, to buy </a:t>
            </a:r>
            <a:r>
              <a:rPr lang="en-US"/>
              <a:t>them or </a:t>
            </a:r>
            <a:r>
              <a:rPr lang="en-US" dirty="0"/>
              <a:t>develop the internally? (Pros and Cons in bullet points)</a:t>
            </a:r>
          </a:p>
          <a:p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28188" y="304801"/>
            <a:ext cx="7310438" cy="650060"/>
          </a:xfrm>
        </p:spPr>
        <p:txBody>
          <a:bodyPr>
            <a:noAutofit/>
          </a:bodyPr>
          <a:lstStyle/>
          <a:p>
            <a:r>
              <a:rPr lang="en-US" sz="2400" dirty="0"/>
              <a:t>Discussion in Class: Economic and Strategic considerations from the introduction of AI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322621384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lassisk kontor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s - Pi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C29BC07FE2BB46AF5224F684219C8B" ma:contentTypeVersion="1" ma:contentTypeDescription="Create a new document." ma:contentTypeScope="" ma:versionID="dc767dc6a6b6d55af0f0d698a45e0b34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0CD774-C46D-4492-9C14-B8B691B8385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F061886-A6B2-4AC7-8398-3DC806DA4D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46ABF9-A021-4776-A5A5-26C5441FE4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18836</TotalTime>
  <Words>670</Words>
  <Application>Microsoft Office PowerPoint</Application>
  <PresentationFormat>On-screen Show (16:9)</PresentationFormat>
  <Paragraphs>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Abadi MT Condensed Extra Bold</vt:lpstr>
      <vt:lpstr>Arial</vt:lpstr>
      <vt:lpstr>Calibri</vt:lpstr>
      <vt:lpstr>TiemposText-Regular</vt:lpstr>
      <vt:lpstr>Times New Roman</vt:lpstr>
      <vt:lpstr>Wingdings</vt:lpstr>
      <vt:lpstr>Title Slides</vt:lpstr>
      <vt:lpstr>Content Slides</vt:lpstr>
      <vt:lpstr>Content Slides -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CBS EA</dc:creator>
  <cp:lastModifiedBy>Ioanna Constantiou</cp:lastModifiedBy>
  <cp:revision>391</cp:revision>
  <cp:lastPrinted>2017-02-03T11:55:52Z</cp:lastPrinted>
  <dcterms:created xsi:type="dcterms:W3CDTF">2013-11-09T16:46:18Z</dcterms:created>
  <dcterms:modified xsi:type="dcterms:W3CDTF">2026-02-04T07:43:08Z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0x0101004BC29BC07FE2BB46AF5224F684219C8B</vt:lpwstr>
  </property>
</Properties>
</file>