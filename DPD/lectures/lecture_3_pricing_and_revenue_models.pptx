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  <p:sldMasterId id="2147483684" r:id="rId5"/>
    <p:sldMasterId id="2147483689" r:id="rId6"/>
  </p:sldMasterIdLst>
  <p:notesMasterIdLst>
    <p:notesMasterId r:id="rId29"/>
  </p:notesMasterIdLst>
  <p:handoutMasterIdLst>
    <p:handoutMasterId r:id="rId30"/>
  </p:handoutMasterIdLst>
  <p:sldIdLst>
    <p:sldId id="259" r:id="rId7"/>
    <p:sldId id="482" r:id="rId8"/>
    <p:sldId id="480" r:id="rId9"/>
    <p:sldId id="470" r:id="rId10"/>
    <p:sldId id="471" r:id="rId11"/>
    <p:sldId id="472" r:id="rId12"/>
    <p:sldId id="473" r:id="rId13"/>
    <p:sldId id="465" r:id="rId14"/>
    <p:sldId id="474" r:id="rId15"/>
    <p:sldId id="475" r:id="rId16"/>
    <p:sldId id="476" r:id="rId17"/>
    <p:sldId id="479" r:id="rId18"/>
    <p:sldId id="466" r:id="rId19"/>
    <p:sldId id="467" r:id="rId20"/>
    <p:sldId id="468" r:id="rId21"/>
    <p:sldId id="469" r:id="rId22"/>
    <p:sldId id="461" r:id="rId23"/>
    <p:sldId id="462" r:id="rId24"/>
    <p:sldId id="481" r:id="rId25"/>
    <p:sldId id="477" r:id="rId26"/>
    <p:sldId id="478" r:id="rId27"/>
    <p:sldId id="483" r:id="rId28"/>
  </p:sldIdLst>
  <p:sldSz cx="9144000" cy="5143500" type="screen16x9"/>
  <p:notesSz cx="6797675" cy="9926638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3048">
          <p15:clr>
            <a:srgbClr val="A4A3A4"/>
          </p15:clr>
        </p15:guide>
        <p15:guide id="3" pos="5183">
          <p15:clr>
            <a:srgbClr val="A4A3A4"/>
          </p15:clr>
        </p15:guide>
        <p15:guide id="4" pos="579">
          <p15:clr>
            <a:srgbClr val="A4A3A4"/>
          </p15:clr>
        </p15:guide>
        <p15:guide id="5" pos="577">
          <p15:clr>
            <a:srgbClr val="A4A3A4"/>
          </p15:clr>
        </p15:guide>
        <p15:guide id="6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7A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D14331-A9E0-4722-A350-1948FB6330B7}" v="1" dt="2026-02-24T15:56:27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00" autoAdjust="0"/>
  </p:normalViewPr>
  <p:slideViewPr>
    <p:cSldViewPr snapToGrid="0" snapToObjects="1" showGuides="1">
      <p:cViewPr varScale="1">
        <p:scale>
          <a:sx n="138" d="100"/>
          <a:sy n="138" d="100"/>
        </p:scale>
        <p:origin x="870" y="114"/>
      </p:cViewPr>
      <p:guideLst>
        <p:guide orient="horz" pos="192"/>
        <p:guide orient="horz" pos="3048"/>
        <p:guide pos="5183"/>
        <p:guide pos="579"/>
        <p:guide pos="57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-3180" y="-96"/>
      </p:cViewPr>
      <p:guideLst>
        <p:guide orient="horz" pos="3127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anna Constantiou" userId="1328677313_tp_dropbox_plus" providerId="OAuth2" clId="{1B66B076-A09F-40B8-B49E-008756D48686}"/>
    <pc:docChg chg="modSld">
      <pc:chgData name="Ioanna Constantiou" userId="1328677313_tp_dropbox_plus" providerId="OAuth2" clId="{1B66B076-A09F-40B8-B49E-008756D48686}" dt="2026-02-25T12:24:10.256" v="5" actId="20577"/>
      <pc:docMkLst>
        <pc:docMk/>
      </pc:docMkLst>
      <pc:sldChg chg="modSp mod">
        <pc:chgData name="Ioanna Constantiou" userId="1328677313_tp_dropbox_plus" providerId="OAuth2" clId="{1B66B076-A09F-40B8-B49E-008756D48686}" dt="2026-02-25T12:24:10.256" v="5" actId="20577"/>
        <pc:sldMkLst>
          <pc:docMk/>
          <pc:sldMk cId="0" sldId="483"/>
        </pc:sldMkLst>
        <pc:spChg chg="mod">
          <ac:chgData name="Ioanna Constantiou" userId="1328677313_tp_dropbox_plus" providerId="OAuth2" clId="{1B66B076-A09F-40B8-B49E-008756D48686}" dt="2026-02-25T12:24:04.256" v="1" actId="20577"/>
          <ac:spMkLst>
            <pc:docMk/>
            <pc:sldMk cId="0" sldId="483"/>
            <ac:spMk id="2" creationId="{19AB3AC2-B18D-571C-0A84-7B7045607E43}"/>
          </ac:spMkLst>
        </pc:spChg>
        <pc:spChg chg="mod">
          <ac:chgData name="Ioanna Constantiou" userId="1328677313_tp_dropbox_plus" providerId="OAuth2" clId="{1B66B076-A09F-40B8-B49E-008756D48686}" dt="2026-02-25T12:24:10.256" v="5" actId="20577"/>
          <ac:spMkLst>
            <pc:docMk/>
            <pc:sldMk cId="0" sldId="483"/>
            <ac:spMk id="4" creationId="{A120F4CB-720A-664A-B104-F90C53F0CD3E}"/>
          </ac:spMkLst>
        </pc:spChg>
      </pc:sldChg>
    </pc:docChg>
  </pc:docChgLst>
  <pc:docChgLst>
    <pc:chgData name="Ioanna Constantiou" userId="1328677313_tp_dropbox_plus" providerId="OAuth2" clId="{6DF49FDB-FF41-4247-A0C2-A5EED091923C}"/>
    <pc:docChg chg="delSld">
      <pc:chgData name="Ioanna Constantiou" userId="1328677313_tp_dropbox_plus" providerId="OAuth2" clId="{6DF49FDB-FF41-4247-A0C2-A5EED091923C}" dt="2026-02-25T06:13:57.972" v="0" actId="2696"/>
      <pc:docMkLst>
        <pc:docMk/>
      </pc:docMkLst>
      <pc:sldChg chg="del">
        <pc:chgData name="Ioanna Constantiou" userId="1328677313_tp_dropbox_plus" providerId="OAuth2" clId="{6DF49FDB-FF41-4247-A0C2-A5EED091923C}" dt="2026-02-25T06:13:57.972" v="0" actId="2696"/>
        <pc:sldMkLst>
          <pc:docMk/>
          <pc:sldMk cId="3409517904" sldId="4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291" tIns="45646" rIns="91291" bIns="45646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291" tIns="45646" rIns="91291" bIns="45646" rtlCol="0"/>
          <a:lstStyle>
            <a:lvl1pPr algn="r">
              <a:defRPr sz="1200"/>
            </a:lvl1pPr>
          </a:lstStyle>
          <a:p>
            <a:fld id="{F6992C72-CA01-4D4C-B1C4-5066EC55DB8A}" type="datetimeFigureOut">
              <a:rPr lang="da-DK" smtClean="0"/>
              <a:t>25-02-2026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6"/>
            <a:ext cx="2945659" cy="498055"/>
          </a:xfrm>
          <a:prstGeom prst="rect">
            <a:avLst/>
          </a:prstGeom>
        </p:spPr>
        <p:txBody>
          <a:bodyPr vert="horz" lIns="91291" tIns="45646" rIns="91291" bIns="45646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291" tIns="45646" rIns="91291" bIns="45646" rtlCol="0" anchor="b"/>
          <a:lstStyle>
            <a:lvl1pPr algn="r">
              <a:defRPr sz="1200"/>
            </a:lvl1pPr>
          </a:lstStyle>
          <a:p>
            <a:fld id="{0EF7638A-64AC-4946-94B4-39EF7D477E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8651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291" tIns="45646" rIns="91291" bIns="45646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1291" tIns="45646" rIns="91291" bIns="45646" rtlCol="0"/>
          <a:lstStyle>
            <a:lvl1pPr algn="r">
              <a:defRPr sz="1200"/>
            </a:lvl1pPr>
          </a:lstStyle>
          <a:p>
            <a:fld id="{B5C1DC36-FCF6-4F65-A8BC-386231DA6558}" type="datetimeFigureOut">
              <a:rPr lang="da-DK" smtClean="0"/>
              <a:t>25-02-2026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1" tIns="45646" rIns="91291" bIns="45646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291" tIns="45646" rIns="91291" bIns="45646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291" tIns="45646" rIns="91291" bIns="45646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291" tIns="45646" rIns="91291" bIns="45646" rtlCol="0" anchor="b"/>
          <a:lstStyle>
            <a:lvl1pPr algn="r">
              <a:defRPr sz="1200"/>
            </a:lvl1pPr>
          </a:lstStyle>
          <a:p>
            <a:fld id="{E59BDDC2-5BFA-453C-A225-5004D8F0E7E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68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6798" indent="-2756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2766" indent="-22055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873" indent="-22055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4980" indent="-22055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26086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67193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08299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49406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627663A-5346-4C2D-BC83-E8499E9FEF2B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066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6798" indent="-2756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2766" indent="-22055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873" indent="-22055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4980" indent="-22055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26086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67193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08299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49406" indent="-22055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1B1358-381A-4CCD-B530-3CBCB3ED29D3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124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akkrediteringer-vandret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5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6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5793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w.it\Desktop\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06093" y="0"/>
            <a:ext cx="3837908" cy="34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333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aw.it\Desktop\CBS_NET_bold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960" y="0"/>
            <a:ext cx="4646040" cy="45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502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20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1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3672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7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9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0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569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7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8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8505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4E787AC-B9A2-8B31-A39F-E23F4C7F2073}"/>
              </a:ext>
            </a:extLst>
          </p:cNvPr>
          <p:cNvSpPr txBox="1"/>
          <p:nvPr userDrawn="1"/>
        </p:nvSpPr>
        <p:spPr>
          <a:xfrm>
            <a:off x="4964113" y="4698207"/>
            <a:ext cx="37846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fld id="{43C7A1DF-4FCF-4D58-B375-6C43727564E0}" type="slidenum">
              <a:rPr lang="en-US" sz="619" b="1">
                <a:solidFill>
                  <a:srgbClr val="4967AA"/>
                </a:solidFill>
                <a:latin typeface="Arial"/>
                <a:cs typeface="Arial"/>
              </a:rPr>
              <a:pPr algn="r">
                <a:defRPr/>
              </a:pPr>
              <a:t>‹#›</a:t>
            </a:fld>
            <a:endParaRPr lang="en-US" sz="619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5" name="Picture 7" descr="C:\Users\aw.it\Desktop\logo.png">
            <a:extLst>
              <a:ext uri="{FF2B5EF4-FFF2-40B4-BE49-F238E27FC236}">
                <a16:creationId xmlns:a16="http://schemas.microsoft.com/office/drawing/2014/main" id="{F957881E-FCD4-615A-F8E8-98B9521F5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1" y="247650"/>
            <a:ext cx="2411413" cy="20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5291" y="250032"/>
            <a:ext cx="5761037" cy="539354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395289" y="843559"/>
            <a:ext cx="8353424" cy="3854648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442093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B453C8B-FD61-3ECD-D1C6-E4EDFDB4BCC6}"/>
              </a:ext>
            </a:extLst>
          </p:cNvPr>
          <p:cNvSpPr txBox="1"/>
          <p:nvPr userDrawn="1"/>
        </p:nvSpPr>
        <p:spPr>
          <a:xfrm>
            <a:off x="4964113" y="4698207"/>
            <a:ext cx="37846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fld id="{618FDF75-8BEF-43E5-B64E-B55722CFE108}" type="slidenum">
              <a:rPr lang="en-US" sz="619" b="1">
                <a:solidFill>
                  <a:srgbClr val="4967AA"/>
                </a:solidFill>
                <a:latin typeface="Arial"/>
                <a:cs typeface="Arial"/>
              </a:rPr>
              <a:pPr algn="r">
                <a:defRPr/>
              </a:pPr>
              <a:t>‹#›</a:t>
            </a:fld>
            <a:endParaRPr lang="en-US" sz="619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5" name="Picture 7" descr="C:\Users\aw.it\Desktop\logo.png">
            <a:extLst>
              <a:ext uri="{FF2B5EF4-FFF2-40B4-BE49-F238E27FC236}">
                <a16:creationId xmlns:a16="http://schemas.microsoft.com/office/drawing/2014/main" id="{E3D46BD4-113B-02D2-0940-EA52EED3A8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1" y="247650"/>
            <a:ext cx="2411413" cy="20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5291" y="250032"/>
            <a:ext cx="5761037" cy="539354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395289" y="843559"/>
            <a:ext cx="8353424" cy="3854648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75078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2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258087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6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87179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6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296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6829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4808013" y="28479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96370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20750" y="28479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08013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59618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1071" y="1019175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</a:t>
            </a:r>
            <a:r>
              <a:rPr lang="da-DK" dirty="0" err="1"/>
              <a:t>add</a:t>
            </a:r>
            <a:r>
              <a:rPr lang="da-DK" dirty="0"/>
              <a:t> text – or click an icon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content</a:t>
            </a:r>
            <a:endParaRPr lang="da-DK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6" y="2847975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7050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6" y="2847975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4804838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846663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0BCB1C-9833-78B8-B816-C1C2FF4028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B881F3-F2ED-07EC-6764-5DC7186994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28284151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544EFCB-0ECF-13B9-13C4-4E5DB12A7F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17E289-C887-BC13-1585-3D89E44570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2740925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3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242747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DalgasHave-2590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2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15204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M0128_CBS_SolbjergPlads-2918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853743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w.it\Desktop\Picture10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094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914400" y="304800"/>
            <a:ext cx="7313613" cy="45339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4323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45" r:id="rId7"/>
    <p:sldLayoutId id="2147483746" r:id="rId8"/>
    <p:sldLayoutId id="2147483751" r:id="rId9"/>
    <p:sldLayoutId id="2147483752" r:id="rId10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0" y="304800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87181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722" r:id="rId4"/>
    <p:sldLayoutId id="2147483688" r:id="rId5"/>
    <p:sldLayoutId id="2147483723" r:id="rId6"/>
    <p:sldLayoutId id="2147483748" r:id="rId7"/>
    <p:sldLayoutId id="2147483749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0" y="304800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1327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0" r:id="rId2"/>
    <p:sldLayoutId id="2147483708" r:id="rId3"/>
    <p:sldLayoutId id="2147483731" r:id="rId4"/>
    <p:sldLayoutId id="2147483732" r:id="rId5"/>
    <p:sldLayoutId id="214748373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.digi@cbs.dk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94BF2D-7D5E-59CF-F4FE-E99C0E597B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Data, </a:t>
            </a:r>
            <a:r>
              <a:rPr lang="en-US" dirty="0"/>
              <a:t>Platforms and Digitalization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9FE213-EC0C-8D0C-1004-CF6883E904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6663" y="2702628"/>
            <a:ext cx="7308850" cy="1464255"/>
          </a:xfrm>
        </p:spPr>
        <p:txBody>
          <a:bodyPr/>
          <a:lstStyle/>
          <a:p>
            <a:pPr eaLnBrk="1" hangingPunct="1"/>
            <a:r>
              <a:rPr lang="en-US" altLang="en-US" sz="1600" b="1" dirty="0"/>
              <a:t>Ioanna Constantiou, </a:t>
            </a:r>
            <a:r>
              <a:rPr lang="en-US" altLang="en-US" sz="1600" b="1" dirty="0">
                <a:solidFill>
                  <a:schemeClr val="accent2"/>
                </a:solidFill>
                <a:hlinkClick r:id="rId2"/>
              </a:rPr>
              <a:t>ic.digi@cbs.dk</a:t>
            </a:r>
            <a:endParaRPr lang="en-US" altLang="en-US" sz="1600" b="1" dirty="0">
              <a:solidFill>
                <a:schemeClr val="accent2"/>
              </a:solidFill>
            </a:endParaRPr>
          </a:p>
          <a:p>
            <a:pPr eaLnBrk="1" hangingPunct="1"/>
            <a:r>
              <a:rPr lang="en-US" altLang="en-US" sz="1600" b="1" dirty="0"/>
              <a:t>Department of Digitalization</a:t>
            </a:r>
          </a:p>
          <a:p>
            <a:endParaRPr lang="da-D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39EB4-9500-A5FC-11DE-EBE98FB41C6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/>
              <a:t>Consider Apple’s pricing for smartphones.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/>
              <a:t>Consider Spotify’s pricing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i="1" dirty="0"/>
              <a:t>What are the differences when pricing physical </a:t>
            </a:r>
            <a:r>
              <a:rPr lang="da-DK" sz="2400" i="1" dirty="0"/>
              <a:t>or digital products?</a:t>
            </a:r>
            <a:endParaRPr lang="en-US" sz="2800" i="1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sz="2400" i="1" dirty="0"/>
              <a:t>Can you identify some pricing strategies from today’s session?</a:t>
            </a:r>
            <a:r>
              <a:rPr lang="da-DK" sz="2400" i="1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3DA5F-6C9B-3DAF-CDA7-AECBDD81BF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Conversation starter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443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How can a firm price digital products/services?</a:t>
            </a:r>
            <a:endParaRPr lang="da-DK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are the alternative revenue models in digital markets</a:t>
            </a:r>
            <a:r>
              <a:rPr lang="da-DK" sz="2800" dirty="0"/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/>
              <a:t>Questions related to learning objectives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364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400050" indent="-400050">
              <a:buFontTx/>
              <a:buAutoNum type="arabicPeriod"/>
            </a:pPr>
            <a:r>
              <a:rPr lang="en-GB" altLang="en-US" dirty="0"/>
              <a:t>Personalised pricing</a:t>
            </a:r>
          </a:p>
          <a:p>
            <a:pPr lvl="1" indent="-400050">
              <a:buFont typeface="Arial" panose="020B0604020202020204" pitchFamily="34" charset="0"/>
              <a:buChar char="•"/>
            </a:pPr>
            <a:r>
              <a:rPr lang="en-US" altLang="en-US" sz="1600" dirty="0"/>
              <a:t>Charging each consumer, the maximum amount he/she is willing to pay for each unit of the product</a:t>
            </a:r>
          </a:p>
          <a:p>
            <a:pPr lvl="1" indent="-400050">
              <a:buFont typeface="Arial" panose="020B0604020202020204" pitchFamily="34" charset="0"/>
              <a:buChar char="•"/>
            </a:pPr>
            <a:r>
              <a:rPr lang="en-GB" altLang="en-US" sz="1600" dirty="0"/>
              <a:t>Extract all </a:t>
            </a:r>
            <a:r>
              <a:rPr lang="en-GB" altLang="en-US" sz="1600" dirty="0">
                <a:solidFill>
                  <a:srgbClr val="3333FF"/>
                </a:solidFill>
              </a:rPr>
              <a:t>surplus</a:t>
            </a:r>
            <a:r>
              <a:rPr lang="en-GB" altLang="en-US" sz="1600" dirty="0"/>
              <a:t> from consumers</a:t>
            </a:r>
            <a:endParaRPr lang="en-US" altLang="en-US" sz="1600" dirty="0"/>
          </a:p>
          <a:p>
            <a:pPr marL="400050" indent="-400050">
              <a:buFontTx/>
              <a:buAutoNum type="arabicPeriod"/>
            </a:pPr>
            <a:r>
              <a:rPr lang="en-GB" altLang="en-US" dirty="0"/>
              <a:t>Versioning</a:t>
            </a:r>
          </a:p>
          <a:p>
            <a:pPr lvl="1" indent="-400050">
              <a:buFont typeface="Arial" panose="020B0604020202020204" pitchFamily="34" charset="0"/>
              <a:buChar char="•"/>
            </a:pPr>
            <a:r>
              <a:rPr lang="en-GB" altLang="en-US" sz="1600" dirty="0"/>
              <a:t>Offering versions tailored to the needs of different consumers leading to </a:t>
            </a:r>
            <a:r>
              <a:rPr lang="en-GB" altLang="en-US" sz="1600" dirty="0">
                <a:solidFill>
                  <a:srgbClr val="3333FF"/>
                </a:solidFill>
              </a:rPr>
              <a:t>self-selection</a:t>
            </a:r>
          </a:p>
          <a:p>
            <a:pPr marL="400050" indent="-400050">
              <a:buFontTx/>
              <a:buAutoNum type="arabicPeriod"/>
            </a:pPr>
            <a:r>
              <a:rPr lang="en-GB" altLang="en-US" dirty="0"/>
              <a:t>Group pricing</a:t>
            </a:r>
          </a:p>
          <a:p>
            <a:pPr lvl="1" indent="-400050">
              <a:buFont typeface="Arial" panose="020B0604020202020204" pitchFamily="34" charset="0"/>
              <a:buChar char="•"/>
            </a:pPr>
            <a:r>
              <a:rPr lang="en-GB" altLang="en-US" sz="1600" dirty="0"/>
              <a:t>Charging different groups of consumers different prices for the same product/service</a:t>
            </a:r>
          </a:p>
          <a:p>
            <a:pPr lvl="1" indent="-400050">
              <a:buFont typeface="Arial" panose="020B0604020202020204" pitchFamily="34" charset="0"/>
              <a:buChar char="•"/>
            </a:pPr>
            <a:r>
              <a:rPr lang="en-GB" altLang="en-US" sz="1600" dirty="0"/>
              <a:t>Price sensitivity, lock-in and product endorsement</a:t>
            </a:r>
          </a:p>
          <a:p>
            <a:endParaRPr lang="da-DK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Price </a:t>
            </a:r>
            <a:r>
              <a:rPr lang="da-DK" dirty="0" err="1"/>
              <a:t>Discrimination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9275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Grp="1" noChangeArrowheads="1"/>
          </p:cNvSpPr>
          <p:nvPr>
            <p:ph sz="quarter" idx="12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GB" altLang="en-US" dirty="0"/>
              <a:t>Versions tailored to the needs of different customers </a:t>
            </a:r>
          </a:p>
          <a:p>
            <a:pPr eaLnBrk="1" hangingPunct="1">
              <a:buFontTx/>
              <a:buChar char="•"/>
            </a:pPr>
            <a:r>
              <a:rPr lang="en-GB" altLang="en-US" dirty="0"/>
              <a:t>The differences between the versions are accentuated </a:t>
            </a:r>
          </a:p>
          <a:p>
            <a:pPr eaLnBrk="1" hangingPunct="1">
              <a:buFontTx/>
              <a:buChar char="•"/>
            </a:pPr>
            <a:r>
              <a:rPr lang="en-GB" altLang="en-US" dirty="0"/>
              <a:t>Prices for different buyers who acquire distinct: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1600" dirty="0"/>
              <a:t>Quantities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1600" dirty="0"/>
              <a:t>Qualities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1600" dirty="0"/>
              <a:t>Product versions</a:t>
            </a:r>
          </a:p>
          <a:p>
            <a:pPr eaLnBrk="1" hangingPunct="1">
              <a:buFontTx/>
              <a:buChar char="•"/>
            </a:pPr>
            <a:r>
              <a:rPr lang="en-GB" altLang="en-US" dirty="0">
                <a:solidFill>
                  <a:srgbClr val="3333FF"/>
                </a:solidFill>
              </a:rPr>
              <a:t>Market segmentation</a:t>
            </a:r>
          </a:p>
          <a:p>
            <a:pPr lvl="1" eaLnBrk="1" hangingPunct="1">
              <a:buFontTx/>
              <a:buChar char="•"/>
            </a:pPr>
            <a:r>
              <a:rPr lang="en-GB" altLang="en-US" sz="1600" dirty="0"/>
              <a:t>Value based pricing for digital goods</a:t>
            </a:r>
          </a:p>
          <a:p>
            <a:pPr indent="-285750"/>
            <a:endParaRPr lang="en-GB" altLang="en-US" sz="1600" dirty="0"/>
          </a:p>
          <a:p>
            <a:pPr indent="-285750"/>
            <a:endParaRPr lang="en-GB" altLang="en-US" sz="15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Versioning Principles</a:t>
            </a:r>
          </a:p>
        </p:txBody>
      </p:sp>
    </p:spTree>
    <p:extLst>
      <p:ext uri="{BB962C8B-B14F-4D97-AF65-F5344CB8AC3E}">
        <p14:creationId xmlns:p14="http://schemas.microsoft.com/office/powerpoint/2010/main" val="77642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marL="385763" indent="-385763">
              <a:buFontTx/>
              <a:buAutoNum type="arabicPeriod"/>
              <a:defRPr/>
            </a:pPr>
            <a:r>
              <a:rPr lang="en-US" altLang="en-US" sz="2400" dirty="0"/>
              <a:t>Market analysis 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en-US" sz="1800" dirty="0"/>
              <a:t>Does it naturally subdivide into different categories?    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en-US" sz="1800" dirty="0"/>
              <a:t>Are their behaviors sufficiently different?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en-US" sz="1800" dirty="0"/>
              <a:t>Is there possibility of user confusion?</a:t>
            </a:r>
          </a:p>
          <a:p>
            <a:pPr marL="385763" indent="-385763">
              <a:buFontTx/>
              <a:buAutoNum type="arabicPeriod"/>
              <a:defRPr/>
            </a:pPr>
            <a:r>
              <a:rPr lang="en-US" altLang="en-US" sz="2400" dirty="0"/>
              <a:t>Product analysis 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en-US" sz="1800" dirty="0"/>
              <a:t>Dimensions to version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en-US" sz="1800" dirty="0"/>
              <a:t>High and low end for each dimension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altLang="en-US" sz="1800" dirty="0"/>
              <a:t>Low end advertises for high end</a:t>
            </a:r>
          </a:p>
          <a:p>
            <a:pPr lvl="2">
              <a:buFontTx/>
              <a:buChar char="•"/>
              <a:defRPr/>
            </a:pPr>
            <a:r>
              <a:rPr lang="en-US" altLang="en-US" sz="1600" dirty="0"/>
              <a:t>Users trade up</a:t>
            </a:r>
          </a:p>
          <a:p>
            <a:pPr>
              <a:defRPr/>
            </a:pPr>
            <a:r>
              <a:rPr lang="en-US" altLang="en-US" sz="2400" dirty="0">
                <a:solidFill>
                  <a:srgbClr val="0000FF"/>
                </a:solidFill>
              </a:rPr>
              <a:t>The rule of three versions</a:t>
            </a:r>
          </a:p>
          <a:p>
            <a:endParaRPr lang="da-DK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How </a:t>
            </a:r>
            <a:r>
              <a:rPr lang="en-US" dirty="0"/>
              <a:t>Many</a:t>
            </a:r>
            <a:r>
              <a:rPr lang="da-DK" dirty="0"/>
              <a:t> Versions?</a:t>
            </a:r>
          </a:p>
        </p:txBody>
      </p:sp>
    </p:spTree>
    <p:extLst>
      <p:ext uri="{BB962C8B-B14F-4D97-AF65-F5344CB8AC3E}">
        <p14:creationId xmlns:p14="http://schemas.microsoft.com/office/powerpoint/2010/main" val="207493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400" dirty="0"/>
              <a:t>Versioning and market segmentation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400" dirty="0"/>
              <a:t>Criteria</a:t>
            </a:r>
          </a:p>
          <a:p>
            <a:pPr lvl="1">
              <a:buFontTx/>
              <a:buChar char="–"/>
            </a:pPr>
            <a:r>
              <a:rPr lang="en-GB" altLang="en-US" dirty="0"/>
              <a:t>commitments to existing customers</a:t>
            </a:r>
          </a:p>
          <a:p>
            <a:pPr lvl="1">
              <a:buFontTx/>
              <a:buChar char="–"/>
            </a:pPr>
            <a:r>
              <a:rPr lang="en-GB" altLang="en-US" dirty="0"/>
              <a:t>information on existing and new customers</a:t>
            </a:r>
          </a:p>
          <a:p>
            <a:pPr lvl="1">
              <a:buFontTx/>
              <a:buChar char="–"/>
            </a:pPr>
            <a:r>
              <a:rPr lang="en-GB" altLang="en-US" dirty="0"/>
              <a:t>customer’s ability for arbitrage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400" dirty="0"/>
              <a:t>3 Groups</a:t>
            </a:r>
            <a:r>
              <a:rPr lang="en-GB" altLang="en-US" dirty="0"/>
              <a:t>:</a:t>
            </a:r>
          </a:p>
          <a:p>
            <a:pPr lvl="1">
              <a:buFontTx/>
              <a:buChar char="–"/>
            </a:pPr>
            <a:r>
              <a:rPr lang="en-GB" altLang="en-US" dirty="0"/>
              <a:t>installed base -&gt; premium services </a:t>
            </a:r>
          </a:p>
          <a:p>
            <a:pPr lvl="1">
              <a:buFontTx/>
              <a:buChar char="–"/>
            </a:pPr>
            <a:r>
              <a:rPr lang="en-GB" altLang="en-US" dirty="0"/>
              <a:t>rival’s customers -&gt; discounts</a:t>
            </a:r>
          </a:p>
          <a:p>
            <a:pPr lvl="1">
              <a:buFontTx/>
              <a:buChar char="–"/>
            </a:pPr>
            <a:r>
              <a:rPr lang="en-GB" altLang="en-US" dirty="0"/>
              <a:t>new customers -&gt;introductory offers </a:t>
            </a:r>
          </a:p>
          <a:p>
            <a:endParaRPr lang="da-DK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Pricing to increase and sustain the user base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4638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/>
              <a:t>Let’s observe the pricing strategies of Booking.com </a:t>
            </a:r>
          </a:p>
          <a:p>
            <a:endParaRPr lang="da-DK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OPEN FORUM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5352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>
              <a:buFontTx/>
              <a:buChar char="•"/>
            </a:pPr>
            <a:r>
              <a:rPr lang="en-GB" altLang="en-US" sz="2400" dirty="0"/>
              <a:t>Price bundles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Separate products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Discount of the products/services in the bundle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No value added for the consumer from the bundle</a:t>
            </a:r>
            <a:endParaRPr lang="en-US" altLang="en-US" sz="1800" dirty="0"/>
          </a:p>
          <a:p>
            <a:pPr>
              <a:buFontTx/>
              <a:buChar char="•"/>
            </a:pPr>
            <a:r>
              <a:rPr lang="en-GB" altLang="en-US" sz="2400" dirty="0"/>
              <a:t>Product/service bundles</a:t>
            </a:r>
            <a:endParaRPr lang="en-US" alt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A package of services/products which work together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Value added for the consumer through integration</a:t>
            </a:r>
          </a:p>
          <a:p>
            <a:endParaRPr lang="da-DK" sz="24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Bundling</a:t>
            </a:r>
          </a:p>
        </p:txBody>
      </p:sp>
    </p:spTree>
    <p:extLst>
      <p:ext uri="{BB962C8B-B14F-4D97-AF65-F5344CB8AC3E}">
        <p14:creationId xmlns:p14="http://schemas.microsoft.com/office/powerpoint/2010/main" val="187092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5" name="Object 2"/>
          <p:cNvGraphicFramePr>
            <a:graphicFrameLocks noGrp="1" noChangeAspect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91293092"/>
              </p:ext>
            </p:extLst>
          </p:nvPr>
        </p:nvGraphicFramePr>
        <p:xfrm>
          <a:off x="920750" y="1019175"/>
          <a:ext cx="7304088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120634" imgH="3759708" progId="Word.Document.8">
                  <p:embed/>
                </p:oleObj>
              </mc:Choice>
              <mc:Fallback>
                <p:oleObj name="Document" r:id="rId3" imgW="8120634" imgH="3759708" progId="Word.Document.8">
                  <p:embed/>
                  <p:pic>
                    <p:nvPicPr>
                      <p:cNvPr id="389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1019175"/>
                        <a:ext cx="7304088" cy="3381375"/>
                      </a:xfrm>
                      <a:prstGeom prst="rect">
                        <a:avLst/>
                      </a:prstGeom>
                      <a:noFill/>
                      <a:ln w="38100" cmpd="sng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bundle: reduce </a:t>
            </a:r>
            <a:r>
              <a:rPr lang="da-DK" dirty="0"/>
              <a:t>dispersion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1714500" y="4114800"/>
            <a:ext cx="6000750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350" dirty="0">
                <a:solidFill>
                  <a:schemeClr val="tx2"/>
                </a:solidFill>
                <a:latin typeface="+mj-lt"/>
              </a:rPr>
              <a:t>Profits:</a:t>
            </a:r>
            <a:r>
              <a:rPr lang="en-US" sz="1350" dirty="0">
                <a:latin typeface="+mj-lt"/>
              </a:rPr>
              <a:t> With Bundling: $440	Without:  $400</a:t>
            </a:r>
          </a:p>
        </p:txBody>
      </p:sp>
    </p:spTree>
    <p:extLst>
      <p:ext uri="{BB962C8B-B14F-4D97-AF65-F5344CB8AC3E}">
        <p14:creationId xmlns:p14="http://schemas.microsoft.com/office/powerpoint/2010/main" val="345942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Conditional Reservation prices asymmetry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33FF"/>
                </a:solidFill>
              </a:rPr>
              <a:t>pure price or product bundling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Variation of reservation prices for the bundle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33FF"/>
                </a:solidFill>
              </a:rPr>
              <a:t>mixed price or product bundling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For increasing market penetration pure price bundling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Competitive environments mixed price /product bundling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But! Consumer </a:t>
            </a:r>
            <a:r>
              <a:rPr lang="en-US" altLang="en-US" dirty="0" err="1"/>
              <a:t>behaviour</a:t>
            </a:r>
            <a:r>
              <a:rPr lang="en-US" altLang="en-US" dirty="0"/>
              <a:t> and costs could influence bundling strategy</a:t>
            </a:r>
          </a:p>
          <a:p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Some Bundling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87850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How can a firm price digital products/services?</a:t>
            </a:r>
            <a:endParaRPr lang="da-DK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What are the alternative revenue models in digital markets</a:t>
            </a:r>
            <a:r>
              <a:rPr lang="da-DK" sz="2800" b="1" dirty="0"/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Questions related to learning objectives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4837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Charging one side (users) little or nothing, the platform will attract participants on the other side (service/application providers) which generate revenue </a:t>
            </a:r>
          </a:p>
          <a:p>
            <a:pPr marL="285750">
              <a:buFont typeface="Arial" panose="020B0604020202020204" pitchFamily="34" charset="0"/>
              <a:buChar char="•"/>
              <a:defRPr/>
            </a:pPr>
            <a:r>
              <a:rPr lang="en-GB" altLang="sv-SE" sz="1600" dirty="0"/>
              <a:t>When there is </a:t>
            </a:r>
            <a:r>
              <a:rPr lang="en-GB" altLang="sv-SE" sz="1600" dirty="0">
                <a:solidFill>
                  <a:schemeClr val="tx2"/>
                </a:solidFill>
              </a:rPr>
              <a:t>no price transaction </a:t>
            </a:r>
            <a:r>
              <a:rPr lang="en-GB" altLang="sv-SE" sz="1600" dirty="0"/>
              <a:t>charge more the side that benefits more from the presence of other</a:t>
            </a:r>
          </a:p>
          <a:p>
            <a:pPr marL="285750">
              <a:buFont typeface="Arial" panose="020B0604020202020204" pitchFamily="34" charset="0"/>
              <a:buChar char="•"/>
              <a:defRPr/>
            </a:pPr>
            <a:r>
              <a:rPr lang="en-GB" altLang="sv-SE" sz="1600" dirty="0"/>
              <a:t>When </a:t>
            </a:r>
            <a:r>
              <a:rPr lang="en-GB" altLang="sv-SE" sz="1600" dirty="0">
                <a:solidFill>
                  <a:schemeClr val="tx2"/>
                </a:solidFill>
              </a:rPr>
              <a:t>price transaction</a:t>
            </a:r>
            <a:r>
              <a:rPr lang="en-GB" altLang="sv-SE" sz="1600" dirty="0"/>
              <a:t>, charge more the side that extracts the highest value</a:t>
            </a:r>
          </a:p>
          <a:p>
            <a:pPr marL="1028700" lvl="1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What is the impact on the other side’s growth or willingness to pay?</a:t>
            </a:r>
          </a:p>
          <a:p>
            <a:pPr marL="1028700" lvl="1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“Subsidy-side”: group of users are highly valued on the “money-side”</a:t>
            </a:r>
          </a:p>
          <a:p>
            <a:pPr marL="0" indent="0">
              <a:defRPr/>
            </a:pPr>
            <a:r>
              <a:rPr lang="en-US" sz="1950" dirty="0">
                <a:solidFill>
                  <a:schemeClr val="tx2"/>
                </a:solidFill>
              </a:rPr>
              <a:t>The challenge: </a:t>
            </a:r>
            <a:r>
              <a:rPr lang="en-US" sz="1950" dirty="0"/>
              <a:t>how much subsidy should one side get and how much premium should the other side pay?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Pricing Strategies in a Platform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554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sv-SE" sz="2400" dirty="0"/>
              <a:t>Value capture and the challenges of monetizing network effects</a:t>
            </a:r>
          </a:p>
          <a:p>
            <a:pPr lvl="1"/>
            <a:r>
              <a:rPr lang="en-US" altLang="sv-SE" dirty="0"/>
              <a:t>For users: access to value created on the platform</a:t>
            </a:r>
          </a:p>
          <a:p>
            <a:pPr lvl="1"/>
            <a:r>
              <a:rPr lang="en-US" altLang="sv-SE" dirty="0"/>
              <a:t>For producers/third party providers: access to community or the market</a:t>
            </a:r>
          </a:p>
          <a:p>
            <a:pPr lvl="1"/>
            <a:r>
              <a:rPr lang="en-US" altLang="sv-SE" dirty="0"/>
              <a:t>For both users/consumers and producers: access to tools and services that facilitate interaction</a:t>
            </a:r>
          </a:p>
          <a:p>
            <a:pPr lvl="1"/>
            <a:r>
              <a:rPr lang="en-US" altLang="sv-SE" dirty="0"/>
              <a:t>For both users/consumers and producers: access to curation mechanisms that enhance the quality of interactions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Value Capture</a:t>
            </a:r>
          </a:p>
        </p:txBody>
      </p:sp>
    </p:spTree>
    <p:extLst>
      <p:ext uri="{BB962C8B-B14F-4D97-AF65-F5344CB8AC3E}">
        <p14:creationId xmlns:p14="http://schemas.microsoft.com/office/powerpoint/2010/main" val="34837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OPEN FORUM </a:t>
            </a:r>
            <a:endParaRPr lang="da-DK" dirty="0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438526" y="2387203"/>
            <a:ext cx="184731" cy="47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sv-SE" sz="2475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5339954" y="2159794"/>
            <a:ext cx="2591990" cy="2431256"/>
            <a:chOff x="5595860" y="2160012"/>
            <a:chExt cx="3455582" cy="2431176"/>
          </a:xfrm>
        </p:grpSpPr>
        <p:sp>
          <p:nvSpPr>
            <p:cNvPr id="6" name="Rounded Rectangle 5"/>
            <p:cNvSpPr/>
            <p:nvPr/>
          </p:nvSpPr>
          <p:spPr>
            <a:xfrm>
              <a:off x="5716496" y="2762448"/>
              <a:ext cx="1360328" cy="45599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67304" y="2769592"/>
              <a:ext cx="1360328" cy="455995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40311" y="3992324"/>
              <a:ext cx="2044460" cy="59886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12304" name="Rectangle 10"/>
            <p:cNvSpPr>
              <a:spLocks noChangeArrowheads="1"/>
            </p:cNvSpPr>
            <p:nvPr/>
          </p:nvSpPr>
          <p:spPr bwMode="auto">
            <a:xfrm>
              <a:off x="6590341" y="4131531"/>
              <a:ext cx="1701345" cy="253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6858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858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858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858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858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0"/>
                </a:spcBef>
              </a:pPr>
              <a:r>
                <a:rPr lang="en-US" altLang="sv-SE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PLATFORM</a:t>
              </a:r>
            </a:p>
          </p:txBody>
        </p:sp>
        <p:sp>
          <p:nvSpPr>
            <p:cNvPr id="12305" name="TextBox 6"/>
            <p:cNvSpPr txBox="1">
              <a:spLocks noChangeArrowheads="1"/>
            </p:cNvSpPr>
            <p:nvPr/>
          </p:nvSpPr>
          <p:spPr bwMode="auto">
            <a:xfrm>
              <a:off x="5785390" y="2766883"/>
              <a:ext cx="1236207" cy="323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sv-SE" sz="15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WRITERS</a:t>
              </a:r>
            </a:p>
          </p:txBody>
        </p:sp>
        <p:sp>
          <p:nvSpPr>
            <p:cNvPr id="12306" name="TextBox 8"/>
            <p:cNvSpPr txBox="1">
              <a:spLocks noChangeArrowheads="1"/>
            </p:cNvSpPr>
            <p:nvPr/>
          </p:nvSpPr>
          <p:spPr bwMode="auto">
            <a:xfrm>
              <a:off x="7635941" y="2774468"/>
              <a:ext cx="1236207" cy="323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sv-SE" sz="15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READERS</a:t>
              </a:r>
            </a:p>
          </p:txBody>
        </p:sp>
        <p:pic>
          <p:nvPicPr>
            <p:cNvPr id="12307" name="Picture 11" descr="open-book-with-text-lines-01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0567" y="2160012"/>
              <a:ext cx="920875" cy="785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8" name="Picture 12" descr="blogging-01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5860" y="2229201"/>
              <a:ext cx="707119" cy="723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9" name="Picture 13" descr="element 2-07.pn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572775">
              <a:off x="6334110" y="3306595"/>
              <a:ext cx="1176450" cy="627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10" name="Picture 14" descr="element 2-07.png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471930">
              <a:off x="7208772" y="3306595"/>
              <a:ext cx="1176450" cy="627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5755481" y="1092994"/>
            <a:ext cx="1710929" cy="1092994"/>
            <a:chOff x="6108313" y="981805"/>
            <a:chExt cx="2458459" cy="1178207"/>
          </a:xfrm>
        </p:grpSpPr>
        <p:pic>
          <p:nvPicPr>
            <p:cNvPr id="12299" name="Picture 2" descr="razor-02.png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2818" y="981805"/>
              <a:ext cx="1183954" cy="1178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0" name="Picture 19" descr="razor-01.png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8313" y="981805"/>
              <a:ext cx="1183954" cy="1178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295" name="Group 25"/>
          <p:cNvGrpSpPr>
            <a:grpSpLocks/>
          </p:cNvGrpSpPr>
          <p:nvPr/>
        </p:nvGrpSpPr>
        <p:grpSpPr bwMode="auto">
          <a:xfrm>
            <a:off x="3158729" y="4810125"/>
            <a:ext cx="2331244" cy="189283"/>
            <a:chOff x="827584" y="6412784"/>
            <a:chExt cx="3108164" cy="253777"/>
          </a:xfrm>
        </p:grpSpPr>
        <p:pic>
          <p:nvPicPr>
            <p:cNvPr id="12297" name="Picture 2" descr="CC-BY-SA icon"/>
            <p:cNvPicPr>
              <a:picLocks noChangeAspect="1" noChangeArrowheads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453336"/>
              <a:ext cx="409855" cy="19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8" name="TextBox 1"/>
            <p:cNvSpPr txBox="1">
              <a:spLocks noChangeArrowheads="1"/>
            </p:cNvSpPr>
            <p:nvPr/>
          </p:nvSpPr>
          <p:spPr bwMode="auto">
            <a:xfrm>
              <a:off x="1251527" y="6412784"/>
              <a:ext cx="2684221" cy="253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0"/>
                </a:spcBef>
              </a:pPr>
              <a:r>
                <a:rPr lang="de-DE" altLang="en-US" sz="450">
                  <a:ea typeface="MS PGothic" panose="020B0600070205080204" pitchFamily="34" charset="-128"/>
                </a:rPr>
                <a:t> 2016  </a:t>
              </a:r>
              <a:r>
                <a:rPr lang="en-US" altLang="en-US" sz="450">
                  <a:ea typeface="MS PGothic" panose="020B0600070205080204" pitchFamily="34" charset="-128"/>
                </a:rPr>
                <a:t>Parker &amp; Van Alstyne, with Choudary – licensed under Creative Commons Attribution-ShareAlike 4.0 International (CC BY-SA 4.0).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6A2E95-AF7A-1A9C-5F9F-0451966DA660}"/>
              </a:ext>
            </a:extLst>
          </p:cNvPr>
          <p:cNvSpPr txBox="1"/>
          <p:nvPr/>
        </p:nvSpPr>
        <p:spPr>
          <a:xfrm>
            <a:off x="1212427" y="1747520"/>
            <a:ext cx="2892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does the “free” make sense?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2266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Consider value capture in the platform design phase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Avoid charging for value that users previously receive for free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Avoid reducing access to value that users have become accustomed to receive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/>
              <a:t>When transition from free to fee, create </a:t>
            </a:r>
            <a:r>
              <a:rPr lang="en-US" dirty="0">
                <a:solidFill>
                  <a:schemeClr val="tx2"/>
                </a:solidFill>
              </a:rPr>
              <a:t>additional </a:t>
            </a:r>
            <a:r>
              <a:rPr lang="en-US" dirty="0"/>
              <a:t>value that justifies the charge</a:t>
            </a:r>
          </a:p>
          <a:p>
            <a:pPr>
              <a:defRPr/>
            </a:pPr>
            <a:r>
              <a:rPr lang="en-US" dirty="0"/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0" indent="0">
              <a:defRPr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Key principles to ensure transition from free to fee</a:t>
            </a:r>
            <a:endParaRPr lang="da-DK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980" y="3425428"/>
            <a:ext cx="1965722" cy="840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1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002698" y="1019175"/>
            <a:ext cx="7310437" cy="3381375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Delivery mode</a:t>
            </a:r>
            <a:r>
              <a:rPr lang="en-US" altLang="en-US" dirty="0"/>
              <a:t>: downloadable/interactive</a:t>
            </a:r>
          </a:p>
          <a:p>
            <a:pPr lvl="1"/>
            <a:r>
              <a:rPr lang="en-US" altLang="en-US" sz="1800" dirty="0"/>
              <a:t>When the product is downloaded, the value is transferred to customers in a clear-cut fashion</a:t>
            </a:r>
          </a:p>
          <a:p>
            <a:r>
              <a:rPr lang="en-US" altLang="en-US" dirty="0">
                <a:solidFill>
                  <a:schemeClr val="accent2"/>
                </a:solidFill>
              </a:rPr>
              <a:t>Granularity</a:t>
            </a:r>
            <a:r>
              <a:rPr lang="en-US" altLang="en-US" dirty="0"/>
              <a:t>: divisibility</a:t>
            </a:r>
          </a:p>
          <a:p>
            <a:pPr lvl="1"/>
            <a:r>
              <a:rPr lang="en-US" altLang="en-US" sz="1800" dirty="0"/>
              <a:t>Highly divisible products allow versioning by bundling or limiting certain features</a:t>
            </a:r>
          </a:p>
          <a:p>
            <a:r>
              <a:rPr lang="en-US" altLang="en-US" dirty="0">
                <a:solidFill>
                  <a:schemeClr val="accent2"/>
                </a:solidFill>
              </a:rPr>
              <a:t>Trialability</a:t>
            </a:r>
            <a:r>
              <a:rPr lang="en-US" altLang="en-US" dirty="0"/>
              <a:t>: allowing preview</a:t>
            </a:r>
          </a:p>
          <a:p>
            <a:pPr lvl="1"/>
            <a:r>
              <a:rPr lang="en-US" altLang="en-US" sz="1800" dirty="0"/>
              <a:t>Not desirable for all products</a:t>
            </a:r>
          </a:p>
          <a:p>
            <a:pPr lvl="1"/>
            <a:endParaRPr lang="en-US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dirty="0"/>
              <a:t>Intrinsic characteristics</a:t>
            </a:r>
            <a:endParaRPr lang="da-DK" dirty="0"/>
          </a:p>
        </p:txBody>
      </p:sp>
      <p:sp>
        <p:nvSpPr>
          <p:cNvPr id="14" name="Text Placeholder 9"/>
          <p:cNvSpPr txBox="1">
            <a:spLocks/>
          </p:cNvSpPr>
          <p:nvPr/>
        </p:nvSpPr>
        <p:spPr>
          <a:xfrm>
            <a:off x="830864" y="430925"/>
            <a:ext cx="7310438" cy="6500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b="1" kern="1200">
                <a:solidFill>
                  <a:srgbClr val="4967A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5220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7" descr="http://deliveryimages.acm.org/10.1145/510000/508451/figs/f1.jpg"/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194" y="1204912"/>
            <a:ext cx="4521200" cy="3009900"/>
          </a:xfrm>
          <a:noFill/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Classification of digital products (Hui and Chau 2002)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0018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BB20A5A-BE23-CB6D-96DD-5BF0377290C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Increase user participation </a:t>
            </a:r>
          </a:p>
          <a:p>
            <a:pPr lvl="1"/>
            <a:r>
              <a:rPr lang="en-US" altLang="en-US" sz="1500" dirty="0">
                <a:sym typeface="Wingdings" panose="05000000000000000000" pitchFamily="2" charset="2"/>
              </a:rPr>
              <a:t> </a:t>
            </a:r>
            <a:r>
              <a:rPr lang="en-US" altLang="en-US" sz="1500" dirty="0"/>
              <a:t>Increase time spent with the product and product’s perceived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Increase opportunities of user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Manage complements to the core product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BCC96D-FAFB-CB47-A2AC-A2BC289D8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z="2800" dirty="0"/>
              <a:t>How to generate and manage network effects?</a:t>
            </a:r>
            <a:endParaRPr lang="da-DK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8D6E296-D1DF-5939-2B21-148A8C636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023" y="2347491"/>
            <a:ext cx="4706540" cy="2049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0503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55228438"/>
              </p:ext>
            </p:extLst>
          </p:nvPr>
        </p:nvGraphicFramePr>
        <p:xfrm>
          <a:off x="917575" y="1019175"/>
          <a:ext cx="7310438" cy="162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213">
                <a:tc>
                  <a:txBody>
                    <a:bodyPr/>
                    <a:lstStyle/>
                    <a:p>
                      <a:r>
                        <a:rPr lang="en-US" sz="1400" dirty="0"/>
                        <a:t>Classical market</a:t>
                      </a:r>
                      <a:r>
                        <a:rPr lang="en-US" sz="1400" baseline="0" dirty="0"/>
                        <a:t> </a:t>
                      </a:r>
                      <a:endParaRPr lang="en-US" sz="1400" dirty="0"/>
                    </a:p>
                  </a:txBody>
                  <a:tcPr marL="86005" marR="86005" marT="34301" marB="3430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Network effects</a:t>
                      </a:r>
                    </a:p>
                  </a:txBody>
                  <a:tcPr marL="86005" marR="86005" marT="34301" marB="343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13">
                <a:tc>
                  <a:txBody>
                    <a:bodyPr/>
                    <a:lstStyle/>
                    <a:p>
                      <a:r>
                        <a:rPr lang="en-US" sz="1400" dirty="0"/>
                        <a:t>Intrinsic</a:t>
                      </a:r>
                      <a:r>
                        <a:rPr lang="en-US" sz="1400" baseline="0" dirty="0"/>
                        <a:t> Value</a:t>
                      </a:r>
                      <a:endParaRPr lang="en-US" sz="1400" dirty="0"/>
                    </a:p>
                  </a:txBody>
                  <a:tcPr marL="86005" marR="86005" marT="34301" marB="3430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Extrinsic</a:t>
                      </a:r>
                      <a:r>
                        <a:rPr lang="en-US" sz="1400" baseline="0" dirty="0"/>
                        <a:t> Value</a:t>
                      </a:r>
                      <a:endParaRPr lang="en-US" sz="1400" dirty="0"/>
                    </a:p>
                  </a:txBody>
                  <a:tcPr marL="86005" marR="86005" marT="34301" marB="343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213">
                <a:tc>
                  <a:txBody>
                    <a:bodyPr/>
                    <a:lstStyle/>
                    <a:p>
                      <a:r>
                        <a:rPr lang="en-US" sz="1400" dirty="0"/>
                        <a:t>Skimming</a:t>
                      </a:r>
                      <a:r>
                        <a:rPr lang="en-US" sz="1400" baseline="0" dirty="0"/>
                        <a:t> pricing</a:t>
                      </a:r>
                      <a:endParaRPr lang="en-US" sz="1400" dirty="0"/>
                    </a:p>
                  </a:txBody>
                  <a:tcPr marL="86005" marR="86005" marT="34301" marB="3430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Penetration</a:t>
                      </a:r>
                      <a:r>
                        <a:rPr lang="en-US" sz="1400" baseline="0" dirty="0"/>
                        <a:t> pricing</a:t>
                      </a:r>
                      <a:endParaRPr lang="en-US" sz="1400" dirty="0"/>
                    </a:p>
                  </a:txBody>
                  <a:tcPr marL="86005" marR="86005" marT="34301" marB="343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213">
                <a:tc>
                  <a:txBody>
                    <a:bodyPr/>
                    <a:lstStyle/>
                    <a:p>
                      <a:r>
                        <a:rPr lang="en-US" sz="1400" dirty="0"/>
                        <a:t>Price as quality signal</a:t>
                      </a:r>
                    </a:p>
                  </a:txBody>
                  <a:tcPr marL="86005" marR="86005" marT="34301" marB="3430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When</a:t>
                      </a:r>
                      <a:r>
                        <a:rPr lang="en-US" sz="1400" baseline="0" dirty="0"/>
                        <a:t> lock-in then change prices</a:t>
                      </a:r>
                      <a:endParaRPr lang="en-US" sz="1400" dirty="0"/>
                    </a:p>
                  </a:txBody>
                  <a:tcPr marL="86005" marR="86005" marT="34301" marB="343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203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86005" marR="86005" marT="34301" marB="3430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Bundling-compatibility-variety</a:t>
                      </a:r>
                    </a:p>
                    <a:p>
                      <a:r>
                        <a:rPr lang="en-US" sz="1400" dirty="0"/>
                        <a:t>-upgrades</a:t>
                      </a:r>
                    </a:p>
                  </a:txBody>
                  <a:tcPr marL="86005" marR="86005" marT="34301" marB="343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Pricing strategy</a:t>
            </a:r>
          </a:p>
        </p:txBody>
      </p:sp>
      <p:sp>
        <p:nvSpPr>
          <p:cNvPr id="23577" name="TextBox 6"/>
          <p:cNvSpPr txBox="1">
            <a:spLocks noChangeArrowheads="1"/>
          </p:cNvSpPr>
          <p:nvPr/>
        </p:nvSpPr>
        <p:spPr bwMode="auto">
          <a:xfrm>
            <a:off x="969818" y="3308251"/>
            <a:ext cx="69757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For  products with network effects,  penetration pricing and bundling are more conductive to long-term performance than skimming pricing or unbundling</a:t>
            </a:r>
          </a:p>
        </p:txBody>
      </p:sp>
    </p:spTree>
    <p:extLst>
      <p:ext uri="{BB962C8B-B14F-4D97-AF65-F5344CB8AC3E}">
        <p14:creationId xmlns:p14="http://schemas.microsoft.com/office/powerpoint/2010/main" val="2943401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Product launch strategy &amp; network effects </a:t>
            </a:r>
            <a:endParaRPr lang="da-DK" dirty="0"/>
          </a:p>
        </p:txBody>
      </p:sp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578" y="1059657"/>
            <a:ext cx="6498431" cy="3459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2768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0F4CB-720A-664A-B104-F90C53F0CD3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200" b="1" dirty="0"/>
              <a:t>Background</a:t>
            </a:r>
          </a:p>
          <a:p>
            <a:r>
              <a:rPr lang="en-US" sz="2200"/>
              <a:t>MyCoach</a:t>
            </a:r>
            <a:r>
              <a:rPr lang="en-US" sz="2200" dirty="0"/>
              <a:t> is a startup offering an AI-powered coaching app for young professionals. The platform provides:</a:t>
            </a:r>
          </a:p>
          <a:p>
            <a:r>
              <a:rPr lang="en-US" sz="2200" dirty="0"/>
              <a:t>Personalized AI coaching conversations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Habit tracking and behavioral nudges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dashboard for companies to monitor employee development (B2B feature)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After a beta test with 500 individuals and 3 SME pilot customers, the founders must now decide on a pricing strategy for launch.</a:t>
            </a:r>
          </a:p>
          <a:p>
            <a:br>
              <a:rPr lang="en-US" sz="2200" dirty="0"/>
            </a:br>
            <a:endParaRPr lang="en-US" sz="2200" dirty="0"/>
          </a:p>
          <a:p>
            <a:r>
              <a:rPr lang="en-US" sz="2200" b="1" dirty="0"/>
              <a:t>Key Characteristics of the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High fixed development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Near-zero marginal cost per additional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Many free substitutes (AI tools, YouTube, podcasts)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Potential data advantages: more users → better AI → higher value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1552A5-604C-5FD0-D5F0-291970FEDD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4838" y="1019175"/>
            <a:ext cx="3420000" cy="361119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The Strategic Dilemma: The founders disagree</a:t>
            </a:r>
          </a:p>
          <a:p>
            <a:endParaRPr lang="en-US" b="1" dirty="0"/>
          </a:p>
          <a:p>
            <a:r>
              <a:rPr lang="en-US" b="1" dirty="0"/>
              <a:t>Option A: Freemium Model</a:t>
            </a:r>
            <a:br>
              <a:rPr lang="en-US" dirty="0"/>
            </a:br>
            <a:r>
              <a:rPr lang="en-US" dirty="0"/>
              <a:t>Free basic version + 100DKK/month premium</a:t>
            </a:r>
            <a:br>
              <a:rPr lang="en-US" dirty="0"/>
            </a:br>
            <a:r>
              <a:rPr lang="en-US" dirty="0"/>
              <a:t>→ Goal: scale quickly and build data advantage</a:t>
            </a:r>
          </a:p>
          <a:p>
            <a:endParaRPr lang="en-US" b="1" dirty="0"/>
          </a:p>
          <a:p>
            <a:r>
              <a:rPr lang="en-US" b="1" dirty="0"/>
              <a:t>Option B: Premium Subscription</a:t>
            </a:r>
            <a:br>
              <a:rPr lang="en-US" dirty="0"/>
            </a:br>
            <a:r>
              <a:rPr lang="en-US" dirty="0"/>
              <a:t>200DKK/month, no free tier</a:t>
            </a:r>
            <a:br>
              <a:rPr lang="en-US" dirty="0"/>
            </a:br>
            <a:r>
              <a:rPr lang="en-US" dirty="0"/>
              <a:t>→ Goal: signal high quality and monetize early</a:t>
            </a:r>
          </a:p>
          <a:p>
            <a:endParaRPr lang="en-US" b="1" dirty="0"/>
          </a:p>
          <a:p>
            <a:r>
              <a:rPr lang="en-US" b="1" dirty="0"/>
              <a:t>Option C: B2B Focus</a:t>
            </a:r>
          </a:p>
          <a:p>
            <a:r>
              <a:rPr lang="en-US" dirty="0"/>
              <a:t>100DKK per employee/month (annual contracts)</a:t>
            </a:r>
            <a:br>
              <a:rPr lang="en-US" dirty="0"/>
            </a:br>
            <a:r>
              <a:rPr lang="en-US" dirty="0"/>
              <a:t>→ Goal: stable, predictable revenue</a:t>
            </a:r>
          </a:p>
          <a:p>
            <a:r>
              <a:rPr lang="en-US" dirty="0"/>
              <a:t>The company cannot fully pursue all three at once due to limited resources.</a:t>
            </a:r>
          </a:p>
          <a:p>
            <a:br>
              <a:rPr lang="en-US" dirty="0"/>
            </a:br>
            <a:endParaRPr lang="en-US" dirty="0"/>
          </a:p>
          <a:p>
            <a:endParaRPr lang="da-DK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AB3AC2-B18D-571C-0A84-7B7045607E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7575" y="304801"/>
            <a:ext cx="7310438" cy="518808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OPEN FORUM: </a:t>
            </a:r>
            <a:r>
              <a:rPr lang="en-US" dirty="0"/>
              <a:t>Which pricing strategy should </a:t>
            </a:r>
            <a:r>
              <a:rPr lang="en-US" dirty="0" err="1"/>
              <a:t>MyCoach</a:t>
            </a:r>
            <a:r>
              <a:rPr lang="en-US" dirty="0"/>
              <a:t> choose at launch — and why?</a:t>
            </a:r>
          </a:p>
          <a:p>
            <a:endParaRPr lang="da-DK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lassisk kontor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s - Pi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C29BC07FE2BB46AF5224F684219C8B" ma:contentTypeVersion="1" ma:contentTypeDescription="Create a new document." ma:contentTypeScope="" ma:versionID="dc767dc6a6b6d55af0f0d698a45e0b34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0CD774-C46D-4492-9C14-B8B691B83853}">
  <ds:schemaRefs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F061886-A6B2-4AC7-8398-3DC806DA4D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46ABF9-A021-4776-A5A5-26C5441FE4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16764</TotalTime>
  <Words>1042</Words>
  <Application>Microsoft Office PowerPoint</Application>
  <PresentationFormat>On-screen Show (16:9)</PresentationFormat>
  <Paragraphs>152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MS PGothic</vt:lpstr>
      <vt:lpstr>Arial</vt:lpstr>
      <vt:lpstr>Calibri</vt:lpstr>
      <vt:lpstr>Times New Roman</vt:lpstr>
      <vt:lpstr>Wingdings</vt:lpstr>
      <vt:lpstr>Title Slides</vt:lpstr>
      <vt:lpstr>Content Slides</vt:lpstr>
      <vt:lpstr>Content Slides - Picture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CBS EA</dc:creator>
  <cp:lastModifiedBy>Ioanna Constantiou</cp:lastModifiedBy>
  <cp:revision>410</cp:revision>
  <cp:lastPrinted>2023-03-29T10:13:40Z</cp:lastPrinted>
  <dcterms:created xsi:type="dcterms:W3CDTF">2013-11-09T16:46:18Z</dcterms:created>
  <dcterms:modified xsi:type="dcterms:W3CDTF">2026-02-25T12:24:13Z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0x0101004BC29BC07FE2BB46AF5224F684219C8B</vt:lpwstr>
  </property>
</Properties>
</file>