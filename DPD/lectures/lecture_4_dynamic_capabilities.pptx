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 id="2147483684" r:id="rId5"/>
    <p:sldMasterId id="2147483689" r:id="rId6"/>
  </p:sldMasterIdLst>
  <p:notesMasterIdLst>
    <p:notesMasterId r:id="rId30"/>
  </p:notesMasterIdLst>
  <p:handoutMasterIdLst>
    <p:handoutMasterId r:id="rId31"/>
  </p:handoutMasterIdLst>
  <p:sldIdLst>
    <p:sldId id="259" r:id="rId7"/>
    <p:sldId id="744" r:id="rId8"/>
    <p:sldId id="482" r:id="rId9"/>
    <p:sldId id="480" r:id="rId10"/>
    <p:sldId id="429" r:id="rId11"/>
    <p:sldId id="431" r:id="rId12"/>
    <p:sldId id="488" r:id="rId13"/>
    <p:sldId id="504" r:id="rId14"/>
    <p:sldId id="506" r:id="rId15"/>
    <p:sldId id="492" r:id="rId16"/>
    <p:sldId id="507" r:id="rId17"/>
    <p:sldId id="508" r:id="rId18"/>
    <p:sldId id="510" r:id="rId19"/>
    <p:sldId id="2147476330" r:id="rId20"/>
    <p:sldId id="2147476331" r:id="rId21"/>
    <p:sldId id="2147476333" r:id="rId22"/>
    <p:sldId id="2147476334" r:id="rId23"/>
    <p:sldId id="2147476335" r:id="rId24"/>
    <p:sldId id="2147476336" r:id="rId25"/>
    <p:sldId id="436" r:id="rId26"/>
    <p:sldId id="437" r:id="rId27"/>
    <p:sldId id="439" r:id="rId28"/>
    <p:sldId id="440" r:id="rId29"/>
  </p:sldIdLst>
  <p:sldSz cx="9144000" cy="5143500" type="screen16x9"/>
  <p:notesSz cx="7099300" cy="10234613"/>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3048">
          <p15:clr>
            <a:srgbClr val="A4A3A4"/>
          </p15:clr>
        </p15:guide>
        <p15:guide id="3" pos="5183">
          <p15:clr>
            <a:srgbClr val="A4A3A4"/>
          </p15:clr>
        </p15:guide>
        <p15:guide id="4" pos="579">
          <p15:clr>
            <a:srgbClr val="A4A3A4"/>
          </p15:clr>
        </p15:guide>
        <p15:guide id="5" pos="577">
          <p15:clr>
            <a:srgbClr val="A4A3A4"/>
          </p15:clr>
        </p15:guide>
        <p15:guide id="6" pos="288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AA"/>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BFCA5A-F154-4079-9270-52EE8BC92CC9}" v="1" dt="2026-03-04T07:48:16.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3600" autoAdjust="0"/>
  </p:normalViewPr>
  <p:slideViewPr>
    <p:cSldViewPr snapToGrid="0" snapToObjects="1" showGuides="1">
      <p:cViewPr varScale="1">
        <p:scale>
          <a:sx n="158" d="100"/>
          <a:sy n="158" d="100"/>
        </p:scale>
        <p:origin x="300" y="132"/>
      </p:cViewPr>
      <p:guideLst>
        <p:guide orient="horz" pos="192"/>
        <p:guide orient="horz" pos="3048"/>
        <p:guide pos="5183"/>
        <p:guide pos="579"/>
        <p:guide pos="577"/>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2" d="100"/>
          <a:sy n="82" d="100"/>
        </p:scale>
        <p:origin x="-3180" y="-96"/>
      </p:cViewPr>
      <p:guideLst>
        <p:guide orient="horz" pos="3224"/>
        <p:guide pos="2237"/>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4622" tIns="47311" rIns="94622" bIns="47311" rtlCol="0"/>
          <a:lstStyle>
            <a:lvl1pPr algn="l">
              <a:defRPr sz="1200"/>
            </a:lvl1pPr>
          </a:lstStyle>
          <a:p>
            <a:endParaRPr lang="da-DK"/>
          </a:p>
        </p:txBody>
      </p:sp>
      <p:sp>
        <p:nvSpPr>
          <p:cNvPr id="3" name="Date Placeholder 2"/>
          <p:cNvSpPr>
            <a:spLocks noGrp="1"/>
          </p:cNvSpPr>
          <p:nvPr>
            <p:ph type="dt" sz="quarter" idx="1"/>
          </p:nvPr>
        </p:nvSpPr>
        <p:spPr>
          <a:xfrm>
            <a:off x="4021294" y="0"/>
            <a:ext cx="3076363" cy="513508"/>
          </a:xfrm>
          <a:prstGeom prst="rect">
            <a:avLst/>
          </a:prstGeom>
        </p:spPr>
        <p:txBody>
          <a:bodyPr vert="horz" lIns="94622" tIns="47311" rIns="94622" bIns="47311" rtlCol="0"/>
          <a:lstStyle>
            <a:lvl1pPr algn="r">
              <a:defRPr sz="1200"/>
            </a:lvl1pPr>
          </a:lstStyle>
          <a:p>
            <a:fld id="{F6992C72-CA01-4D4C-B1C4-5066EC55DB8A}" type="datetimeFigureOut">
              <a:rPr lang="da-DK" smtClean="0"/>
              <a:t>04-03-2026</a:t>
            </a:fld>
            <a:endParaRPr lang="da-DK"/>
          </a:p>
        </p:txBody>
      </p:sp>
      <p:sp>
        <p:nvSpPr>
          <p:cNvPr id="4" name="Footer Placeholder 3"/>
          <p:cNvSpPr>
            <a:spLocks noGrp="1"/>
          </p:cNvSpPr>
          <p:nvPr>
            <p:ph type="ftr" sz="quarter" idx="2"/>
          </p:nvPr>
        </p:nvSpPr>
        <p:spPr>
          <a:xfrm>
            <a:off x="1" y="9721108"/>
            <a:ext cx="3076363" cy="513507"/>
          </a:xfrm>
          <a:prstGeom prst="rect">
            <a:avLst/>
          </a:prstGeom>
        </p:spPr>
        <p:txBody>
          <a:bodyPr vert="horz" lIns="94622" tIns="47311" rIns="94622" bIns="47311" rtlCol="0" anchor="b"/>
          <a:lstStyle>
            <a:lvl1pPr algn="l">
              <a:defRPr sz="1200"/>
            </a:lvl1pPr>
          </a:lstStyle>
          <a:p>
            <a:endParaRPr lang="da-DK"/>
          </a:p>
        </p:txBody>
      </p:sp>
      <p:sp>
        <p:nvSpPr>
          <p:cNvPr id="5" name="Slide Number Placeholder 4"/>
          <p:cNvSpPr>
            <a:spLocks noGrp="1"/>
          </p:cNvSpPr>
          <p:nvPr>
            <p:ph type="sldNum" sz="quarter" idx="3"/>
          </p:nvPr>
        </p:nvSpPr>
        <p:spPr>
          <a:xfrm>
            <a:off x="4021294" y="9721108"/>
            <a:ext cx="3076363" cy="513507"/>
          </a:xfrm>
          <a:prstGeom prst="rect">
            <a:avLst/>
          </a:prstGeom>
        </p:spPr>
        <p:txBody>
          <a:bodyPr vert="horz" lIns="94622" tIns="47311" rIns="94622" bIns="47311" rtlCol="0" anchor="b"/>
          <a:lstStyle>
            <a:lvl1pPr algn="r">
              <a:defRPr sz="1200"/>
            </a:lvl1pPr>
          </a:lstStyle>
          <a:p>
            <a:fld id="{0EF7638A-64AC-4946-94B4-39EF7D477E6B}" type="slidenum">
              <a:rPr lang="da-DK" smtClean="0"/>
              <a:t>‹#›</a:t>
            </a:fld>
            <a:endParaRPr lang="da-DK"/>
          </a:p>
        </p:txBody>
      </p:sp>
    </p:spTree>
    <p:extLst>
      <p:ext uri="{BB962C8B-B14F-4D97-AF65-F5344CB8AC3E}">
        <p14:creationId xmlns:p14="http://schemas.microsoft.com/office/powerpoint/2010/main" val="4248651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1" y="0"/>
            <a:ext cx="3076363" cy="511731"/>
          </a:xfrm>
          <a:prstGeom prst="rect">
            <a:avLst/>
          </a:prstGeom>
        </p:spPr>
        <p:txBody>
          <a:bodyPr vert="horz" lIns="94622" tIns="47311" rIns="94622" bIns="47311" rtlCol="0"/>
          <a:lstStyle>
            <a:lvl1pPr algn="l">
              <a:defRPr sz="1200"/>
            </a:lvl1pPr>
          </a:lstStyle>
          <a:p>
            <a:endParaRPr lang="da-DK"/>
          </a:p>
        </p:txBody>
      </p:sp>
      <p:sp>
        <p:nvSpPr>
          <p:cNvPr id="3" name="Pladsholder til dato 2"/>
          <p:cNvSpPr>
            <a:spLocks noGrp="1"/>
          </p:cNvSpPr>
          <p:nvPr>
            <p:ph type="dt" idx="1"/>
          </p:nvPr>
        </p:nvSpPr>
        <p:spPr>
          <a:xfrm>
            <a:off x="4021294" y="0"/>
            <a:ext cx="3076363" cy="511731"/>
          </a:xfrm>
          <a:prstGeom prst="rect">
            <a:avLst/>
          </a:prstGeom>
        </p:spPr>
        <p:txBody>
          <a:bodyPr vert="horz" lIns="94622" tIns="47311" rIns="94622" bIns="47311" rtlCol="0"/>
          <a:lstStyle>
            <a:lvl1pPr algn="r">
              <a:defRPr sz="1200"/>
            </a:lvl1pPr>
          </a:lstStyle>
          <a:p>
            <a:fld id="{B5C1DC36-FCF6-4F65-A8BC-386231DA6558}" type="datetimeFigureOut">
              <a:rPr lang="da-DK" smtClean="0"/>
              <a:t>04-03-2026</a:t>
            </a:fld>
            <a:endParaRPr lang="da-DK"/>
          </a:p>
        </p:txBody>
      </p:sp>
      <p:sp>
        <p:nvSpPr>
          <p:cNvPr id="4" name="Pladsholder til diasbillede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4622" tIns="47311" rIns="94622" bIns="47311" rtlCol="0" anchor="ctr"/>
          <a:lstStyle/>
          <a:p>
            <a:endParaRPr lang="da-DK"/>
          </a:p>
        </p:txBody>
      </p:sp>
      <p:sp>
        <p:nvSpPr>
          <p:cNvPr id="5" name="Pladsholder til noter 4"/>
          <p:cNvSpPr>
            <a:spLocks noGrp="1"/>
          </p:cNvSpPr>
          <p:nvPr>
            <p:ph type="body" sz="quarter" idx="3"/>
          </p:nvPr>
        </p:nvSpPr>
        <p:spPr>
          <a:xfrm>
            <a:off x="709931" y="4861442"/>
            <a:ext cx="5679440" cy="4605576"/>
          </a:xfrm>
          <a:prstGeom prst="rect">
            <a:avLst/>
          </a:prstGeom>
        </p:spPr>
        <p:txBody>
          <a:bodyPr vert="horz" lIns="94622" tIns="47311" rIns="94622" bIns="47311"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1" y="9721106"/>
            <a:ext cx="3076363" cy="511731"/>
          </a:xfrm>
          <a:prstGeom prst="rect">
            <a:avLst/>
          </a:prstGeom>
        </p:spPr>
        <p:txBody>
          <a:bodyPr vert="horz" lIns="94622" tIns="47311" rIns="94622" bIns="47311" rtlCol="0" anchor="b"/>
          <a:lstStyle>
            <a:lvl1pPr algn="l">
              <a:defRPr sz="1200"/>
            </a:lvl1pPr>
          </a:lstStyle>
          <a:p>
            <a:endParaRPr lang="da-DK"/>
          </a:p>
        </p:txBody>
      </p:sp>
      <p:sp>
        <p:nvSpPr>
          <p:cNvPr id="7" name="Pladsholder til diasnummer 6"/>
          <p:cNvSpPr>
            <a:spLocks noGrp="1"/>
          </p:cNvSpPr>
          <p:nvPr>
            <p:ph type="sldNum" sz="quarter" idx="5"/>
          </p:nvPr>
        </p:nvSpPr>
        <p:spPr>
          <a:xfrm>
            <a:off x="4021294" y="9721106"/>
            <a:ext cx="3076363" cy="511731"/>
          </a:xfrm>
          <a:prstGeom prst="rect">
            <a:avLst/>
          </a:prstGeom>
        </p:spPr>
        <p:txBody>
          <a:bodyPr vert="horz" lIns="94622" tIns="47311" rIns="94622" bIns="47311" rtlCol="0" anchor="b"/>
          <a:lstStyle>
            <a:lvl1pPr algn="r">
              <a:defRPr sz="1200"/>
            </a:lvl1pPr>
          </a:lstStyle>
          <a:p>
            <a:fld id="{E59BDDC2-5BFA-453C-A225-5004D8F0E7E2}" type="slidenum">
              <a:rPr lang="da-DK" smtClean="0"/>
              <a:t>‹#›</a:t>
            </a:fld>
            <a:endParaRPr lang="da-DK"/>
          </a:p>
        </p:txBody>
      </p:sp>
    </p:spTree>
    <p:extLst>
      <p:ext uri="{BB962C8B-B14F-4D97-AF65-F5344CB8AC3E}">
        <p14:creationId xmlns:p14="http://schemas.microsoft.com/office/powerpoint/2010/main" val="19168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D113C5C1-C075-526A-EC14-D973FDBC49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cs typeface="Arial" panose="020B0604020202020204" pitchFamily="34" charset="0"/>
              </a:defRPr>
            </a:lvl1pPr>
            <a:lvl2pPr marL="749300" indent="-287338">
              <a:defRPr sz="2800">
                <a:solidFill>
                  <a:schemeClr val="tx1"/>
                </a:solidFill>
                <a:latin typeface="Times New Roman" panose="02020603050405020304" pitchFamily="18" charset="0"/>
                <a:cs typeface="Arial" panose="020B0604020202020204" pitchFamily="34" charset="0"/>
              </a:defRPr>
            </a:lvl2pPr>
            <a:lvl3pPr marL="1152525" indent="-230188">
              <a:defRPr sz="2800">
                <a:solidFill>
                  <a:schemeClr val="tx1"/>
                </a:solidFill>
                <a:latin typeface="Times New Roman" panose="02020603050405020304" pitchFamily="18" charset="0"/>
                <a:cs typeface="Arial" panose="020B0604020202020204" pitchFamily="34" charset="0"/>
              </a:defRPr>
            </a:lvl3pPr>
            <a:lvl4pPr marL="1614488" indent="-230188">
              <a:defRPr sz="2800">
                <a:solidFill>
                  <a:schemeClr val="tx1"/>
                </a:solidFill>
                <a:latin typeface="Times New Roman" panose="02020603050405020304" pitchFamily="18" charset="0"/>
                <a:cs typeface="Arial" panose="020B0604020202020204" pitchFamily="34" charset="0"/>
              </a:defRPr>
            </a:lvl4pPr>
            <a:lvl5pPr marL="2074863" indent="-230188">
              <a:defRPr sz="2800">
                <a:solidFill>
                  <a:schemeClr val="tx1"/>
                </a:solidFill>
                <a:latin typeface="Times New Roman" panose="02020603050405020304" pitchFamily="18" charset="0"/>
                <a:cs typeface="Arial" panose="020B0604020202020204" pitchFamily="34" charset="0"/>
              </a:defRPr>
            </a:lvl5pPr>
            <a:lvl6pPr marL="25320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6pPr>
            <a:lvl7pPr marL="29892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7pPr>
            <a:lvl8pPr marL="34464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8pPr>
            <a:lvl9pPr marL="39036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9pPr>
          </a:lstStyle>
          <a:p>
            <a:fld id="{55A95428-F8E2-4241-80FE-000EECA4AEE7}" type="slidenum">
              <a:rPr lang="en-US" altLang="sv-SE" sz="1200" smtClean="0">
                <a:latin typeface="Arial" panose="020B0604020202020204" pitchFamily="34" charset="0"/>
              </a:rPr>
              <a:pPr/>
              <a:t>9</a:t>
            </a:fld>
            <a:endParaRPr lang="en-US" altLang="sv-SE" sz="1200">
              <a:latin typeface="Arial" panose="020B0604020202020204" pitchFamily="34" charset="0"/>
            </a:endParaRPr>
          </a:p>
        </p:txBody>
      </p:sp>
      <p:sp>
        <p:nvSpPr>
          <p:cNvPr id="13315" name="Rectangle 2">
            <a:extLst>
              <a:ext uri="{FF2B5EF4-FFF2-40B4-BE49-F238E27FC236}">
                <a16:creationId xmlns:a16="http://schemas.microsoft.com/office/drawing/2014/main" id="{B81874F6-2305-548B-EE9E-9BDB380BB47D}"/>
              </a:ext>
            </a:extLst>
          </p:cNvPr>
          <p:cNvSpPr>
            <a:spLocks noGrp="1" noRot="1" noChangeAspect="1" noChangeArrowheads="1" noTextEdit="1"/>
          </p:cNvSpPr>
          <p:nvPr>
            <p:ph type="sldImg"/>
          </p:nvPr>
        </p:nvSpPr>
        <p:spPr>
          <a:xfrm>
            <a:off x="-39688" y="484188"/>
            <a:ext cx="7119938" cy="4005262"/>
          </a:xfrm>
          <a:ln/>
        </p:spPr>
      </p:sp>
      <p:sp>
        <p:nvSpPr>
          <p:cNvPr id="13316" name="Rectangle 3">
            <a:extLst>
              <a:ext uri="{FF2B5EF4-FFF2-40B4-BE49-F238E27FC236}">
                <a16:creationId xmlns:a16="http://schemas.microsoft.com/office/drawing/2014/main" id="{59A5A775-369A-C2A0-A496-DCE059DCB2E6}"/>
              </a:ext>
            </a:extLst>
          </p:cNvPr>
          <p:cNvSpPr>
            <a:spLocks noGrp="1" noChangeArrowheads="1"/>
          </p:cNvSpPr>
          <p:nvPr>
            <p:ph type="body" idx="1"/>
          </p:nvPr>
        </p:nvSpPr>
        <p:spPr>
          <a:xfrm>
            <a:off x="703263" y="4419600"/>
            <a:ext cx="5626100" cy="4184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83" tIns="45891" rIns="91783" bIns="45891"/>
          <a:lstStyle/>
          <a:p>
            <a:pPr eaLnBrk="1" hangingPunct="1">
              <a:spcBef>
                <a:spcPct val="0"/>
              </a:spcBef>
            </a:pPr>
            <a:endParaRPr lang="en-US" altLang="sv-S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F445D8EB-7529-6668-798B-32899E430CF7}"/>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FF0B57B6-82F9-2D5B-F3BE-EBF7DE66A7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sv-SE"/>
          </a:p>
        </p:txBody>
      </p:sp>
      <p:sp>
        <p:nvSpPr>
          <p:cNvPr id="16388" name="Slide Number Placeholder 3">
            <a:extLst>
              <a:ext uri="{FF2B5EF4-FFF2-40B4-BE49-F238E27FC236}">
                <a16:creationId xmlns:a16="http://schemas.microsoft.com/office/drawing/2014/main" id="{4D8AA1EA-3E33-5ADD-17BA-F92555838F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cs typeface="Arial" panose="020B0604020202020204" pitchFamily="34" charset="0"/>
              </a:defRPr>
            </a:lvl1pPr>
            <a:lvl2pPr marL="749300" indent="-287338">
              <a:defRPr sz="2800">
                <a:solidFill>
                  <a:schemeClr val="tx1"/>
                </a:solidFill>
                <a:latin typeface="Times New Roman" panose="02020603050405020304" pitchFamily="18" charset="0"/>
                <a:cs typeface="Arial" panose="020B0604020202020204" pitchFamily="34" charset="0"/>
              </a:defRPr>
            </a:lvl2pPr>
            <a:lvl3pPr marL="1152525" indent="-230188">
              <a:defRPr sz="2800">
                <a:solidFill>
                  <a:schemeClr val="tx1"/>
                </a:solidFill>
                <a:latin typeface="Times New Roman" panose="02020603050405020304" pitchFamily="18" charset="0"/>
                <a:cs typeface="Arial" panose="020B0604020202020204" pitchFamily="34" charset="0"/>
              </a:defRPr>
            </a:lvl3pPr>
            <a:lvl4pPr marL="1614488" indent="-230188">
              <a:defRPr sz="2800">
                <a:solidFill>
                  <a:schemeClr val="tx1"/>
                </a:solidFill>
                <a:latin typeface="Times New Roman" panose="02020603050405020304" pitchFamily="18" charset="0"/>
                <a:cs typeface="Arial" panose="020B0604020202020204" pitchFamily="34" charset="0"/>
              </a:defRPr>
            </a:lvl4pPr>
            <a:lvl5pPr marL="2074863" indent="-230188">
              <a:defRPr sz="2800">
                <a:solidFill>
                  <a:schemeClr val="tx1"/>
                </a:solidFill>
                <a:latin typeface="Times New Roman" panose="02020603050405020304" pitchFamily="18" charset="0"/>
                <a:cs typeface="Arial" panose="020B0604020202020204" pitchFamily="34" charset="0"/>
              </a:defRPr>
            </a:lvl5pPr>
            <a:lvl6pPr marL="25320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6pPr>
            <a:lvl7pPr marL="29892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7pPr>
            <a:lvl8pPr marL="34464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8pPr>
            <a:lvl9pPr marL="39036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9pPr>
          </a:lstStyle>
          <a:p>
            <a:fld id="{557791DA-72E6-4D28-8E94-EA0BE6B1B722}" type="slidenum">
              <a:rPr lang="en-US" altLang="sv-SE" sz="1200" smtClean="0"/>
              <a:pPr/>
              <a:t>10</a:t>
            </a:fld>
            <a:endParaRPr lang="en-US" altLang="sv-SE" sz="1200"/>
          </a:p>
        </p:txBody>
      </p:sp>
      <p:sp>
        <p:nvSpPr>
          <p:cNvPr id="32773" name="Header Placeholder 4">
            <a:extLst>
              <a:ext uri="{FF2B5EF4-FFF2-40B4-BE49-F238E27FC236}">
                <a16:creationId xmlns:a16="http://schemas.microsoft.com/office/drawing/2014/main" id="{9920A8B9-7279-D4FD-E94B-17FF8955D80D}"/>
              </a:ext>
            </a:extLst>
          </p:cNvPr>
          <p:cNvSpPr>
            <a:spLocks noGrp="1"/>
          </p:cNvSpPr>
          <p:nvPr>
            <p:ph type="hdr" sz="quarter"/>
          </p:nvPr>
        </p:nvSpPr>
        <p:spPr/>
        <p:txBody>
          <a:bodyPr/>
          <a:lstStyle/>
          <a:p>
            <a:pPr>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21067183-79C7-FC14-1A68-56B4BE80520F}"/>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D3BBE8B4-0097-CB2B-5476-A7AE0E2F69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sv-SE"/>
          </a:p>
        </p:txBody>
      </p:sp>
      <p:sp>
        <p:nvSpPr>
          <p:cNvPr id="18436" name="Slide Number Placeholder 3">
            <a:extLst>
              <a:ext uri="{FF2B5EF4-FFF2-40B4-BE49-F238E27FC236}">
                <a16:creationId xmlns:a16="http://schemas.microsoft.com/office/drawing/2014/main" id="{2A935AE1-CDD8-3665-74C6-6B221F6CA8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anose="02020603050405020304" pitchFamily="18" charset="0"/>
                <a:cs typeface="Arial" panose="020B0604020202020204" pitchFamily="34" charset="0"/>
              </a:defRPr>
            </a:lvl1pPr>
            <a:lvl2pPr marL="749300" indent="-287338">
              <a:defRPr sz="2800">
                <a:solidFill>
                  <a:schemeClr val="tx1"/>
                </a:solidFill>
                <a:latin typeface="Times New Roman" panose="02020603050405020304" pitchFamily="18" charset="0"/>
                <a:cs typeface="Arial" panose="020B0604020202020204" pitchFamily="34" charset="0"/>
              </a:defRPr>
            </a:lvl2pPr>
            <a:lvl3pPr marL="1152525" indent="-230188">
              <a:defRPr sz="2800">
                <a:solidFill>
                  <a:schemeClr val="tx1"/>
                </a:solidFill>
                <a:latin typeface="Times New Roman" panose="02020603050405020304" pitchFamily="18" charset="0"/>
                <a:cs typeface="Arial" panose="020B0604020202020204" pitchFamily="34" charset="0"/>
              </a:defRPr>
            </a:lvl3pPr>
            <a:lvl4pPr marL="1614488" indent="-230188">
              <a:defRPr sz="2800">
                <a:solidFill>
                  <a:schemeClr val="tx1"/>
                </a:solidFill>
                <a:latin typeface="Times New Roman" panose="02020603050405020304" pitchFamily="18" charset="0"/>
                <a:cs typeface="Arial" panose="020B0604020202020204" pitchFamily="34" charset="0"/>
              </a:defRPr>
            </a:lvl4pPr>
            <a:lvl5pPr marL="2074863" indent="-230188">
              <a:defRPr sz="2800">
                <a:solidFill>
                  <a:schemeClr val="tx1"/>
                </a:solidFill>
                <a:latin typeface="Times New Roman" panose="02020603050405020304" pitchFamily="18" charset="0"/>
                <a:cs typeface="Arial" panose="020B0604020202020204" pitchFamily="34" charset="0"/>
              </a:defRPr>
            </a:lvl5pPr>
            <a:lvl6pPr marL="25320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6pPr>
            <a:lvl7pPr marL="29892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7pPr>
            <a:lvl8pPr marL="34464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8pPr>
            <a:lvl9pPr marL="3903663" indent="-230188" eaLnBrk="0" fontAlgn="base" hangingPunct="0">
              <a:spcBef>
                <a:spcPct val="0"/>
              </a:spcBef>
              <a:spcAft>
                <a:spcPct val="0"/>
              </a:spcAft>
              <a:defRPr sz="2800">
                <a:solidFill>
                  <a:schemeClr val="tx1"/>
                </a:solidFill>
                <a:latin typeface="Times New Roman" panose="02020603050405020304" pitchFamily="18" charset="0"/>
                <a:cs typeface="Arial" panose="020B0604020202020204" pitchFamily="34" charset="0"/>
              </a:defRPr>
            </a:lvl9pPr>
          </a:lstStyle>
          <a:p>
            <a:fld id="{A603D9CC-5486-43D6-B9AF-F0825BD08232}" type="slidenum">
              <a:rPr lang="en-US" altLang="sv-SE" sz="1200" smtClean="0"/>
              <a:pPr/>
              <a:t>11</a:t>
            </a:fld>
            <a:endParaRPr lang="en-US" altLang="sv-SE" sz="1200"/>
          </a:p>
        </p:txBody>
      </p:sp>
      <p:sp>
        <p:nvSpPr>
          <p:cNvPr id="43013" name="Header Placeholder 4">
            <a:extLst>
              <a:ext uri="{FF2B5EF4-FFF2-40B4-BE49-F238E27FC236}">
                <a16:creationId xmlns:a16="http://schemas.microsoft.com/office/drawing/2014/main" id="{92A50DB8-D6E9-2A7D-9031-41872134405E}"/>
              </a:ext>
            </a:extLst>
          </p:cNvPr>
          <p:cNvSpPr>
            <a:spLocks noGrp="1"/>
          </p:cNvSpPr>
          <p:nvPr>
            <p:ph type="hdr" sz="quarter"/>
          </p:nvPr>
        </p:nvSpPr>
        <p:spPr/>
        <p:txBody>
          <a:bodyPr/>
          <a:lstStyle/>
          <a:p>
            <a:pPr>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14</a:t>
            </a:fld>
            <a:endParaRPr lang="en-GB" sz="800"/>
          </a:p>
        </p:txBody>
      </p:sp>
    </p:spTree>
    <p:extLst>
      <p:ext uri="{BB962C8B-B14F-4D97-AF65-F5344CB8AC3E}">
        <p14:creationId xmlns:p14="http://schemas.microsoft.com/office/powerpoint/2010/main" val="2043944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a-DK" sz="1200" dirty="0">
              <a:solidFill>
                <a:srgbClr val="0070C0"/>
              </a:solidFill>
            </a:endParaRPr>
          </a:p>
        </p:txBody>
      </p:sp>
      <p:sp>
        <p:nvSpPr>
          <p:cNvPr id="4" name="Slide Number Placeholder 3"/>
          <p:cNvSpPr>
            <a:spLocks noGrp="1"/>
          </p:cNvSpPr>
          <p:nvPr>
            <p:ph type="sldNum" sz="quarter" idx="5"/>
          </p:nvPr>
        </p:nvSpPr>
        <p:spPr/>
        <p:txBody>
          <a:bodyPr/>
          <a:lstStyle/>
          <a:p>
            <a:fld id="{A16CFAD1-D197-4A88-B173-A6412E995EE5}" type="slidenum">
              <a:rPr lang="en-GB" smtClean="0"/>
              <a:pPr/>
              <a:t>16</a:t>
            </a:fld>
            <a:endParaRPr lang="en-GB" sz="800"/>
          </a:p>
        </p:txBody>
      </p:sp>
    </p:spTree>
    <p:extLst>
      <p:ext uri="{BB962C8B-B14F-4D97-AF65-F5344CB8AC3E}">
        <p14:creationId xmlns:p14="http://schemas.microsoft.com/office/powerpoint/2010/main" val="2984304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17</a:t>
            </a:fld>
            <a:endParaRPr lang="en-GB" sz="800"/>
          </a:p>
        </p:txBody>
      </p:sp>
    </p:spTree>
    <p:extLst>
      <p:ext uri="{BB962C8B-B14F-4D97-AF65-F5344CB8AC3E}">
        <p14:creationId xmlns:p14="http://schemas.microsoft.com/office/powerpoint/2010/main" val="2933167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sp>
      <p:sp>
        <p:nvSpPr>
          <p:cNvPr id="3" name="Notes Placeholder 2"/>
          <p:cNvSpPr>
            <a:spLocks noGrp="1"/>
          </p:cNvSpPr>
          <p:nvPr>
            <p:ph type="body" idx="1"/>
          </p:nvPr>
        </p:nvSpPr>
        <p:spPr/>
        <p:txBody>
          <a:bodyPr/>
          <a:lstStyle/>
          <a:p>
            <a:r>
              <a:rPr lang="en-US" sz="1200" noProof="0" dirty="0"/>
              <a:t> </a:t>
            </a:r>
            <a:endParaRPr lang="da-DK"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18</a:t>
            </a:fld>
            <a:endParaRPr lang="en-GB" sz="800"/>
          </a:p>
        </p:txBody>
      </p:sp>
    </p:spTree>
    <p:extLst>
      <p:ext uri="{BB962C8B-B14F-4D97-AF65-F5344CB8AC3E}">
        <p14:creationId xmlns:p14="http://schemas.microsoft.com/office/powerpoint/2010/main" val="243531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sz="quarter" idx="5"/>
          </p:nvPr>
        </p:nvSpPr>
        <p:spPr/>
        <p:txBody>
          <a:bodyPr/>
          <a:lstStyle/>
          <a:p>
            <a:fld id="{E59BDDC2-5BFA-453C-A225-5004D8F0E7E2}" type="slidenum">
              <a:rPr lang="da-DK" smtClean="0"/>
              <a:t>20</a:t>
            </a:fld>
            <a:endParaRPr lang="da-DK"/>
          </a:p>
        </p:txBody>
      </p:sp>
    </p:spTree>
    <p:extLst>
      <p:ext uri="{BB962C8B-B14F-4D97-AF65-F5344CB8AC3E}">
        <p14:creationId xmlns:p14="http://schemas.microsoft.com/office/powerpoint/2010/main" val="20624709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pic>
        <p:nvPicPr>
          <p:cNvPr id="7" name="Picture 1" descr="akkrediteringer-vandret.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8"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5"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6"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295793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pic>
        <p:nvPicPr>
          <p:cNvPr id="1027" name="Picture 3" descr="C:\Users\aw.it\Desktop\B.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5306093" y="0"/>
            <a:ext cx="3837908" cy="3402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4"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5"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6"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7"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11333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pic>
        <p:nvPicPr>
          <p:cNvPr id="2051" name="Picture 3" descr="C:\Users\aw.it\Desktop\CBS_NET_bold.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97960" y="0"/>
            <a:ext cx="4646040" cy="451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4"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5"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6"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7"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3145027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pic>
        <p:nvPicPr>
          <p:cNvPr id="10" name="Picture 9" descr="BM0128_CBS_Kilen-2731.jpg"/>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426572" y="0"/>
            <a:ext cx="7717428"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8"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9"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20"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21"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1636724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pic>
        <p:nvPicPr>
          <p:cNvPr id="2050" name="Picture 2" descr="C:\Users\aw.it\Desktop\Picture8.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1"/>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7"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8"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9"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20"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425692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pic>
        <p:nvPicPr>
          <p:cNvPr id="2" name="Picture 1" descr="BM0128_CBS_Kilen-2679.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1"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7"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8"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985057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A">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74E787AC-B9A2-8B31-A39F-E23F4C7F2073}"/>
              </a:ext>
            </a:extLst>
          </p:cNvPr>
          <p:cNvSpPr txBox="1"/>
          <p:nvPr userDrawn="1"/>
        </p:nvSpPr>
        <p:spPr>
          <a:xfrm>
            <a:off x="4964113" y="4698207"/>
            <a:ext cx="3784600" cy="187615"/>
          </a:xfrm>
          <a:prstGeom prst="rect">
            <a:avLst/>
          </a:prstGeom>
          <a:noFill/>
        </p:spPr>
        <p:txBody>
          <a:bodyPr>
            <a:spAutoFit/>
          </a:bodyPr>
          <a:lstStyle/>
          <a:p>
            <a:pPr algn="r">
              <a:defRPr/>
            </a:pPr>
            <a:fld id="{43C7A1DF-4FCF-4D58-B375-6C43727564E0}" type="slidenum">
              <a:rPr lang="en-US" sz="619" b="1">
                <a:solidFill>
                  <a:srgbClr val="4967AA"/>
                </a:solidFill>
                <a:latin typeface="Arial"/>
                <a:cs typeface="Arial"/>
              </a:rPr>
              <a:pPr algn="r">
                <a:defRPr/>
              </a:pPr>
              <a:t>‹#›</a:t>
            </a:fld>
            <a:endParaRPr lang="en-US" sz="619" b="1" dirty="0">
              <a:solidFill>
                <a:srgbClr val="4967AA"/>
              </a:solidFill>
              <a:latin typeface="Arial"/>
              <a:cs typeface="Arial"/>
            </a:endParaRPr>
          </a:p>
        </p:txBody>
      </p:sp>
      <p:pic>
        <p:nvPicPr>
          <p:cNvPr id="5" name="Picture 7" descr="C:\Users\aw.it\Desktop\logo.png">
            <a:extLst>
              <a:ext uri="{FF2B5EF4-FFF2-40B4-BE49-F238E27FC236}">
                <a16:creationId xmlns:a16="http://schemas.microsoft.com/office/drawing/2014/main" id="{F957881E-FCD4-615A-F8E8-98B9521F59EF}"/>
              </a:ext>
            </a:extLst>
          </p:cNvPr>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6337301" y="247650"/>
            <a:ext cx="2411413" cy="20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0"/>
          </p:nvPr>
        </p:nvSpPr>
        <p:spPr>
          <a:xfrm>
            <a:off x="395291" y="250032"/>
            <a:ext cx="5761037" cy="539354"/>
          </a:xfrm>
        </p:spPr>
        <p:txBody>
          <a:bodyPr>
            <a:normAutofit/>
          </a:bodyPr>
          <a:lstStyle>
            <a:lvl1pPr>
              <a:defRPr sz="1800" b="1">
                <a:solidFill>
                  <a:srgbClr val="4967AA"/>
                </a:solidFill>
              </a:defRPr>
            </a:lvl1pPr>
          </a:lstStyle>
          <a:p>
            <a:pPr lvl="0"/>
            <a:r>
              <a:rPr lang="en-US"/>
              <a:t>Click to edit Master text styles</a:t>
            </a:r>
          </a:p>
        </p:txBody>
      </p:sp>
      <p:sp>
        <p:nvSpPr>
          <p:cNvPr id="10" name="Content Placeholder 9"/>
          <p:cNvSpPr>
            <a:spLocks noGrp="1"/>
          </p:cNvSpPr>
          <p:nvPr>
            <p:ph sz="quarter" idx="11"/>
          </p:nvPr>
        </p:nvSpPr>
        <p:spPr>
          <a:xfrm>
            <a:off x="395289" y="843559"/>
            <a:ext cx="8353424" cy="3854648"/>
          </a:xfrm>
        </p:spPr>
        <p:txBody>
          <a:bodyPr>
            <a:normAutofit/>
          </a:bodyPr>
          <a:lstStyle>
            <a:lvl1pPr>
              <a:defRPr baseline="0"/>
            </a:lvl1pPr>
          </a:lstStyle>
          <a:p>
            <a:pPr lvl="0"/>
            <a:r>
              <a:rPr lang="en-US"/>
              <a:t>Click to edit Master text styles</a:t>
            </a:r>
          </a:p>
        </p:txBody>
      </p:sp>
    </p:spTree>
    <p:extLst>
      <p:ext uri="{BB962C8B-B14F-4D97-AF65-F5344CB8AC3E}">
        <p14:creationId xmlns:p14="http://schemas.microsoft.com/office/powerpoint/2010/main" val="193442093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A">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3B453C8B-FD61-3ECD-D1C6-E4EDFDB4BCC6}"/>
              </a:ext>
            </a:extLst>
          </p:cNvPr>
          <p:cNvSpPr txBox="1"/>
          <p:nvPr userDrawn="1"/>
        </p:nvSpPr>
        <p:spPr>
          <a:xfrm>
            <a:off x="4964113" y="4698207"/>
            <a:ext cx="3784600" cy="187615"/>
          </a:xfrm>
          <a:prstGeom prst="rect">
            <a:avLst/>
          </a:prstGeom>
          <a:noFill/>
        </p:spPr>
        <p:txBody>
          <a:bodyPr>
            <a:spAutoFit/>
          </a:bodyPr>
          <a:lstStyle/>
          <a:p>
            <a:pPr algn="r">
              <a:defRPr/>
            </a:pPr>
            <a:fld id="{618FDF75-8BEF-43E5-B64E-B55722CFE108}" type="slidenum">
              <a:rPr lang="en-US" sz="619" b="1">
                <a:solidFill>
                  <a:srgbClr val="4967AA"/>
                </a:solidFill>
                <a:latin typeface="Arial"/>
                <a:cs typeface="Arial"/>
              </a:rPr>
              <a:pPr algn="r">
                <a:defRPr/>
              </a:pPr>
              <a:t>‹#›</a:t>
            </a:fld>
            <a:endParaRPr lang="en-US" sz="619" b="1" dirty="0">
              <a:solidFill>
                <a:srgbClr val="4967AA"/>
              </a:solidFill>
              <a:latin typeface="Arial"/>
              <a:cs typeface="Arial"/>
            </a:endParaRPr>
          </a:p>
        </p:txBody>
      </p:sp>
      <p:pic>
        <p:nvPicPr>
          <p:cNvPr id="5" name="Picture 7" descr="C:\Users\aw.it\Desktop\logo.png">
            <a:extLst>
              <a:ext uri="{FF2B5EF4-FFF2-40B4-BE49-F238E27FC236}">
                <a16:creationId xmlns:a16="http://schemas.microsoft.com/office/drawing/2014/main" id="{E3D46BD4-113B-02D2-0940-EA52EED3A836}"/>
              </a:ext>
            </a:extLst>
          </p:cNvPr>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6337301" y="247650"/>
            <a:ext cx="2411413" cy="20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0"/>
          </p:nvPr>
        </p:nvSpPr>
        <p:spPr>
          <a:xfrm>
            <a:off x="395291" y="250032"/>
            <a:ext cx="5761037" cy="539354"/>
          </a:xfrm>
        </p:spPr>
        <p:txBody>
          <a:bodyPr>
            <a:normAutofit/>
          </a:bodyPr>
          <a:lstStyle>
            <a:lvl1pPr>
              <a:defRPr sz="1800" b="1">
                <a:solidFill>
                  <a:srgbClr val="4967AA"/>
                </a:solidFill>
              </a:defRPr>
            </a:lvl1pPr>
          </a:lstStyle>
          <a:p>
            <a:pPr lvl="0"/>
            <a:r>
              <a:rPr lang="en-US"/>
              <a:t>Click to edit Master text styles</a:t>
            </a:r>
          </a:p>
        </p:txBody>
      </p:sp>
      <p:sp>
        <p:nvSpPr>
          <p:cNvPr id="10" name="Content Placeholder 9"/>
          <p:cNvSpPr>
            <a:spLocks noGrp="1"/>
          </p:cNvSpPr>
          <p:nvPr>
            <p:ph sz="quarter" idx="11"/>
          </p:nvPr>
        </p:nvSpPr>
        <p:spPr>
          <a:xfrm>
            <a:off x="395289" y="843559"/>
            <a:ext cx="8353424" cy="3854648"/>
          </a:xfrm>
        </p:spPr>
        <p:txBody>
          <a:bodyPr>
            <a:normAutofit/>
          </a:bodyPr>
          <a:lstStyle>
            <a:lvl1pPr>
              <a:defRPr baseline="0"/>
            </a:lvl1pPr>
          </a:lstStyle>
          <a:p>
            <a:pPr lvl="0"/>
            <a:r>
              <a:rPr lang="en-US"/>
              <a:t>Click to edit Master text styles</a:t>
            </a:r>
          </a:p>
        </p:txBody>
      </p:sp>
    </p:spTree>
    <p:extLst>
      <p:ext uri="{BB962C8B-B14F-4D97-AF65-F5344CB8AC3E}">
        <p14:creationId xmlns:p14="http://schemas.microsoft.com/office/powerpoint/2010/main" val="35975078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da-DK"/>
              <a:t>Session 2</a:t>
            </a:r>
          </a:p>
        </p:txBody>
      </p:sp>
      <p:sp>
        <p:nvSpPr>
          <p:cNvPr id="5" name="Rectangle 5"/>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2580875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9DEE0D0-902F-36B0-6B0B-BB81B49E59B2}"/>
              </a:ext>
            </a:extLst>
          </p:cNvPr>
          <p:cNvSpPr>
            <a:spLocks noGrp="1" noChangeArrowheads="1"/>
          </p:cNvSpPr>
          <p:nvPr>
            <p:ph type="dt" sz="half" idx="10"/>
          </p:nvPr>
        </p:nvSpPr>
        <p:spPr>
          <a:ln/>
        </p:spPr>
        <p:txBody>
          <a:bodyPr/>
          <a:lstStyle>
            <a:lvl1pPr>
              <a:defRPr/>
            </a:lvl1pPr>
          </a:lstStyle>
          <a:p>
            <a:pPr>
              <a:defRPr/>
            </a:pPr>
            <a:r>
              <a:rPr lang="da-DK"/>
              <a:t>Session 6</a:t>
            </a:r>
          </a:p>
        </p:txBody>
      </p:sp>
      <p:sp>
        <p:nvSpPr>
          <p:cNvPr id="4" name="Rectangle 5">
            <a:extLst>
              <a:ext uri="{FF2B5EF4-FFF2-40B4-BE49-F238E27FC236}">
                <a16:creationId xmlns:a16="http://schemas.microsoft.com/office/drawing/2014/main" id="{DFDD529B-8DE7-3A5D-5C5C-92060D707209}"/>
              </a:ext>
            </a:extLst>
          </p:cNvPr>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175432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 1 column">
    <p:spTree>
      <p:nvGrpSpPr>
        <p:cNvPr id="1" name=""/>
        <p:cNvGrpSpPr/>
        <p:nvPr/>
      </p:nvGrpSpPr>
      <p:grpSpPr>
        <a:xfrm>
          <a:off x="0" y="0"/>
          <a:ext cx="0" cy="0"/>
          <a:chOff x="0" y="0"/>
          <a:chExt cx="0" cy="0"/>
        </a:xfrm>
      </p:grpSpPr>
      <p:sp>
        <p:nvSpPr>
          <p:cNvPr id="8" name="Pladsholder til sidefod 7" hidden="1">
            <a:extLst>
              <a:ext uri="{FF2B5EF4-FFF2-40B4-BE49-F238E27FC236}">
                <a16:creationId xmlns:a16="http://schemas.microsoft.com/office/drawing/2014/main" id="{C8E8E6C0-7540-4D99-B121-7FBF5282E20B}"/>
              </a:ext>
            </a:extLst>
          </p:cNvPr>
          <p:cNvSpPr>
            <a:spLocks noGrp="1"/>
          </p:cNvSpPr>
          <p:nvPr>
            <p:ph type="ftr" sz="quarter" idx="15"/>
          </p:nvPr>
        </p:nvSpPr>
        <p:spPr/>
        <p:txBody>
          <a:bodyPr/>
          <a:lstStyle/>
          <a:p>
            <a:endParaRPr lang="en-GB" dirty="0"/>
          </a:p>
        </p:txBody>
      </p:sp>
      <p:sp>
        <p:nvSpPr>
          <p:cNvPr id="7" name="Pladsholder til dato 6" hidden="1">
            <a:extLst>
              <a:ext uri="{FF2B5EF4-FFF2-40B4-BE49-F238E27FC236}">
                <a16:creationId xmlns:a16="http://schemas.microsoft.com/office/drawing/2014/main" id="{04E94059-5158-4331-ACE1-E8A6B8D7355A}"/>
              </a:ext>
            </a:extLst>
          </p:cNvPr>
          <p:cNvSpPr>
            <a:spLocks noGrp="1"/>
          </p:cNvSpPr>
          <p:nvPr>
            <p:ph type="dt" sz="half" idx="14"/>
          </p:nvPr>
        </p:nvSpPr>
        <p:spPr>
          <a:xfrm>
            <a:off x="5999560" y="4670651"/>
            <a:ext cx="1981640" cy="224100"/>
          </a:xfrm>
          <a:prstGeom prst="rect">
            <a:avLst/>
          </a:prstGeom>
        </p:spPr>
        <p:txBody>
          <a:bodyPr/>
          <a:lstStyle/>
          <a:p>
            <a:endParaRPr lang="en-GB" dirty="0"/>
          </a:p>
        </p:txBody>
      </p:sp>
      <p:sp>
        <p:nvSpPr>
          <p:cNvPr id="4" name="Title 3">
            <a:extLst>
              <a:ext uri="{FF2B5EF4-FFF2-40B4-BE49-F238E27FC236}">
                <a16:creationId xmlns:a16="http://schemas.microsoft.com/office/drawing/2014/main" id="{8DF62EB2-10FA-BD11-8EA4-BFC420D90A01}"/>
              </a:ext>
            </a:extLst>
          </p:cNvPr>
          <p:cNvSpPr>
            <a:spLocks noGrp="1"/>
          </p:cNvSpPr>
          <p:nvPr>
            <p:ph type="title" hasCustomPrompt="1"/>
          </p:nvPr>
        </p:nvSpPr>
        <p:spPr/>
        <p:txBody>
          <a:bodyPr/>
          <a:lstStyle/>
          <a:p>
            <a:r>
              <a:rPr lang="en-GB" noProof="0" dirty="0"/>
              <a:t>Title</a:t>
            </a:r>
            <a:endParaRPr lang="en-GB" dirty="0"/>
          </a:p>
        </p:txBody>
      </p:sp>
      <p:sp>
        <p:nvSpPr>
          <p:cNvPr id="10" name="Subtitle 2">
            <a:extLst>
              <a:ext uri="{FF2B5EF4-FFF2-40B4-BE49-F238E27FC236}">
                <a16:creationId xmlns:a16="http://schemas.microsoft.com/office/drawing/2014/main" id="{E2B56B7D-A38D-43CB-A025-D018AED785A1}"/>
              </a:ext>
            </a:extLst>
          </p:cNvPr>
          <p:cNvSpPr>
            <a:spLocks noGrp="1"/>
          </p:cNvSpPr>
          <p:nvPr>
            <p:ph type="subTitle" idx="13" hasCustomPrompt="1"/>
          </p:nvPr>
        </p:nvSpPr>
        <p:spPr>
          <a:xfrm>
            <a:off x="472500" y="788194"/>
            <a:ext cx="8199900" cy="307181"/>
          </a:xfrm>
          <a:prstGeom prst="rect">
            <a:avLst/>
          </a:prstGeom>
        </p:spPr>
        <p:txBody>
          <a:bodyPr/>
          <a:lstStyle>
            <a:lvl1pPr marL="0" indent="0" algn="l">
              <a:lnSpc>
                <a:spcPct val="100000"/>
              </a:lnSpc>
              <a:spcBef>
                <a:spcPts val="0"/>
              </a:spcBef>
              <a:spcAft>
                <a:spcPts val="0"/>
              </a:spcAft>
              <a:buFont typeface="Arial" panose="020B0604020202020204" pitchFamily="34" charset="0"/>
              <a:buChar char="​"/>
              <a:defRPr sz="1200" b="0">
                <a:solidFill>
                  <a:schemeClr val="accent1"/>
                </a:solidFill>
                <a:latin typeface="+mn-lt"/>
              </a:defRPr>
            </a:lvl1pPr>
            <a:lvl2pPr marL="0" indent="0" algn="l">
              <a:buFont typeface="Arial" panose="020B0604020202020204" pitchFamily="34" charset="0"/>
              <a:buChar char="​"/>
              <a:defRPr sz="1500" b="0">
                <a:solidFill>
                  <a:schemeClr val="bg2"/>
                </a:solidFill>
                <a:latin typeface="+mj-lt"/>
              </a:defRPr>
            </a:lvl2pPr>
            <a:lvl3pPr marL="0" indent="0" algn="l">
              <a:buFont typeface="Arial" panose="020B0604020202020204" pitchFamily="34" charset="0"/>
              <a:buChar char="​"/>
              <a:defRPr sz="1500" b="0">
                <a:solidFill>
                  <a:schemeClr val="bg2"/>
                </a:solidFill>
                <a:latin typeface="+mj-lt"/>
              </a:defRPr>
            </a:lvl3pPr>
            <a:lvl4pPr marL="0" indent="0" algn="l">
              <a:buFont typeface="Arial" panose="020B0604020202020204" pitchFamily="34" charset="0"/>
              <a:buChar char="​"/>
              <a:defRPr sz="1500" b="0">
                <a:solidFill>
                  <a:schemeClr val="bg2"/>
                </a:solidFill>
                <a:latin typeface="+mj-lt"/>
              </a:defRPr>
            </a:lvl4pPr>
            <a:lvl5pPr marL="0" indent="0" algn="l">
              <a:buFont typeface="Arial" panose="020B0604020202020204" pitchFamily="34" charset="0"/>
              <a:buChar char="​"/>
              <a:defRPr sz="1500" b="0">
                <a:solidFill>
                  <a:schemeClr val="bg2"/>
                </a:solidFill>
                <a:latin typeface="+mj-lt"/>
              </a:defRPr>
            </a:lvl5pPr>
            <a:lvl6pPr marL="0" indent="0" algn="l">
              <a:buFont typeface="Arial" panose="020B0604020202020204" pitchFamily="34" charset="0"/>
              <a:buChar char="​"/>
              <a:defRPr sz="1500" b="0">
                <a:solidFill>
                  <a:schemeClr val="bg2"/>
                </a:solidFill>
                <a:latin typeface="+mj-lt"/>
              </a:defRPr>
            </a:lvl6pPr>
            <a:lvl7pPr marL="0" indent="0" algn="l">
              <a:buFont typeface="Arial" panose="020B0604020202020204" pitchFamily="34" charset="0"/>
              <a:buChar char="​"/>
              <a:defRPr sz="1500" b="0">
                <a:solidFill>
                  <a:schemeClr val="bg2"/>
                </a:solidFill>
                <a:latin typeface="+mj-lt"/>
              </a:defRPr>
            </a:lvl7pPr>
            <a:lvl8pPr marL="0" indent="0" algn="l">
              <a:buFont typeface="Arial" panose="020B0604020202020204" pitchFamily="34" charset="0"/>
              <a:buChar char="​"/>
              <a:defRPr sz="1500" b="0">
                <a:solidFill>
                  <a:schemeClr val="bg2"/>
                </a:solidFill>
                <a:latin typeface="+mj-lt"/>
              </a:defRPr>
            </a:lvl8pPr>
            <a:lvl9pPr marL="0" indent="0" algn="l">
              <a:buFont typeface="Arial" panose="020B0604020202020204" pitchFamily="34" charset="0"/>
              <a:buChar char="​"/>
              <a:defRPr sz="1500" b="0">
                <a:solidFill>
                  <a:schemeClr val="bg2"/>
                </a:solidFill>
                <a:latin typeface="+mj-lt"/>
              </a:defRPr>
            </a:lvl9pPr>
          </a:lstStyle>
          <a:p>
            <a:r>
              <a:rPr lang="en-GB" dirty="0"/>
              <a:t>Optional subtitle</a:t>
            </a:r>
          </a:p>
        </p:txBody>
      </p:sp>
      <p:sp>
        <p:nvSpPr>
          <p:cNvPr id="3" name="Content Placeholder 3"/>
          <p:cNvSpPr>
            <a:spLocks noGrp="1"/>
          </p:cNvSpPr>
          <p:nvPr>
            <p:ph idx="1" hasCustomPrompt="1"/>
          </p:nvPr>
        </p:nvSpPr>
        <p:spPr>
          <a:xfrm>
            <a:off x="471488" y="1190701"/>
            <a:ext cx="8199835" cy="3163490"/>
          </a:xfrm>
          <a:prstGeom prst="rect">
            <a:avLst/>
          </a:prstGeom>
        </p:spPr>
        <p:txBody>
          <a:bodyPr>
            <a:noAutofit/>
          </a:bodyPr>
          <a:lstStyle>
            <a:lvl1pPr>
              <a:defRPr/>
            </a:lvl1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a:p>
            <a:pPr lvl="5"/>
            <a:r>
              <a:rPr lang="en-GB" noProof="0" dirty="0"/>
              <a:t>6</a:t>
            </a:r>
          </a:p>
          <a:p>
            <a:pPr lvl="6"/>
            <a:r>
              <a:rPr lang="en-GB" noProof="0" dirty="0"/>
              <a:t>7</a:t>
            </a:r>
          </a:p>
          <a:p>
            <a:pPr lvl="7"/>
            <a:r>
              <a:rPr lang="en-GB" noProof="0" dirty="0"/>
              <a:t>8</a:t>
            </a:r>
          </a:p>
          <a:p>
            <a:pPr lvl="8"/>
            <a:r>
              <a:rPr lang="en-GB" noProof="0" dirty="0"/>
              <a:t>9</a:t>
            </a:r>
          </a:p>
        </p:txBody>
      </p:sp>
      <p:sp>
        <p:nvSpPr>
          <p:cNvPr id="5" name="Slide Number Placeholder 4">
            <a:extLst>
              <a:ext uri="{FF2B5EF4-FFF2-40B4-BE49-F238E27FC236}">
                <a16:creationId xmlns:a16="http://schemas.microsoft.com/office/drawing/2014/main" id="{C7C40B88-0304-3730-682D-19C54BBE9F5D}"/>
              </a:ext>
            </a:extLst>
          </p:cNvPr>
          <p:cNvSpPr>
            <a:spLocks noGrp="1"/>
          </p:cNvSpPr>
          <p:nvPr>
            <p:ph type="sldNum" sz="quarter" idx="16"/>
          </p:nvPr>
        </p:nvSpPr>
        <p:spPr/>
        <p:txBody>
          <a:bodyPr/>
          <a:lstStyle/>
          <a:p>
            <a:fld id="{23AA811B-2EBD-4900-905E-5BE206449611}" type="slidenum">
              <a:rPr lang="en-GB" smtClean="0"/>
              <a:pPr/>
              <a:t>‹#›</a:t>
            </a:fld>
            <a:endParaRPr lang="en-GB" dirty="0"/>
          </a:p>
        </p:txBody>
      </p:sp>
    </p:spTree>
    <p:extLst>
      <p:ext uri="{BB962C8B-B14F-4D97-AF65-F5344CB8AC3E}">
        <p14:creationId xmlns:p14="http://schemas.microsoft.com/office/powerpoint/2010/main" val="492317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A">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dirty="0">
              <a:solidFill>
                <a:srgbClr val="4967AA"/>
              </a:solidFill>
              <a:latin typeface="Arial"/>
              <a:cs typeface="Arial"/>
            </a:endParaRPr>
          </a:p>
        </p:txBody>
      </p:sp>
      <p:pic>
        <p:nvPicPr>
          <p:cNvPr id="6"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7"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2427007963"/>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pic>
        <p:nvPicPr>
          <p:cNvPr id="6"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7"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652960329"/>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4804838"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206829884"/>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4804838"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2" name="Content Placeholder 2"/>
          <p:cNvSpPr>
            <a:spLocks noGrp="1"/>
          </p:cNvSpPr>
          <p:nvPr>
            <p:ph sz="quarter" idx="14" hasCustomPrompt="1"/>
          </p:nvPr>
        </p:nvSpPr>
        <p:spPr>
          <a:xfrm>
            <a:off x="4808013" y="28479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339637002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917575"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2" name="Content Placeholder 2"/>
          <p:cNvSpPr>
            <a:spLocks noGrp="1"/>
          </p:cNvSpPr>
          <p:nvPr>
            <p:ph sz="quarter" idx="14" hasCustomPrompt="1"/>
          </p:nvPr>
        </p:nvSpPr>
        <p:spPr>
          <a:xfrm>
            <a:off x="920750" y="28479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
        <p:nvSpPr>
          <p:cNvPr id="10" name="Content Placeholder 2"/>
          <p:cNvSpPr>
            <a:spLocks noGrp="1"/>
          </p:cNvSpPr>
          <p:nvPr>
            <p:ph sz="quarter" idx="12" hasCustomPrompt="1"/>
          </p:nvPr>
        </p:nvSpPr>
        <p:spPr>
          <a:xfrm>
            <a:off x="4808013"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Tree>
    <p:extLst>
      <p:ext uri="{BB962C8B-B14F-4D97-AF65-F5344CB8AC3E}">
        <p14:creationId xmlns:p14="http://schemas.microsoft.com/office/powerpoint/2010/main" val="59618412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sp>
        <p:nvSpPr>
          <p:cNvPr id="9" name="TextBox 8"/>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911071" y="1019175"/>
            <a:ext cx="7305675" cy="1552575"/>
          </a:xfrm>
          <a:prstGeom prst="rect">
            <a:avLst/>
          </a:prstGeom>
        </p:spPr>
        <p:txBody>
          <a:bodyPr/>
          <a:lstStyle>
            <a:lvl1pPr marL="0" indent="0">
              <a:buNone/>
              <a:defRPr baseline="0"/>
            </a:lvl1pPr>
          </a:lstStyle>
          <a:p>
            <a:pPr lvl="0"/>
            <a:r>
              <a:rPr lang="da-DK" dirty="0"/>
              <a:t>Click to </a:t>
            </a:r>
            <a:r>
              <a:rPr lang="da-DK" dirty="0" err="1"/>
              <a:t>add</a:t>
            </a:r>
            <a:r>
              <a:rPr lang="da-DK" dirty="0"/>
              <a:t> text – or click an icon to </a:t>
            </a:r>
            <a:r>
              <a:rPr lang="da-DK" dirty="0" err="1"/>
              <a:t>add</a:t>
            </a:r>
            <a:r>
              <a:rPr lang="da-DK" dirty="0"/>
              <a:t> </a:t>
            </a:r>
            <a:r>
              <a:rPr lang="da-DK" dirty="0" err="1"/>
              <a:t>content</a:t>
            </a:r>
            <a:endParaRPr lang="da-DK" dirty="0"/>
          </a:p>
        </p:txBody>
      </p:sp>
      <p:sp>
        <p:nvSpPr>
          <p:cNvPr id="8" name="Content Placeholder 2"/>
          <p:cNvSpPr>
            <a:spLocks noGrp="1"/>
          </p:cNvSpPr>
          <p:nvPr>
            <p:ph sz="quarter" idx="14" hasCustomPrompt="1"/>
          </p:nvPr>
        </p:nvSpPr>
        <p:spPr>
          <a:xfrm>
            <a:off x="914246" y="2847975"/>
            <a:ext cx="7305675"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11"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127050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sp>
        <p:nvSpPr>
          <p:cNvPr id="9" name="TextBox 8"/>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8" name="Content Placeholder 2"/>
          <p:cNvSpPr>
            <a:spLocks noGrp="1"/>
          </p:cNvSpPr>
          <p:nvPr>
            <p:ph sz="quarter" idx="14" hasCustomPrompt="1"/>
          </p:nvPr>
        </p:nvSpPr>
        <p:spPr>
          <a:xfrm>
            <a:off x="914246" y="2847975"/>
            <a:ext cx="7305675"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11"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
        <p:nvSpPr>
          <p:cNvPr id="10" name="Content Placeholder 2"/>
          <p:cNvSpPr>
            <a:spLocks noGrp="1"/>
          </p:cNvSpPr>
          <p:nvPr>
            <p:ph sz="quarter" idx="13" hasCustomPrompt="1"/>
          </p:nvPr>
        </p:nvSpPr>
        <p:spPr>
          <a:xfrm>
            <a:off x="917575"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3" name="Content Placeholder 2"/>
          <p:cNvSpPr>
            <a:spLocks noGrp="1"/>
          </p:cNvSpPr>
          <p:nvPr>
            <p:ph sz="quarter" idx="15" hasCustomPrompt="1"/>
          </p:nvPr>
        </p:nvSpPr>
        <p:spPr>
          <a:xfrm>
            <a:off x="4804838"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Tree>
    <p:extLst>
      <p:ext uri="{BB962C8B-B14F-4D97-AF65-F5344CB8AC3E}">
        <p14:creationId xmlns:p14="http://schemas.microsoft.com/office/powerpoint/2010/main" val="8466637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50BCB1C-9833-78B8-B816-C1C2FF40288D}"/>
              </a:ext>
            </a:extLst>
          </p:cNvPr>
          <p:cNvSpPr>
            <a:spLocks noGrp="1" noChangeArrowheads="1"/>
          </p:cNvSpPr>
          <p:nvPr>
            <p:ph type="dt" sz="half" idx="10"/>
          </p:nvPr>
        </p:nvSpPr>
        <p:spPr>
          <a:ln/>
        </p:spPr>
        <p:txBody>
          <a:bodyPr/>
          <a:lstStyle>
            <a:lvl1pPr>
              <a:defRPr/>
            </a:lvl1pPr>
          </a:lstStyle>
          <a:p>
            <a:pPr>
              <a:defRPr/>
            </a:pPr>
            <a:r>
              <a:rPr lang="da-DK"/>
              <a:t>Session 1</a:t>
            </a:r>
          </a:p>
        </p:txBody>
      </p:sp>
      <p:sp>
        <p:nvSpPr>
          <p:cNvPr id="5" name="Rectangle 5">
            <a:extLst>
              <a:ext uri="{FF2B5EF4-FFF2-40B4-BE49-F238E27FC236}">
                <a16:creationId xmlns:a16="http://schemas.microsoft.com/office/drawing/2014/main" id="{9BB881F3-F2ED-07EC-6764-5DC71869949D}"/>
              </a:ext>
            </a:extLst>
          </p:cNvPr>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28284151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544EFCB-0ECF-13B9-13C4-4E5DB12A7F84}"/>
              </a:ext>
            </a:extLst>
          </p:cNvPr>
          <p:cNvSpPr>
            <a:spLocks noGrp="1" noChangeArrowheads="1"/>
          </p:cNvSpPr>
          <p:nvPr>
            <p:ph type="dt" sz="half" idx="10"/>
          </p:nvPr>
        </p:nvSpPr>
        <p:spPr>
          <a:ln/>
        </p:spPr>
        <p:txBody>
          <a:bodyPr/>
          <a:lstStyle>
            <a:lvl1pPr>
              <a:defRPr/>
            </a:lvl1pPr>
          </a:lstStyle>
          <a:p>
            <a:pPr>
              <a:defRPr/>
            </a:pPr>
            <a:r>
              <a:rPr lang="da-DK"/>
              <a:t>Session 1</a:t>
            </a:r>
          </a:p>
        </p:txBody>
      </p:sp>
      <p:sp>
        <p:nvSpPr>
          <p:cNvPr id="4" name="Rectangle 5">
            <a:extLst>
              <a:ext uri="{FF2B5EF4-FFF2-40B4-BE49-F238E27FC236}">
                <a16:creationId xmlns:a16="http://schemas.microsoft.com/office/drawing/2014/main" id="{A917E289-C887-BC13-1585-3D89E4457005}"/>
              </a:ext>
            </a:extLst>
          </p:cNvPr>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27409257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pic>
        <p:nvPicPr>
          <p:cNvPr id="10" name="Picture 9" descr="BM0128_CBS_Kilen-2731.jpg"/>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426572" y="0"/>
            <a:ext cx="7717428"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3"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2891047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pic>
        <p:nvPicPr>
          <p:cNvPr id="2050" name="Picture 2" descr="C:\Users\aw.it\Desktop\Picture8.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1"/>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0"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36242747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pic>
        <p:nvPicPr>
          <p:cNvPr id="2" name="Picture 1" descr="BM0128_CBS_Kilen-2679.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0"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28910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pic>
        <p:nvPicPr>
          <p:cNvPr id="2" name="Picture 1" descr="BM0128_CBS_DalgasHave-2590.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3" name="TextBox 12"/>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2"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11520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pic>
        <p:nvPicPr>
          <p:cNvPr id="3" name="Picture 2" descr="BM0128_CBS_SolbjergPlads-2918.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2" name="TextBox 11"/>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3"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2785374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pic>
        <p:nvPicPr>
          <p:cNvPr id="1026" name="Picture 2" descr="C:\Users\aw.it\Desktop\Picture10.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0"/>
            <a:ext cx="9144000" cy="514349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2" name="TextBox 11"/>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3"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1350944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dsholder til tekst 2"/>
          <p:cNvSpPr>
            <a:spLocks noGrp="1"/>
          </p:cNvSpPr>
          <p:nvPr>
            <p:ph type="body" idx="1"/>
          </p:nvPr>
        </p:nvSpPr>
        <p:spPr>
          <a:xfrm>
            <a:off x="914400" y="304800"/>
            <a:ext cx="7313613" cy="4533900"/>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243233233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45" r:id="rId7"/>
    <p:sldLayoutId id="2147483746" r:id="rId8"/>
    <p:sldLayoutId id="2147483751" r:id="rId9"/>
    <p:sldLayoutId id="2147483754" r:id="rId10"/>
    <p:sldLayoutId id="2147483755" r:id="rId11"/>
    <p:sldLayoutId id="2147483756" r:id="rId12"/>
  </p:sldLayoutIdLst>
  <p:hf sldNum="0" hdr="0" ftr="0"/>
  <p:txStyles>
    <p:titleStyle>
      <a:lvl1pPr algn="ctr" defTabSz="914400" rtl="0" eaLnBrk="1" latinLnBrk="0" hangingPunct="1">
        <a:spcBef>
          <a:spcPct val="0"/>
        </a:spcBef>
        <a:buNone/>
        <a:defRPr sz="2800" kern="1200">
          <a:solidFill>
            <a:schemeClr val="tx1"/>
          </a:solidFill>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Pladsholder til tekst 2"/>
          <p:cNvSpPr>
            <a:spLocks noGrp="1"/>
          </p:cNvSpPr>
          <p:nvPr>
            <p:ph type="body" idx="1"/>
          </p:nvPr>
        </p:nvSpPr>
        <p:spPr>
          <a:xfrm>
            <a:off x="914400" y="304800"/>
            <a:ext cx="7313613" cy="4533899"/>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28718164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722" r:id="rId4"/>
    <p:sldLayoutId id="2147483688" r:id="rId5"/>
    <p:sldLayoutId id="2147483723" r:id="rId6"/>
    <p:sldLayoutId id="2147483748" r:id="rId7"/>
    <p:sldLayoutId id="2147483749"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Pladsholder til tekst 2"/>
          <p:cNvSpPr>
            <a:spLocks noGrp="1"/>
          </p:cNvSpPr>
          <p:nvPr>
            <p:ph type="body" idx="1"/>
          </p:nvPr>
        </p:nvSpPr>
        <p:spPr>
          <a:xfrm>
            <a:off x="914400" y="304800"/>
            <a:ext cx="7313613" cy="4533899"/>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1132716952"/>
      </p:ext>
    </p:extLst>
  </p:cSld>
  <p:clrMap bg1="lt1" tx1="dk1" bg2="lt2" tx2="dk2" accent1="accent1" accent2="accent2" accent3="accent3" accent4="accent4" accent5="accent5" accent6="accent6" hlink="hlink" folHlink="folHlink"/>
  <p:sldLayoutIdLst>
    <p:sldLayoutId id="2147483707" r:id="rId1"/>
    <p:sldLayoutId id="2147483690" r:id="rId2"/>
    <p:sldLayoutId id="2147483708" r:id="rId3"/>
    <p:sldLayoutId id="2147483731" r:id="rId4"/>
    <p:sldLayoutId id="2147483732" r:id="rId5"/>
    <p:sldLayoutId id="2147483733" r:id="rId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ic.digi@cbs.dk" TargetMode="Externa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1.xml"/><Relationship Id="rId5" Type="http://schemas.openxmlformats.org/officeDocument/2006/relationships/image" Target="../media/image16.jpeg"/><Relationship Id="rId4" Type="http://schemas.openxmlformats.org/officeDocument/2006/relationships/image" Target="../media/image1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C94BF2D-7D5E-59CF-F4FE-E99C0E597BF7}"/>
              </a:ext>
            </a:extLst>
          </p:cNvPr>
          <p:cNvSpPr>
            <a:spLocks noGrp="1"/>
          </p:cNvSpPr>
          <p:nvPr>
            <p:ph type="body" sz="quarter" idx="11"/>
          </p:nvPr>
        </p:nvSpPr>
        <p:spPr/>
        <p:txBody>
          <a:bodyPr/>
          <a:lstStyle/>
          <a:p>
            <a:r>
              <a:rPr lang="en-US"/>
              <a:t>Data, </a:t>
            </a:r>
            <a:r>
              <a:rPr lang="en-US" dirty="0"/>
              <a:t>Platforms and Digitalization</a:t>
            </a:r>
          </a:p>
          <a:p>
            <a:endParaRPr lang="en-US" dirty="0"/>
          </a:p>
          <a:p>
            <a:endParaRPr lang="en-US" dirty="0"/>
          </a:p>
        </p:txBody>
      </p:sp>
      <p:sp>
        <p:nvSpPr>
          <p:cNvPr id="9" name="Text Placeholder 8">
            <a:extLst>
              <a:ext uri="{FF2B5EF4-FFF2-40B4-BE49-F238E27FC236}">
                <a16:creationId xmlns:a16="http://schemas.microsoft.com/office/drawing/2014/main" id="{F49FE213-EC0C-8D0C-1004-CF6883E904B9}"/>
              </a:ext>
            </a:extLst>
          </p:cNvPr>
          <p:cNvSpPr>
            <a:spLocks noGrp="1"/>
          </p:cNvSpPr>
          <p:nvPr>
            <p:ph type="body" sz="quarter" idx="12"/>
          </p:nvPr>
        </p:nvSpPr>
        <p:spPr>
          <a:xfrm>
            <a:off x="1236663" y="2702628"/>
            <a:ext cx="7308850" cy="1464255"/>
          </a:xfrm>
        </p:spPr>
        <p:txBody>
          <a:bodyPr/>
          <a:lstStyle/>
          <a:p>
            <a:pPr eaLnBrk="1" hangingPunct="1"/>
            <a:r>
              <a:rPr lang="en-US" altLang="en-US" sz="1600" b="1" dirty="0"/>
              <a:t>Ioanna Constantiou, </a:t>
            </a:r>
            <a:r>
              <a:rPr lang="en-US" altLang="en-US" sz="1600" b="1" dirty="0">
                <a:solidFill>
                  <a:schemeClr val="accent2"/>
                </a:solidFill>
                <a:hlinkClick r:id="rId2"/>
              </a:rPr>
              <a:t>ic.digi@cbs.dk</a:t>
            </a:r>
            <a:endParaRPr lang="en-US" altLang="en-US" sz="1600" b="1" dirty="0">
              <a:solidFill>
                <a:schemeClr val="accent2"/>
              </a:solidFill>
            </a:endParaRPr>
          </a:p>
          <a:p>
            <a:pPr eaLnBrk="1" hangingPunct="1"/>
            <a:r>
              <a:rPr lang="en-US" altLang="en-US" sz="1600" b="1" dirty="0"/>
              <a:t>Department of Digitalization</a:t>
            </a:r>
          </a:p>
          <a:p>
            <a:endParaRPr lang="da-DK"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2" descr="Image result for artificial intelligence in surgery">
            <a:extLst>
              <a:ext uri="{FF2B5EF4-FFF2-40B4-BE49-F238E27FC236}">
                <a16:creationId xmlns:a16="http://schemas.microsoft.com/office/drawing/2014/main" id="{71071B58-3B3E-AB28-75BE-F097D8A795DE}"/>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737122" y="1275160"/>
            <a:ext cx="27336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6" descr="Image result for artificial intelligence in banking">
            <a:extLst>
              <a:ext uri="{FF2B5EF4-FFF2-40B4-BE49-F238E27FC236}">
                <a16:creationId xmlns:a16="http://schemas.microsoft.com/office/drawing/2014/main" id="{DBCC6B17-E03D-660D-A10F-CE21CF9BCD5E}"/>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4637485" y="2658666"/>
            <a:ext cx="2827734" cy="153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6" name="Picture 8" descr="Image result for artificial intelligence in policing">
            <a:extLst>
              <a:ext uri="{FF2B5EF4-FFF2-40B4-BE49-F238E27FC236}">
                <a16:creationId xmlns:a16="http://schemas.microsoft.com/office/drawing/2014/main" id="{32AA9926-7438-DBF2-473C-CE4BE23179F7}"/>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1737122" y="2667002"/>
            <a:ext cx="2733675" cy="152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7" name="Picture 14" descr="Artificial intelligence in transportation ">
            <a:extLst>
              <a:ext uri="{FF2B5EF4-FFF2-40B4-BE49-F238E27FC236}">
                <a16:creationId xmlns:a16="http://schemas.microsoft.com/office/drawing/2014/main" id="{5489A738-9CFE-D67B-5692-04275FE8CE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485" y="1251347"/>
            <a:ext cx="2822972"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AE39EB4-9500-A5FC-11DE-EBE98FB41C64}"/>
              </a:ext>
            </a:extLst>
          </p:cNvPr>
          <p:cNvSpPr>
            <a:spLocks noGrp="1"/>
          </p:cNvSpPr>
          <p:nvPr>
            <p:ph sz="quarter" idx="12"/>
          </p:nvPr>
        </p:nvSpPr>
        <p:spPr/>
        <p:txBody>
          <a:bodyPr>
            <a:normAutofit/>
          </a:bodyPr>
          <a:lstStyle/>
          <a:p>
            <a:pPr marL="457200" indent="-457200">
              <a:buFont typeface="Arial" panose="020B0604020202020204" pitchFamily="34" charset="0"/>
              <a:buChar char="•"/>
            </a:pPr>
            <a:r>
              <a:rPr lang="en-US" sz="2800" i="1" dirty="0"/>
              <a:t>Consider the case of Amazon as described on the book, can you identify any dynamic capabilities?</a:t>
            </a:r>
            <a:endParaRPr lang="da-DK" sz="2800" i="1" dirty="0"/>
          </a:p>
          <a:p>
            <a:pPr marL="457200" indent="-457200">
              <a:buFont typeface="Arial" panose="020B0604020202020204" pitchFamily="34" charset="0"/>
              <a:buChar char="•"/>
            </a:pPr>
            <a:endParaRPr lang="da-DK" sz="2800" i="1" dirty="0"/>
          </a:p>
        </p:txBody>
      </p:sp>
      <p:sp>
        <p:nvSpPr>
          <p:cNvPr id="5" name="Text Placeholder 4">
            <a:extLst>
              <a:ext uri="{FF2B5EF4-FFF2-40B4-BE49-F238E27FC236}">
                <a16:creationId xmlns:a16="http://schemas.microsoft.com/office/drawing/2014/main" id="{1753DA5F-6C9B-3DAF-CDA7-AECBDD81BF1D}"/>
              </a:ext>
            </a:extLst>
          </p:cNvPr>
          <p:cNvSpPr>
            <a:spLocks noGrp="1"/>
          </p:cNvSpPr>
          <p:nvPr>
            <p:ph type="body" sz="quarter" idx="10"/>
          </p:nvPr>
        </p:nvSpPr>
        <p:spPr/>
        <p:txBody>
          <a:bodyPr/>
          <a:lstStyle/>
          <a:p>
            <a:r>
              <a:rPr lang="en-US" dirty="0"/>
              <a:t>Conversation starter</a:t>
            </a:r>
            <a:endParaRPr lang="da-DK" dirty="0"/>
          </a:p>
        </p:txBody>
      </p:sp>
    </p:spTree>
    <p:extLst>
      <p:ext uri="{BB962C8B-B14F-4D97-AF65-F5344CB8AC3E}">
        <p14:creationId xmlns:p14="http://schemas.microsoft.com/office/powerpoint/2010/main" val="1544359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pPr marL="457200" indent="-457200">
              <a:buFont typeface="Arial" panose="020B0604020202020204" pitchFamily="34" charset="0"/>
              <a:buChar char="•"/>
            </a:pPr>
            <a:r>
              <a:rPr lang="en-US" sz="2800" b="1" dirty="0"/>
              <a:t>How does digitalization influence dynamic capabilities?</a:t>
            </a:r>
          </a:p>
          <a:p>
            <a:pPr marL="457200" indent="-457200">
              <a:buFont typeface="Arial" panose="020B0604020202020204" pitchFamily="34" charset="0"/>
              <a:buChar char="•"/>
            </a:pPr>
            <a:r>
              <a:rPr lang="en-US" sz="2800" dirty="0"/>
              <a:t>How is digital transformation challenge the firm’s key resources?</a:t>
            </a:r>
          </a:p>
        </p:txBody>
      </p:sp>
      <p:sp>
        <p:nvSpPr>
          <p:cNvPr id="3" name="Text Placeholder 2"/>
          <p:cNvSpPr>
            <a:spLocks noGrp="1"/>
          </p:cNvSpPr>
          <p:nvPr>
            <p:ph type="body" sz="quarter" idx="10"/>
          </p:nvPr>
        </p:nvSpPr>
        <p:spPr/>
        <p:txBody>
          <a:bodyPr/>
          <a:lstStyle/>
          <a:p>
            <a:r>
              <a:rPr lang="en-AU"/>
              <a:t>Questions related to learning objectives</a:t>
            </a:r>
            <a:endParaRPr lang="en-AU" dirty="0"/>
          </a:p>
        </p:txBody>
      </p:sp>
    </p:spTree>
    <p:extLst>
      <p:ext uri="{BB962C8B-B14F-4D97-AF65-F5344CB8AC3E}">
        <p14:creationId xmlns:p14="http://schemas.microsoft.com/office/powerpoint/2010/main" val="56364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63DF1-30E0-F8C8-D118-40C7CE1038F2}"/>
              </a:ext>
            </a:extLst>
          </p:cNvPr>
          <p:cNvSpPr>
            <a:spLocks noGrp="1" noChangeArrowheads="1"/>
          </p:cNvSpPr>
          <p:nvPr>
            <p:ph sz="quarter" idx="12"/>
          </p:nvPr>
        </p:nvSpPr>
        <p:spPr/>
        <p:txBody>
          <a:bodyPr/>
          <a:lstStyle/>
          <a:p>
            <a:r>
              <a:rPr lang="en-US" altLang="en-US" sz="1800" dirty="0"/>
              <a:t>In environments of rapid technological change firms remain competitive by</a:t>
            </a:r>
          </a:p>
          <a:p>
            <a:pPr lvl="1">
              <a:buFont typeface="Arial" panose="020B0604020202020204" pitchFamily="34" charset="0"/>
              <a:buChar char="•"/>
            </a:pPr>
            <a:r>
              <a:rPr lang="en-US" altLang="en-US" sz="1650" dirty="0"/>
              <a:t>Identifying new opportunities and organizing effectively and efficiently to embrace them</a:t>
            </a:r>
          </a:p>
          <a:p>
            <a:pPr lvl="1">
              <a:buFont typeface="Arial" panose="020B0604020202020204" pitchFamily="34" charset="0"/>
              <a:buChar char="•"/>
            </a:pPr>
            <a:r>
              <a:rPr lang="en-US" altLang="en-US" sz="1650" dirty="0"/>
              <a:t>Exploiting firm specific competences to address changing environments</a:t>
            </a:r>
          </a:p>
          <a:p>
            <a:pPr>
              <a:buFontTx/>
              <a:buChar char="•"/>
            </a:pPr>
            <a:endParaRPr lang="en-US" altLang="en-US" sz="1800" dirty="0"/>
          </a:p>
          <a:p>
            <a:r>
              <a:rPr lang="en-US" altLang="en-US" sz="1800" dirty="0"/>
              <a:t>Winners have been firms that can demonstrate:</a:t>
            </a:r>
          </a:p>
          <a:p>
            <a:pPr lvl="1">
              <a:buFontTx/>
              <a:buChar char="•"/>
            </a:pPr>
            <a:r>
              <a:rPr lang="en-US" altLang="en-US" sz="1500" dirty="0"/>
              <a:t>timely responsiveness</a:t>
            </a:r>
          </a:p>
          <a:p>
            <a:pPr lvl="1">
              <a:buFontTx/>
              <a:buChar char="•"/>
            </a:pPr>
            <a:r>
              <a:rPr lang="en-US" altLang="en-US" sz="1500" dirty="0"/>
              <a:t>rapid and flexible product innovation</a:t>
            </a:r>
          </a:p>
          <a:p>
            <a:pPr lvl="1">
              <a:buFontTx/>
              <a:buChar char="•"/>
            </a:pPr>
            <a:r>
              <a:rPr lang="en-US" altLang="en-US" sz="1500" dirty="0"/>
              <a:t>management capability to effectively coordinate and redeploy internal and external competences</a:t>
            </a:r>
          </a:p>
          <a:p>
            <a:pPr lvl="1">
              <a:buFont typeface="Arial" panose="020B0604020202020204" pitchFamily="34" charset="0"/>
              <a:buChar char="•"/>
            </a:pPr>
            <a:endParaRPr lang="en-US" altLang="en-US" sz="1650" dirty="0"/>
          </a:p>
        </p:txBody>
      </p:sp>
      <p:sp>
        <p:nvSpPr>
          <p:cNvPr id="2" name="Text Placeholder 1">
            <a:extLst>
              <a:ext uri="{FF2B5EF4-FFF2-40B4-BE49-F238E27FC236}">
                <a16:creationId xmlns:a16="http://schemas.microsoft.com/office/drawing/2014/main" id="{BE81B16C-C4F4-CDCC-0805-B264284AF292}"/>
              </a:ext>
            </a:extLst>
          </p:cNvPr>
          <p:cNvSpPr>
            <a:spLocks noGrp="1"/>
          </p:cNvSpPr>
          <p:nvPr>
            <p:ph type="body" sz="quarter" idx="10"/>
          </p:nvPr>
        </p:nvSpPr>
        <p:spPr/>
        <p:txBody>
          <a:bodyPr>
            <a:normAutofit fontScale="92500" lnSpcReduction="20000"/>
          </a:bodyPr>
          <a:lstStyle/>
          <a:p>
            <a:r>
              <a:rPr lang="en-US" dirty="0"/>
              <a:t>How do firms sustain competitive advantages? </a:t>
            </a:r>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20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20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20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9CC7A-F36F-0BF4-A46A-08F68BF43F17}"/>
              </a:ext>
            </a:extLst>
          </p:cNvPr>
          <p:cNvSpPr>
            <a:spLocks noGrp="1" noChangeArrowheads="1"/>
          </p:cNvSpPr>
          <p:nvPr>
            <p:ph sz="quarter" idx="12"/>
          </p:nvPr>
        </p:nvSpPr>
        <p:spPr/>
        <p:txBody>
          <a:bodyPr/>
          <a:lstStyle/>
          <a:p>
            <a:r>
              <a:rPr lang="en-US" altLang="en-US" dirty="0"/>
              <a:t>The ability to achieve new forms of competitive advantage</a:t>
            </a:r>
          </a:p>
          <a:p>
            <a:pPr lvl="1">
              <a:buFont typeface="Arial" panose="020B0604020202020204" pitchFamily="34" charset="0"/>
              <a:buChar char="•"/>
            </a:pPr>
            <a:r>
              <a:rPr lang="en-US" altLang="en-US" sz="1800" dirty="0"/>
              <a:t>Dynamic: the capacity to renew competence so as to compete in the changing business environment</a:t>
            </a:r>
          </a:p>
          <a:p>
            <a:pPr lvl="1">
              <a:buFont typeface="Arial" panose="020B0604020202020204" pitchFamily="34" charset="0"/>
              <a:buChar char="•"/>
            </a:pPr>
            <a:r>
              <a:rPr lang="en-US" altLang="en-US" sz="1800" dirty="0"/>
              <a:t>Capabilities: the role of strategic management in adapting, integrating and reconfiguring skills, resources and competences to match the changing environment</a:t>
            </a:r>
          </a:p>
          <a:p>
            <a:r>
              <a:rPr lang="en-US" altLang="en-US" dirty="0">
                <a:solidFill>
                  <a:srgbClr val="0070C0"/>
                </a:solidFill>
              </a:rPr>
              <a:t>Firm’s ability to integrate, build, and reconfigure internal and external competences to address rapidly changing environments</a:t>
            </a:r>
          </a:p>
        </p:txBody>
      </p:sp>
      <p:sp>
        <p:nvSpPr>
          <p:cNvPr id="7" name="Text Placeholder 6">
            <a:extLst>
              <a:ext uri="{FF2B5EF4-FFF2-40B4-BE49-F238E27FC236}">
                <a16:creationId xmlns:a16="http://schemas.microsoft.com/office/drawing/2014/main" id="{6BBA83A9-331E-56F9-2D61-3EB58AD739A8}"/>
              </a:ext>
            </a:extLst>
          </p:cNvPr>
          <p:cNvSpPr>
            <a:spLocks noGrp="1"/>
          </p:cNvSpPr>
          <p:nvPr>
            <p:ph type="body" sz="quarter" idx="10"/>
          </p:nvPr>
        </p:nvSpPr>
        <p:spPr/>
        <p:txBody>
          <a:bodyPr/>
          <a:lstStyle/>
          <a:p>
            <a:r>
              <a:rPr lang="da-DK" dirty="0"/>
              <a:t>Dynamic </a:t>
            </a:r>
            <a:r>
              <a:rPr lang="en-US" dirty="0"/>
              <a:t>capabilities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D0096B-CB42-46FD-CDD1-A17ED744675A}"/>
              </a:ext>
            </a:extLst>
          </p:cNvPr>
          <p:cNvSpPr>
            <a:spLocks noGrp="1"/>
          </p:cNvSpPr>
          <p:nvPr>
            <p:ph type="body" sz="quarter" idx="10"/>
          </p:nvPr>
        </p:nvSpPr>
        <p:spPr/>
        <p:txBody>
          <a:bodyPr/>
          <a:lstStyle/>
          <a:p>
            <a:r>
              <a:rPr lang="en-US" dirty="0"/>
              <a:t>The evolution of strategic thinking</a:t>
            </a:r>
            <a:endParaRPr lang="da-DK" dirty="0"/>
          </a:p>
        </p:txBody>
      </p:sp>
      <p:sp>
        <p:nvSpPr>
          <p:cNvPr id="11268" name="object 3">
            <a:extLst>
              <a:ext uri="{FF2B5EF4-FFF2-40B4-BE49-F238E27FC236}">
                <a16:creationId xmlns:a16="http://schemas.microsoft.com/office/drawing/2014/main" id="{16444BF1-0454-A5A2-5B58-E944B0407212}"/>
              </a:ext>
            </a:extLst>
          </p:cNvPr>
          <p:cNvSpPr>
            <a:spLocks/>
          </p:cNvSpPr>
          <p:nvPr/>
        </p:nvSpPr>
        <p:spPr bwMode="auto">
          <a:xfrm>
            <a:off x="2286000" y="1057275"/>
            <a:ext cx="5359004" cy="3038475"/>
          </a:xfrm>
          <a:custGeom>
            <a:avLst/>
            <a:gdLst>
              <a:gd name="T0" fmla="*/ 6067037 w 7145020"/>
              <a:gd name="T1" fmla="*/ 508000 h 4051300"/>
              <a:gd name="T2" fmla="*/ 4656437 w 7145020"/>
              <a:gd name="T3" fmla="*/ 812800 h 4051300"/>
              <a:gd name="T4" fmla="*/ 4372815 w 7145020"/>
              <a:gd name="T5" fmla="*/ 901700 h 4051300"/>
              <a:gd name="T6" fmla="*/ 4043307 w 7145020"/>
              <a:gd name="T7" fmla="*/ 990600 h 4051300"/>
              <a:gd name="T8" fmla="*/ 3830208 w 7145020"/>
              <a:gd name="T9" fmla="*/ 1066800 h 4051300"/>
              <a:gd name="T10" fmla="*/ 3622382 w 7145020"/>
              <a:gd name="T11" fmla="*/ 1130300 h 4051300"/>
              <a:gd name="T12" fmla="*/ 3469960 w 7145020"/>
              <a:gd name="T13" fmla="*/ 1193800 h 4051300"/>
              <a:gd name="T14" fmla="*/ 3320509 w 7145020"/>
              <a:gd name="T15" fmla="*/ 1244600 h 4051300"/>
              <a:gd name="T16" fmla="*/ 3174004 w 7145020"/>
              <a:gd name="T17" fmla="*/ 1308100 h 4051300"/>
              <a:gd name="T18" fmla="*/ 2983282 w 7145020"/>
              <a:gd name="T19" fmla="*/ 1384300 h 4051300"/>
              <a:gd name="T20" fmla="*/ 2797808 w 7145020"/>
              <a:gd name="T21" fmla="*/ 1473200 h 4051300"/>
              <a:gd name="T22" fmla="*/ 2617601 w 7145020"/>
              <a:gd name="T23" fmla="*/ 1549400 h 4051300"/>
              <a:gd name="T24" fmla="*/ 2314911 w 7145020"/>
              <a:gd name="T25" fmla="*/ 1714500 h 4051300"/>
              <a:gd name="T26" fmla="*/ 2028326 w 7145020"/>
              <a:gd name="T27" fmla="*/ 1879600 h 4051300"/>
              <a:gd name="T28" fmla="*/ 1795516 w 7145020"/>
              <a:gd name="T29" fmla="*/ 2019300 h 4051300"/>
              <a:gd name="T30" fmla="*/ 1468486 w 7145020"/>
              <a:gd name="T31" fmla="*/ 2247900 h 4051300"/>
              <a:gd name="T32" fmla="*/ 1331693 w 7145020"/>
              <a:gd name="T33" fmla="*/ 2362200 h 4051300"/>
              <a:gd name="T34" fmla="*/ 1168105 w 7145020"/>
              <a:gd name="T35" fmla="*/ 2501900 h 4051300"/>
              <a:gd name="T36" fmla="*/ 1012734 w 7145020"/>
              <a:gd name="T37" fmla="*/ 2641600 h 4051300"/>
              <a:gd name="T38" fmla="*/ 894360 w 7145020"/>
              <a:gd name="T39" fmla="*/ 2755900 h 4051300"/>
              <a:gd name="T40" fmla="*/ 809029 w 7145020"/>
              <a:gd name="T41" fmla="*/ 2844800 h 4051300"/>
              <a:gd name="T42" fmla="*/ 726655 w 7145020"/>
              <a:gd name="T43" fmla="*/ 2933700 h 4051300"/>
              <a:gd name="T44" fmla="*/ 647252 w 7145020"/>
              <a:gd name="T45" fmla="*/ 3022600 h 4051300"/>
              <a:gd name="T46" fmla="*/ 570795 w 7145020"/>
              <a:gd name="T47" fmla="*/ 3111500 h 4051300"/>
              <a:gd name="T48" fmla="*/ 497308 w 7145020"/>
              <a:gd name="T49" fmla="*/ 3213100 h 4051300"/>
              <a:gd name="T50" fmla="*/ 426780 w 7145020"/>
              <a:gd name="T51" fmla="*/ 3302000 h 4051300"/>
              <a:gd name="T52" fmla="*/ 359210 w 7145020"/>
              <a:gd name="T53" fmla="*/ 3403600 h 4051300"/>
              <a:gd name="T54" fmla="*/ 294598 w 7145020"/>
              <a:gd name="T55" fmla="*/ 3505200 h 4051300"/>
              <a:gd name="T56" fmla="*/ 232944 w 7145020"/>
              <a:gd name="T57" fmla="*/ 3606800 h 4051300"/>
              <a:gd name="T58" fmla="*/ 174261 w 7145020"/>
              <a:gd name="T59" fmla="*/ 3708400 h 4051300"/>
              <a:gd name="T60" fmla="*/ 118524 w 7145020"/>
              <a:gd name="T61" fmla="*/ 3810000 h 4051300"/>
              <a:gd name="T62" fmla="*/ 65758 w 7145020"/>
              <a:gd name="T63" fmla="*/ 3911600 h 4051300"/>
              <a:gd name="T64" fmla="*/ 15949 w 7145020"/>
              <a:gd name="T65" fmla="*/ 4025900 h 4051300"/>
              <a:gd name="T66" fmla="*/ 51603 w 7145020"/>
              <a:gd name="T67" fmla="*/ 4000500 h 4051300"/>
              <a:gd name="T68" fmla="*/ 131065 w 7145020"/>
              <a:gd name="T69" fmla="*/ 3898900 h 4051300"/>
              <a:gd name="T70" fmla="*/ 240825 w 7145020"/>
              <a:gd name="T71" fmla="*/ 3784600 h 4051300"/>
              <a:gd name="T72" fmla="*/ 354946 w 7145020"/>
              <a:gd name="T73" fmla="*/ 3670300 h 4051300"/>
              <a:gd name="T74" fmla="*/ 473427 w 7145020"/>
              <a:gd name="T75" fmla="*/ 3556000 h 4051300"/>
              <a:gd name="T76" fmla="*/ 627671 w 7145020"/>
              <a:gd name="T77" fmla="*/ 3416300 h 4051300"/>
              <a:gd name="T78" fmla="*/ 788728 w 7145020"/>
              <a:gd name="T79" fmla="*/ 3276600 h 4051300"/>
              <a:gd name="T80" fmla="*/ 1095819 w 7145020"/>
              <a:gd name="T81" fmla="*/ 3048000 h 4051300"/>
              <a:gd name="T82" fmla="*/ 1275967 w 7145020"/>
              <a:gd name="T83" fmla="*/ 2933700 h 4051300"/>
              <a:gd name="T84" fmla="*/ 1501144 w 7145020"/>
              <a:gd name="T85" fmla="*/ 2794000 h 4051300"/>
              <a:gd name="T86" fmla="*/ 1736132 w 7145020"/>
              <a:gd name="T87" fmla="*/ 2654300 h 4051300"/>
              <a:gd name="T88" fmla="*/ 1898246 w 7145020"/>
              <a:gd name="T89" fmla="*/ 2578100 h 4051300"/>
              <a:gd name="T90" fmla="*/ 2064734 w 7145020"/>
              <a:gd name="T91" fmla="*/ 2489200 h 4051300"/>
              <a:gd name="T92" fmla="*/ 2192462 w 7145020"/>
              <a:gd name="T93" fmla="*/ 2438400 h 4051300"/>
              <a:gd name="T94" fmla="*/ 2322629 w 7145020"/>
              <a:gd name="T95" fmla="*/ 2374900 h 4051300"/>
              <a:gd name="T96" fmla="*/ 2455263 w 7145020"/>
              <a:gd name="T97" fmla="*/ 2324100 h 4051300"/>
              <a:gd name="T98" fmla="*/ 2635923 w 7145020"/>
              <a:gd name="T99" fmla="*/ 2247900 h 4051300"/>
              <a:gd name="T100" fmla="*/ 2867894 w 7145020"/>
              <a:gd name="T101" fmla="*/ 2171700 h 4051300"/>
              <a:gd name="T102" fmla="*/ 3106666 w 7145020"/>
              <a:gd name="T103" fmla="*/ 2082800 h 4051300"/>
              <a:gd name="T104" fmla="*/ 4183994 w 7145020"/>
              <a:gd name="T105" fmla="*/ 1803400 h 4051300"/>
              <a:gd name="T106" fmla="*/ 4626043 w 7145020"/>
              <a:gd name="T107" fmla="*/ 1714500 h 4051300"/>
              <a:gd name="T108" fmla="*/ 4911184 w 7145020"/>
              <a:gd name="T109" fmla="*/ 1676400 h 4051300"/>
              <a:gd name="T110" fmla="*/ 5203143 w 7145020"/>
              <a:gd name="T111" fmla="*/ 1625600 h 4051300"/>
              <a:gd name="T112" fmla="*/ 5441618 w 7145020"/>
              <a:gd name="T113" fmla="*/ 1600200 h 4051300"/>
              <a:gd name="T114" fmla="*/ 5623338 w 7145020"/>
              <a:gd name="T115" fmla="*/ 1574800 h 4051300"/>
              <a:gd name="T116" fmla="*/ 5807512 w 7145020"/>
              <a:gd name="T117" fmla="*/ 1562100 h 4051300"/>
              <a:gd name="T118" fmla="*/ 5994151 w 7145020"/>
              <a:gd name="T119" fmla="*/ 1536700 h 4051300"/>
              <a:gd name="T120" fmla="*/ 6656002 w 7145020"/>
              <a:gd name="T121" fmla="*/ 1524000 h 4051300"/>
              <a:gd name="T122" fmla="*/ 6656002 w 7145020"/>
              <a:gd name="T123" fmla="*/ 1524000 h 4051300"/>
              <a:gd name="T124" fmla="*/ 6656002 w 7145020"/>
              <a:gd name="T125" fmla="*/ 1524000 h 4051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145020" h="4051300">
                <a:moveTo>
                  <a:pt x="6071489" y="0"/>
                </a:moveTo>
                <a:lnTo>
                  <a:pt x="6128766" y="508000"/>
                </a:lnTo>
                <a:lnTo>
                  <a:pt x="6063527" y="508000"/>
                </a:lnTo>
                <a:lnTo>
                  <a:pt x="5064404" y="711200"/>
                </a:lnTo>
                <a:lnTo>
                  <a:pt x="5004752" y="736600"/>
                </a:lnTo>
                <a:lnTo>
                  <a:pt x="4653746" y="812800"/>
                </a:lnTo>
                <a:lnTo>
                  <a:pt x="4596396" y="838200"/>
                </a:lnTo>
                <a:lnTo>
                  <a:pt x="4426316" y="876300"/>
                </a:lnTo>
                <a:lnTo>
                  <a:pt x="4370280" y="901700"/>
                </a:lnTo>
                <a:lnTo>
                  <a:pt x="4204144" y="939800"/>
                </a:lnTo>
                <a:lnTo>
                  <a:pt x="4149423" y="965200"/>
                </a:lnTo>
                <a:lnTo>
                  <a:pt x="4040967" y="990600"/>
                </a:lnTo>
                <a:lnTo>
                  <a:pt x="3987232" y="1016000"/>
                </a:lnTo>
                <a:lnTo>
                  <a:pt x="3880748" y="1041400"/>
                </a:lnTo>
                <a:lnTo>
                  <a:pt x="3827998" y="1066800"/>
                </a:lnTo>
                <a:lnTo>
                  <a:pt x="3775578" y="1079500"/>
                </a:lnTo>
                <a:lnTo>
                  <a:pt x="3723486" y="1104900"/>
                </a:lnTo>
                <a:lnTo>
                  <a:pt x="3620289" y="1130300"/>
                </a:lnTo>
                <a:lnTo>
                  <a:pt x="3569183" y="1155700"/>
                </a:lnTo>
                <a:lnTo>
                  <a:pt x="3518406" y="1168400"/>
                </a:lnTo>
                <a:lnTo>
                  <a:pt x="3467958" y="1193800"/>
                </a:lnTo>
                <a:lnTo>
                  <a:pt x="3417838" y="1206500"/>
                </a:lnTo>
                <a:lnTo>
                  <a:pt x="3368047" y="1231900"/>
                </a:lnTo>
                <a:lnTo>
                  <a:pt x="3318585" y="1244600"/>
                </a:lnTo>
                <a:lnTo>
                  <a:pt x="3269452" y="1270000"/>
                </a:lnTo>
                <a:lnTo>
                  <a:pt x="3220647" y="1282700"/>
                </a:lnTo>
                <a:lnTo>
                  <a:pt x="3172171" y="1308100"/>
                </a:lnTo>
                <a:lnTo>
                  <a:pt x="3124023" y="1320800"/>
                </a:lnTo>
                <a:lnTo>
                  <a:pt x="3028714" y="1371600"/>
                </a:lnTo>
                <a:lnTo>
                  <a:pt x="2981553" y="1384300"/>
                </a:lnTo>
                <a:lnTo>
                  <a:pt x="2934720" y="1409700"/>
                </a:lnTo>
                <a:lnTo>
                  <a:pt x="2888216" y="1422400"/>
                </a:lnTo>
                <a:lnTo>
                  <a:pt x="2796193" y="1473200"/>
                </a:lnTo>
                <a:lnTo>
                  <a:pt x="2750675" y="1485900"/>
                </a:lnTo>
                <a:lnTo>
                  <a:pt x="2660625" y="1536700"/>
                </a:lnTo>
                <a:lnTo>
                  <a:pt x="2616093" y="1549400"/>
                </a:lnTo>
                <a:lnTo>
                  <a:pt x="2484469" y="1625600"/>
                </a:lnTo>
                <a:lnTo>
                  <a:pt x="2441252" y="1638300"/>
                </a:lnTo>
                <a:lnTo>
                  <a:pt x="2313572" y="1714500"/>
                </a:lnTo>
                <a:lnTo>
                  <a:pt x="2271669" y="1727200"/>
                </a:lnTo>
                <a:lnTo>
                  <a:pt x="2147934" y="1803400"/>
                </a:lnTo>
                <a:lnTo>
                  <a:pt x="2027156" y="1879600"/>
                </a:lnTo>
                <a:lnTo>
                  <a:pt x="1987554" y="1892300"/>
                </a:lnTo>
                <a:lnTo>
                  <a:pt x="1909337" y="1943100"/>
                </a:lnTo>
                <a:lnTo>
                  <a:pt x="1794476" y="2019300"/>
                </a:lnTo>
                <a:lnTo>
                  <a:pt x="1682572" y="2095500"/>
                </a:lnTo>
                <a:lnTo>
                  <a:pt x="1573628" y="2171700"/>
                </a:lnTo>
                <a:lnTo>
                  <a:pt x="1467641" y="2247900"/>
                </a:lnTo>
                <a:lnTo>
                  <a:pt x="1398626" y="2298700"/>
                </a:lnTo>
                <a:lnTo>
                  <a:pt x="1364612" y="2336800"/>
                </a:lnTo>
                <a:lnTo>
                  <a:pt x="1330926" y="2362200"/>
                </a:lnTo>
                <a:lnTo>
                  <a:pt x="1264541" y="2413000"/>
                </a:lnTo>
                <a:lnTo>
                  <a:pt x="1199471" y="2463800"/>
                </a:lnTo>
                <a:lnTo>
                  <a:pt x="1167429" y="2501900"/>
                </a:lnTo>
                <a:lnTo>
                  <a:pt x="1104331" y="2552700"/>
                </a:lnTo>
                <a:lnTo>
                  <a:pt x="1042547" y="2603500"/>
                </a:lnTo>
                <a:lnTo>
                  <a:pt x="1012149" y="2641600"/>
                </a:lnTo>
                <a:lnTo>
                  <a:pt x="982078" y="2667000"/>
                </a:lnTo>
                <a:lnTo>
                  <a:pt x="922924" y="2717800"/>
                </a:lnTo>
                <a:lnTo>
                  <a:pt x="893840" y="2755900"/>
                </a:lnTo>
                <a:lnTo>
                  <a:pt x="865085" y="2781300"/>
                </a:lnTo>
                <a:lnTo>
                  <a:pt x="836658" y="2806700"/>
                </a:lnTo>
                <a:lnTo>
                  <a:pt x="808561" y="2844800"/>
                </a:lnTo>
                <a:lnTo>
                  <a:pt x="780791" y="2870200"/>
                </a:lnTo>
                <a:lnTo>
                  <a:pt x="753351" y="2908300"/>
                </a:lnTo>
                <a:lnTo>
                  <a:pt x="726239" y="2933700"/>
                </a:lnTo>
                <a:lnTo>
                  <a:pt x="699456" y="2959100"/>
                </a:lnTo>
                <a:lnTo>
                  <a:pt x="673001" y="2997200"/>
                </a:lnTo>
                <a:lnTo>
                  <a:pt x="646875" y="3022600"/>
                </a:lnTo>
                <a:lnTo>
                  <a:pt x="621078" y="3060700"/>
                </a:lnTo>
                <a:lnTo>
                  <a:pt x="595609" y="3086100"/>
                </a:lnTo>
                <a:lnTo>
                  <a:pt x="570470" y="3111500"/>
                </a:lnTo>
                <a:lnTo>
                  <a:pt x="545659" y="3149600"/>
                </a:lnTo>
                <a:lnTo>
                  <a:pt x="521176" y="3175000"/>
                </a:lnTo>
                <a:lnTo>
                  <a:pt x="497022" y="3213100"/>
                </a:lnTo>
                <a:lnTo>
                  <a:pt x="473197" y="3238500"/>
                </a:lnTo>
                <a:lnTo>
                  <a:pt x="449701" y="3276600"/>
                </a:lnTo>
                <a:lnTo>
                  <a:pt x="426533" y="3302000"/>
                </a:lnTo>
                <a:lnTo>
                  <a:pt x="403694" y="3340100"/>
                </a:lnTo>
                <a:lnTo>
                  <a:pt x="381184" y="3378200"/>
                </a:lnTo>
                <a:lnTo>
                  <a:pt x="359002" y="3403600"/>
                </a:lnTo>
                <a:lnTo>
                  <a:pt x="337149" y="3441700"/>
                </a:lnTo>
                <a:lnTo>
                  <a:pt x="315625" y="3467100"/>
                </a:lnTo>
                <a:lnTo>
                  <a:pt x="294429" y="3505200"/>
                </a:lnTo>
                <a:lnTo>
                  <a:pt x="273562" y="3543300"/>
                </a:lnTo>
                <a:lnTo>
                  <a:pt x="253024" y="3568700"/>
                </a:lnTo>
                <a:lnTo>
                  <a:pt x="232814" y="3606800"/>
                </a:lnTo>
                <a:lnTo>
                  <a:pt x="212933" y="3644900"/>
                </a:lnTo>
                <a:lnTo>
                  <a:pt x="193381" y="3670300"/>
                </a:lnTo>
                <a:lnTo>
                  <a:pt x="174157" y="3708400"/>
                </a:lnTo>
                <a:lnTo>
                  <a:pt x="155263" y="3746500"/>
                </a:lnTo>
                <a:lnTo>
                  <a:pt x="136696" y="3771900"/>
                </a:lnTo>
                <a:lnTo>
                  <a:pt x="118459" y="3810000"/>
                </a:lnTo>
                <a:lnTo>
                  <a:pt x="100550" y="3848100"/>
                </a:lnTo>
                <a:lnTo>
                  <a:pt x="82970" y="3886200"/>
                </a:lnTo>
                <a:lnTo>
                  <a:pt x="65719" y="3911600"/>
                </a:lnTo>
                <a:lnTo>
                  <a:pt x="48796" y="3949700"/>
                </a:lnTo>
                <a:lnTo>
                  <a:pt x="32202" y="3987800"/>
                </a:lnTo>
                <a:lnTo>
                  <a:pt x="15936" y="4025900"/>
                </a:lnTo>
                <a:lnTo>
                  <a:pt x="0" y="4051300"/>
                </a:lnTo>
                <a:lnTo>
                  <a:pt x="25652" y="4025900"/>
                </a:lnTo>
                <a:lnTo>
                  <a:pt x="51577" y="4000500"/>
                </a:lnTo>
                <a:lnTo>
                  <a:pt x="77774" y="3962400"/>
                </a:lnTo>
                <a:lnTo>
                  <a:pt x="104244" y="3937000"/>
                </a:lnTo>
                <a:lnTo>
                  <a:pt x="130987" y="3898900"/>
                </a:lnTo>
                <a:lnTo>
                  <a:pt x="185289" y="3848100"/>
                </a:lnTo>
                <a:lnTo>
                  <a:pt x="212849" y="3810000"/>
                </a:lnTo>
                <a:lnTo>
                  <a:pt x="240682" y="3784600"/>
                </a:lnTo>
                <a:lnTo>
                  <a:pt x="268787" y="3746500"/>
                </a:lnTo>
                <a:lnTo>
                  <a:pt x="325815" y="3695700"/>
                </a:lnTo>
                <a:lnTo>
                  <a:pt x="354738" y="3670300"/>
                </a:lnTo>
                <a:lnTo>
                  <a:pt x="383933" y="3632200"/>
                </a:lnTo>
                <a:lnTo>
                  <a:pt x="443142" y="3581400"/>
                </a:lnTo>
                <a:lnTo>
                  <a:pt x="473154" y="3556000"/>
                </a:lnTo>
                <a:lnTo>
                  <a:pt x="503440" y="3517900"/>
                </a:lnTo>
                <a:lnTo>
                  <a:pt x="564828" y="3467100"/>
                </a:lnTo>
                <a:lnTo>
                  <a:pt x="627307" y="3416300"/>
                </a:lnTo>
                <a:lnTo>
                  <a:pt x="658955" y="3390900"/>
                </a:lnTo>
                <a:lnTo>
                  <a:pt x="690876" y="3352800"/>
                </a:lnTo>
                <a:lnTo>
                  <a:pt x="788273" y="3276600"/>
                </a:lnTo>
                <a:lnTo>
                  <a:pt x="888123" y="3200400"/>
                </a:lnTo>
                <a:lnTo>
                  <a:pt x="990426" y="3124200"/>
                </a:lnTo>
                <a:lnTo>
                  <a:pt x="1095182" y="3048000"/>
                </a:lnTo>
                <a:lnTo>
                  <a:pt x="1202391" y="2971800"/>
                </a:lnTo>
                <a:lnTo>
                  <a:pt x="1238672" y="2946400"/>
                </a:lnTo>
                <a:lnTo>
                  <a:pt x="1275226" y="2933700"/>
                </a:lnTo>
                <a:lnTo>
                  <a:pt x="1424167" y="2832100"/>
                </a:lnTo>
                <a:lnTo>
                  <a:pt x="1462084" y="2806700"/>
                </a:lnTo>
                <a:lnTo>
                  <a:pt x="1500273" y="2794000"/>
                </a:lnTo>
                <a:lnTo>
                  <a:pt x="1616476" y="2717800"/>
                </a:lnTo>
                <a:lnTo>
                  <a:pt x="1655755" y="2705100"/>
                </a:lnTo>
                <a:lnTo>
                  <a:pt x="1735131" y="2654300"/>
                </a:lnTo>
                <a:lnTo>
                  <a:pt x="1775228" y="2641600"/>
                </a:lnTo>
                <a:lnTo>
                  <a:pt x="1856240" y="2590800"/>
                </a:lnTo>
                <a:lnTo>
                  <a:pt x="1897154" y="2578100"/>
                </a:lnTo>
                <a:lnTo>
                  <a:pt x="1979801" y="2527300"/>
                </a:lnTo>
                <a:lnTo>
                  <a:pt x="2021533" y="2514600"/>
                </a:lnTo>
                <a:lnTo>
                  <a:pt x="2063538" y="2489200"/>
                </a:lnTo>
                <a:lnTo>
                  <a:pt x="2105815" y="2476500"/>
                </a:lnTo>
                <a:lnTo>
                  <a:pt x="2148365" y="2451100"/>
                </a:lnTo>
                <a:lnTo>
                  <a:pt x="2191188" y="2438400"/>
                </a:lnTo>
                <a:lnTo>
                  <a:pt x="2234283" y="2413000"/>
                </a:lnTo>
                <a:lnTo>
                  <a:pt x="2277650" y="2400300"/>
                </a:lnTo>
                <a:lnTo>
                  <a:pt x="2321290" y="2374900"/>
                </a:lnTo>
                <a:lnTo>
                  <a:pt x="2365203" y="2362200"/>
                </a:lnTo>
                <a:lnTo>
                  <a:pt x="2409388" y="2336800"/>
                </a:lnTo>
                <a:lnTo>
                  <a:pt x="2453846" y="2324100"/>
                </a:lnTo>
                <a:lnTo>
                  <a:pt x="2498576" y="2298700"/>
                </a:lnTo>
                <a:lnTo>
                  <a:pt x="2588854" y="2273300"/>
                </a:lnTo>
                <a:lnTo>
                  <a:pt x="2634402" y="2247900"/>
                </a:lnTo>
                <a:lnTo>
                  <a:pt x="2726316" y="2222500"/>
                </a:lnTo>
                <a:lnTo>
                  <a:pt x="2772681" y="2197100"/>
                </a:lnTo>
                <a:lnTo>
                  <a:pt x="2866230" y="2171700"/>
                </a:lnTo>
                <a:lnTo>
                  <a:pt x="2913414" y="2146300"/>
                </a:lnTo>
                <a:lnTo>
                  <a:pt x="3056599" y="2108200"/>
                </a:lnTo>
                <a:lnTo>
                  <a:pt x="3104872" y="2082800"/>
                </a:lnTo>
                <a:lnTo>
                  <a:pt x="3300692" y="2032000"/>
                </a:lnTo>
                <a:lnTo>
                  <a:pt x="3350328" y="2006600"/>
                </a:lnTo>
                <a:lnTo>
                  <a:pt x="4181576" y="1803400"/>
                </a:lnTo>
                <a:lnTo>
                  <a:pt x="4345203" y="1765300"/>
                </a:lnTo>
                <a:lnTo>
                  <a:pt x="4400290" y="1765300"/>
                </a:lnTo>
                <a:lnTo>
                  <a:pt x="4623365" y="1714500"/>
                </a:lnTo>
                <a:lnTo>
                  <a:pt x="4679816" y="1714500"/>
                </a:lnTo>
                <a:lnTo>
                  <a:pt x="4850802" y="1676400"/>
                </a:lnTo>
                <a:lnTo>
                  <a:pt x="4908342" y="1676400"/>
                </a:lnTo>
                <a:lnTo>
                  <a:pt x="5082599" y="1638300"/>
                </a:lnTo>
                <a:lnTo>
                  <a:pt x="5141230" y="1638300"/>
                </a:lnTo>
                <a:lnTo>
                  <a:pt x="5200133" y="1625600"/>
                </a:lnTo>
                <a:lnTo>
                  <a:pt x="5259309" y="1625600"/>
                </a:lnTo>
                <a:lnTo>
                  <a:pt x="5378479" y="1600200"/>
                </a:lnTo>
                <a:lnTo>
                  <a:pt x="5438472" y="1600200"/>
                </a:lnTo>
                <a:lnTo>
                  <a:pt x="5498738" y="1587500"/>
                </a:lnTo>
                <a:lnTo>
                  <a:pt x="5559277" y="1587500"/>
                </a:lnTo>
                <a:lnTo>
                  <a:pt x="5620088" y="1574800"/>
                </a:lnTo>
                <a:lnTo>
                  <a:pt x="5681172" y="1574800"/>
                </a:lnTo>
                <a:lnTo>
                  <a:pt x="5742529" y="1562100"/>
                </a:lnTo>
                <a:lnTo>
                  <a:pt x="5804158" y="1562100"/>
                </a:lnTo>
                <a:lnTo>
                  <a:pt x="5866059" y="1549400"/>
                </a:lnTo>
                <a:lnTo>
                  <a:pt x="5928233" y="1549400"/>
                </a:lnTo>
                <a:lnTo>
                  <a:pt x="5990680" y="1536700"/>
                </a:lnTo>
                <a:lnTo>
                  <a:pt x="6053399" y="1536700"/>
                </a:lnTo>
                <a:lnTo>
                  <a:pt x="6116391" y="1524000"/>
                </a:lnTo>
                <a:lnTo>
                  <a:pt x="6652154" y="1524000"/>
                </a:lnTo>
                <a:lnTo>
                  <a:pt x="7144511" y="812800"/>
                </a:lnTo>
                <a:lnTo>
                  <a:pt x="6071489" y="0"/>
                </a:lnTo>
                <a:close/>
              </a:path>
              <a:path w="7145020" h="4051300">
                <a:moveTo>
                  <a:pt x="6652154" y="1524000"/>
                </a:moveTo>
                <a:lnTo>
                  <a:pt x="6243193" y="1524000"/>
                </a:lnTo>
                <a:lnTo>
                  <a:pt x="6300470" y="2032000"/>
                </a:lnTo>
                <a:lnTo>
                  <a:pt x="6652154" y="1524000"/>
                </a:lnTo>
                <a:close/>
              </a:path>
            </a:pathLst>
          </a:custGeom>
          <a:solidFill>
            <a:srgbClr val="CCE7F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1269" name="object 4">
            <a:extLst>
              <a:ext uri="{FF2B5EF4-FFF2-40B4-BE49-F238E27FC236}">
                <a16:creationId xmlns:a16="http://schemas.microsoft.com/office/drawing/2014/main" id="{C4CC9A9F-9478-2683-5451-5F074D594454}"/>
              </a:ext>
            </a:extLst>
          </p:cNvPr>
          <p:cNvSpPr>
            <a:spLocks/>
          </p:cNvSpPr>
          <p:nvPr/>
        </p:nvSpPr>
        <p:spPr bwMode="auto">
          <a:xfrm>
            <a:off x="3102769" y="3151585"/>
            <a:ext cx="127397" cy="127397"/>
          </a:xfrm>
          <a:custGeom>
            <a:avLst/>
            <a:gdLst>
              <a:gd name="T0" fmla="*/ 86673 w 169544"/>
              <a:gd name="T1" fmla="*/ 0 h 169545"/>
              <a:gd name="T2" fmla="*/ 52926 w 169544"/>
              <a:gd name="T3" fmla="*/ 6808 h 169545"/>
              <a:gd name="T4" fmla="*/ 25377 w 169544"/>
              <a:gd name="T5" fmla="*/ 25373 h 169545"/>
              <a:gd name="T6" fmla="*/ 6811 w 169544"/>
              <a:gd name="T7" fmla="*/ 52919 h 169545"/>
              <a:gd name="T8" fmla="*/ 0 w 169544"/>
              <a:gd name="T9" fmla="*/ 86661 h 169545"/>
              <a:gd name="T10" fmla="*/ 6811 w 169544"/>
              <a:gd name="T11" fmla="*/ 120403 h 169545"/>
              <a:gd name="T12" fmla="*/ 25377 w 169544"/>
              <a:gd name="T13" fmla="*/ 147950 h 169545"/>
              <a:gd name="T14" fmla="*/ 52926 w 169544"/>
              <a:gd name="T15" fmla="*/ 166515 h 169545"/>
              <a:gd name="T16" fmla="*/ 86673 w 169544"/>
              <a:gd name="T17" fmla="*/ 173321 h 169545"/>
              <a:gd name="T18" fmla="*/ 120421 w 169544"/>
              <a:gd name="T19" fmla="*/ 166515 h 169545"/>
              <a:gd name="T20" fmla="*/ 147971 w 169544"/>
              <a:gd name="T21" fmla="*/ 147950 h 169545"/>
              <a:gd name="T22" fmla="*/ 166541 w 169544"/>
              <a:gd name="T23" fmla="*/ 120403 h 169545"/>
              <a:gd name="T24" fmla="*/ 173347 w 169544"/>
              <a:gd name="T25" fmla="*/ 86661 h 169545"/>
              <a:gd name="T26" fmla="*/ 166541 w 169544"/>
              <a:gd name="T27" fmla="*/ 52919 h 169545"/>
              <a:gd name="T28" fmla="*/ 147971 w 169544"/>
              <a:gd name="T29" fmla="*/ 25373 h 169545"/>
              <a:gd name="T30" fmla="*/ 120421 w 169544"/>
              <a:gd name="T31" fmla="*/ 6808 h 169545"/>
              <a:gd name="T32" fmla="*/ 86673 w 169544"/>
              <a:gd name="T33" fmla="*/ 0 h 1695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9544" h="169545">
                <a:moveTo>
                  <a:pt x="84581" y="0"/>
                </a:moveTo>
                <a:lnTo>
                  <a:pt x="51649" y="6643"/>
                </a:lnTo>
                <a:lnTo>
                  <a:pt x="24764" y="24765"/>
                </a:lnTo>
                <a:lnTo>
                  <a:pt x="6643" y="51649"/>
                </a:lnTo>
                <a:lnTo>
                  <a:pt x="0" y="84582"/>
                </a:lnTo>
                <a:lnTo>
                  <a:pt x="6643" y="117514"/>
                </a:lnTo>
                <a:lnTo>
                  <a:pt x="24764" y="144399"/>
                </a:lnTo>
                <a:lnTo>
                  <a:pt x="51649" y="162520"/>
                </a:lnTo>
                <a:lnTo>
                  <a:pt x="84581" y="169164"/>
                </a:lnTo>
                <a:lnTo>
                  <a:pt x="117514" y="162520"/>
                </a:lnTo>
                <a:lnTo>
                  <a:pt x="144399" y="144399"/>
                </a:lnTo>
                <a:lnTo>
                  <a:pt x="162520" y="117514"/>
                </a:lnTo>
                <a:lnTo>
                  <a:pt x="169163" y="84582"/>
                </a:lnTo>
                <a:lnTo>
                  <a:pt x="162520" y="51649"/>
                </a:lnTo>
                <a:lnTo>
                  <a:pt x="144399" y="24765"/>
                </a:lnTo>
                <a:lnTo>
                  <a:pt x="117514" y="6643"/>
                </a:lnTo>
                <a:lnTo>
                  <a:pt x="84581" y="0"/>
                </a:lnTo>
                <a:close/>
              </a:path>
            </a:pathLst>
          </a:custGeom>
          <a:solidFill>
            <a:srgbClr val="1EBBE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1270" name="object 5">
            <a:extLst>
              <a:ext uri="{FF2B5EF4-FFF2-40B4-BE49-F238E27FC236}">
                <a16:creationId xmlns:a16="http://schemas.microsoft.com/office/drawing/2014/main" id="{29AA7FAC-EA78-AAB1-54FC-00281C4434A7}"/>
              </a:ext>
            </a:extLst>
          </p:cNvPr>
          <p:cNvSpPr>
            <a:spLocks/>
          </p:cNvSpPr>
          <p:nvPr/>
        </p:nvSpPr>
        <p:spPr bwMode="auto">
          <a:xfrm>
            <a:off x="3102769" y="3151585"/>
            <a:ext cx="127397" cy="127397"/>
          </a:xfrm>
          <a:custGeom>
            <a:avLst/>
            <a:gdLst>
              <a:gd name="T0" fmla="*/ 0 w 169544"/>
              <a:gd name="T1" fmla="*/ 86661 h 169545"/>
              <a:gd name="T2" fmla="*/ 6811 w 169544"/>
              <a:gd name="T3" fmla="*/ 52919 h 169545"/>
              <a:gd name="T4" fmla="*/ 25377 w 169544"/>
              <a:gd name="T5" fmla="*/ 25373 h 169545"/>
              <a:gd name="T6" fmla="*/ 52926 w 169544"/>
              <a:gd name="T7" fmla="*/ 6808 h 169545"/>
              <a:gd name="T8" fmla="*/ 86673 w 169544"/>
              <a:gd name="T9" fmla="*/ 0 h 169545"/>
              <a:gd name="T10" fmla="*/ 120421 w 169544"/>
              <a:gd name="T11" fmla="*/ 6808 h 169545"/>
              <a:gd name="T12" fmla="*/ 147971 w 169544"/>
              <a:gd name="T13" fmla="*/ 25373 h 169545"/>
              <a:gd name="T14" fmla="*/ 166541 w 169544"/>
              <a:gd name="T15" fmla="*/ 52919 h 169545"/>
              <a:gd name="T16" fmla="*/ 173347 w 169544"/>
              <a:gd name="T17" fmla="*/ 86661 h 169545"/>
              <a:gd name="T18" fmla="*/ 166541 w 169544"/>
              <a:gd name="T19" fmla="*/ 120403 h 169545"/>
              <a:gd name="T20" fmla="*/ 147971 w 169544"/>
              <a:gd name="T21" fmla="*/ 147950 h 169545"/>
              <a:gd name="T22" fmla="*/ 120421 w 169544"/>
              <a:gd name="T23" fmla="*/ 166515 h 169545"/>
              <a:gd name="T24" fmla="*/ 86673 w 169544"/>
              <a:gd name="T25" fmla="*/ 173321 h 169545"/>
              <a:gd name="T26" fmla="*/ 52926 w 169544"/>
              <a:gd name="T27" fmla="*/ 166515 h 169545"/>
              <a:gd name="T28" fmla="*/ 25377 w 169544"/>
              <a:gd name="T29" fmla="*/ 147950 h 169545"/>
              <a:gd name="T30" fmla="*/ 6811 w 169544"/>
              <a:gd name="T31" fmla="*/ 120403 h 169545"/>
              <a:gd name="T32" fmla="*/ 0 w 169544"/>
              <a:gd name="T33" fmla="*/ 86661 h 1695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9544" h="169545">
                <a:moveTo>
                  <a:pt x="0" y="84582"/>
                </a:moveTo>
                <a:lnTo>
                  <a:pt x="6643" y="51649"/>
                </a:lnTo>
                <a:lnTo>
                  <a:pt x="24764" y="24765"/>
                </a:lnTo>
                <a:lnTo>
                  <a:pt x="51649" y="6643"/>
                </a:lnTo>
                <a:lnTo>
                  <a:pt x="84581" y="0"/>
                </a:lnTo>
                <a:lnTo>
                  <a:pt x="117514" y="6643"/>
                </a:lnTo>
                <a:lnTo>
                  <a:pt x="144399" y="24765"/>
                </a:lnTo>
                <a:lnTo>
                  <a:pt x="162520" y="51649"/>
                </a:lnTo>
                <a:lnTo>
                  <a:pt x="169163" y="84582"/>
                </a:lnTo>
                <a:lnTo>
                  <a:pt x="162520" y="117514"/>
                </a:lnTo>
                <a:lnTo>
                  <a:pt x="144399" y="144399"/>
                </a:lnTo>
                <a:lnTo>
                  <a:pt x="117514" y="162520"/>
                </a:lnTo>
                <a:lnTo>
                  <a:pt x="84581" y="169164"/>
                </a:lnTo>
                <a:lnTo>
                  <a:pt x="51649" y="162520"/>
                </a:lnTo>
                <a:lnTo>
                  <a:pt x="24764" y="144399"/>
                </a:lnTo>
                <a:lnTo>
                  <a:pt x="6643" y="117514"/>
                </a:lnTo>
                <a:lnTo>
                  <a:pt x="0" y="84582"/>
                </a:lnTo>
                <a:close/>
              </a:path>
            </a:pathLst>
          </a:custGeom>
          <a:noFill/>
          <a:ln w="25908">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da-DK" sz="1350"/>
          </a:p>
        </p:txBody>
      </p:sp>
      <p:sp>
        <p:nvSpPr>
          <p:cNvPr id="11271" name="object 6">
            <a:extLst>
              <a:ext uri="{FF2B5EF4-FFF2-40B4-BE49-F238E27FC236}">
                <a16:creationId xmlns:a16="http://schemas.microsoft.com/office/drawing/2014/main" id="{9A29F0CA-E222-F090-AEED-9305A7ECA282}"/>
              </a:ext>
            </a:extLst>
          </p:cNvPr>
          <p:cNvSpPr txBox="1">
            <a:spLocks noChangeArrowheads="1"/>
          </p:cNvSpPr>
          <p:nvPr/>
        </p:nvSpPr>
        <p:spPr bwMode="auto">
          <a:xfrm>
            <a:off x="3278981" y="3064669"/>
            <a:ext cx="1153716" cy="140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nSpc>
                <a:spcPts val="2081"/>
              </a:lnSpc>
              <a:spcBef>
                <a:spcPct val="0"/>
              </a:spcBef>
            </a:pPr>
            <a:r>
              <a:rPr lang="sv-SE" altLang="sv-SE" sz="1800" b="1">
                <a:solidFill>
                  <a:srgbClr val="1A2944"/>
                </a:solidFill>
                <a:latin typeface="Times New Roman" panose="02020603050405020304" pitchFamily="18" charset="0"/>
              </a:rPr>
              <a:t>5 Forces</a:t>
            </a:r>
            <a:endParaRPr lang="sv-SE" altLang="sv-SE" sz="1800">
              <a:latin typeface="Times New Roman" panose="02020603050405020304" pitchFamily="18" charset="0"/>
            </a:endParaRPr>
          </a:p>
          <a:p>
            <a:pPr>
              <a:lnSpc>
                <a:spcPts val="1088"/>
              </a:lnSpc>
              <a:spcBef>
                <a:spcPts val="94"/>
              </a:spcBef>
              <a:buFontTx/>
              <a:buChar char="-"/>
            </a:pPr>
            <a:r>
              <a:rPr lang="sv-SE" altLang="sv-SE" sz="1050">
                <a:solidFill>
                  <a:srgbClr val="1A2944"/>
                </a:solidFill>
                <a:latin typeface="Times New Roman" panose="02020603050405020304" pitchFamily="18" charset="0"/>
              </a:rPr>
              <a:t>industry attractiveness is the central focus</a:t>
            </a:r>
            <a:endParaRPr lang="sv-SE" altLang="sv-SE" sz="1050">
              <a:latin typeface="Times New Roman" panose="02020603050405020304" pitchFamily="18" charset="0"/>
            </a:endParaRPr>
          </a:p>
          <a:p>
            <a:pPr>
              <a:lnSpc>
                <a:spcPts val="994"/>
              </a:lnSpc>
              <a:spcBef>
                <a:spcPct val="0"/>
              </a:spcBef>
              <a:buFont typeface="Arial" panose="020B0604020202020204" pitchFamily="34" charset="0"/>
              <a:buChar char="-"/>
            </a:pPr>
            <a:r>
              <a:rPr lang="sv-SE" altLang="sv-SE" sz="1050" i="1">
                <a:solidFill>
                  <a:srgbClr val="1A2944"/>
                </a:solidFill>
                <a:latin typeface="Times New Roman" panose="02020603050405020304" pitchFamily="18" charset="0"/>
              </a:rPr>
              <a:t>external </a:t>
            </a:r>
            <a:r>
              <a:rPr lang="sv-SE" altLang="sv-SE" sz="1050">
                <a:solidFill>
                  <a:srgbClr val="1A2944"/>
                </a:solidFill>
                <a:latin typeface="Times New Roman" panose="02020603050405020304" pitchFamily="18" charset="0"/>
              </a:rPr>
              <a:t>forces</a:t>
            </a:r>
            <a:endParaRPr lang="sv-SE" altLang="sv-SE" sz="1050">
              <a:latin typeface="Times New Roman" panose="02020603050405020304" pitchFamily="18" charset="0"/>
            </a:endParaRPr>
          </a:p>
          <a:p>
            <a:pPr>
              <a:lnSpc>
                <a:spcPts val="1088"/>
              </a:lnSpc>
              <a:spcBef>
                <a:spcPct val="0"/>
              </a:spcBef>
            </a:pPr>
            <a:r>
              <a:rPr lang="sv-SE" altLang="sv-SE" sz="1050">
                <a:solidFill>
                  <a:srgbClr val="1A2944"/>
                </a:solidFill>
                <a:latin typeface="Times New Roman" panose="02020603050405020304" pitchFamily="18" charset="0"/>
              </a:rPr>
              <a:t>dominate</a:t>
            </a:r>
            <a:endParaRPr lang="sv-SE" altLang="sv-SE" sz="1050">
              <a:latin typeface="Times New Roman" panose="02020603050405020304" pitchFamily="18" charset="0"/>
            </a:endParaRPr>
          </a:p>
          <a:p>
            <a:pPr>
              <a:lnSpc>
                <a:spcPct val="86000"/>
              </a:lnSpc>
              <a:spcBef>
                <a:spcPts val="94"/>
              </a:spcBef>
              <a:buFontTx/>
              <a:buChar char="-"/>
            </a:pPr>
            <a:r>
              <a:rPr lang="sv-SE" altLang="sv-SE" sz="1050">
                <a:solidFill>
                  <a:srgbClr val="1A2944"/>
                </a:solidFill>
                <a:latin typeface="Times New Roman" panose="02020603050405020304" pitchFamily="18" charset="0"/>
              </a:rPr>
              <a:t>fate = static, purely competitive markets (low profit)</a:t>
            </a:r>
            <a:endParaRPr lang="sv-SE" altLang="sv-SE" sz="1050">
              <a:latin typeface="Times New Roman" panose="02020603050405020304" pitchFamily="18" charset="0"/>
            </a:endParaRPr>
          </a:p>
        </p:txBody>
      </p:sp>
      <p:sp>
        <p:nvSpPr>
          <p:cNvPr id="11272" name="object 7">
            <a:extLst>
              <a:ext uri="{FF2B5EF4-FFF2-40B4-BE49-F238E27FC236}">
                <a16:creationId xmlns:a16="http://schemas.microsoft.com/office/drawing/2014/main" id="{CCE61888-7680-CB84-496D-8C4398C6F623}"/>
              </a:ext>
            </a:extLst>
          </p:cNvPr>
          <p:cNvSpPr>
            <a:spLocks/>
          </p:cNvSpPr>
          <p:nvPr/>
        </p:nvSpPr>
        <p:spPr bwMode="auto">
          <a:xfrm>
            <a:off x="4354117" y="2322910"/>
            <a:ext cx="229790" cy="229790"/>
          </a:xfrm>
          <a:custGeom>
            <a:avLst/>
            <a:gdLst>
              <a:gd name="T0" fmla="*/ 151117 w 306704"/>
              <a:gd name="T1" fmla="*/ 0 h 306704"/>
              <a:gd name="T2" fmla="*/ 103355 w 306704"/>
              <a:gd name="T3" fmla="*/ 7704 h 306704"/>
              <a:gd name="T4" fmla="*/ 61872 w 306704"/>
              <a:gd name="T5" fmla="*/ 29161 h 306704"/>
              <a:gd name="T6" fmla="*/ 29161 w 306704"/>
              <a:gd name="T7" fmla="*/ 61872 h 306704"/>
              <a:gd name="T8" fmla="*/ 7704 w 306704"/>
              <a:gd name="T9" fmla="*/ 103355 h 306704"/>
              <a:gd name="T10" fmla="*/ 0 w 306704"/>
              <a:gd name="T11" fmla="*/ 151117 h 306704"/>
              <a:gd name="T12" fmla="*/ 7704 w 306704"/>
              <a:gd name="T13" fmla="*/ 198879 h 306704"/>
              <a:gd name="T14" fmla="*/ 29161 w 306704"/>
              <a:gd name="T15" fmla="*/ 240361 h 306704"/>
              <a:gd name="T16" fmla="*/ 61872 w 306704"/>
              <a:gd name="T17" fmla="*/ 273074 h 306704"/>
              <a:gd name="T18" fmla="*/ 103355 w 306704"/>
              <a:gd name="T19" fmla="*/ 294528 h 306704"/>
              <a:gd name="T20" fmla="*/ 151117 w 306704"/>
              <a:gd name="T21" fmla="*/ 302233 h 306704"/>
              <a:gd name="T22" fmla="*/ 198879 w 306704"/>
              <a:gd name="T23" fmla="*/ 294528 h 306704"/>
              <a:gd name="T24" fmla="*/ 240361 w 306704"/>
              <a:gd name="T25" fmla="*/ 273074 h 306704"/>
              <a:gd name="T26" fmla="*/ 273074 w 306704"/>
              <a:gd name="T27" fmla="*/ 240361 h 306704"/>
              <a:gd name="T28" fmla="*/ 294528 w 306704"/>
              <a:gd name="T29" fmla="*/ 198879 h 306704"/>
              <a:gd name="T30" fmla="*/ 302233 w 306704"/>
              <a:gd name="T31" fmla="*/ 151117 h 306704"/>
              <a:gd name="T32" fmla="*/ 294528 w 306704"/>
              <a:gd name="T33" fmla="*/ 103355 h 306704"/>
              <a:gd name="T34" fmla="*/ 273074 w 306704"/>
              <a:gd name="T35" fmla="*/ 61872 h 306704"/>
              <a:gd name="T36" fmla="*/ 240361 w 306704"/>
              <a:gd name="T37" fmla="*/ 29161 h 306704"/>
              <a:gd name="T38" fmla="*/ 198879 w 306704"/>
              <a:gd name="T39" fmla="*/ 7704 h 306704"/>
              <a:gd name="T40" fmla="*/ 151117 w 306704"/>
              <a:gd name="T41" fmla="*/ 0 h 3067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6704" h="306704">
                <a:moveTo>
                  <a:pt x="153162" y="0"/>
                </a:moveTo>
                <a:lnTo>
                  <a:pt x="104753" y="7808"/>
                </a:lnTo>
                <a:lnTo>
                  <a:pt x="62709" y="29553"/>
                </a:lnTo>
                <a:lnTo>
                  <a:pt x="29553" y="62709"/>
                </a:lnTo>
                <a:lnTo>
                  <a:pt x="7808" y="104753"/>
                </a:lnTo>
                <a:lnTo>
                  <a:pt x="0" y="153162"/>
                </a:lnTo>
                <a:lnTo>
                  <a:pt x="7808" y="201570"/>
                </a:lnTo>
                <a:lnTo>
                  <a:pt x="29553" y="243614"/>
                </a:lnTo>
                <a:lnTo>
                  <a:pt x="62709" y="276770"/>
                </a:lnTo>
                <a:lnTo>
                  <a:pt x="104753" y="298515"/>
                </a:lnTo>
                <a:lnTo>
                  <a:pt x="153162" y="306324"/>
                </a:lnTo>
                <a:lnTo>
                  <a:pt x="201570" y="298515"/>
                </a:lnTo>
                <a:lnTo>
                  <a:pt x="243614" y="276770"/>
                </a:lnTo>
                <a:lnTo>
                  <a:pt x="276770" y="243614"/>
                </a:lnTo>
                <a:lnTo>
                  <a:pt x="298515" y="201570"/>
                </a:lnTo>
                <a:lnTo>
                  <a:pt x="306324" y="153162"/>
                </a:lnTo>
                <a:lnTo>
                  <a:pt x="298515" y="104753"/>
                </a:lnTo>
                <a:lnTo>
                  <a:pt x="276770" y="62709"/>
                </a:lnTo>
                <a:lnTo>
                  <a:pt x="243614" y="29553"/>
                </a:lnTo>
                <a:lnTo>
                  <a:pt x="201570" y="7808"/>
                </a:lnTo>
                <a:lnTo>
                  <a:pt x="153162" y="0"/>
                </a:lnTo>
                <a:close/>
              </a:path>
            </a:pathLst>
          </a:custGeom>
          <a:solidFill>
            <a:srgbClr val="1EBBE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1273" name="object 8">
            <a:extLst>
              <a:ext uri="{FF2B5EF4-FFF2-40B4-BE49-F238E27FC236}">
                <a16:creationId xmlns:a16="http://schemas.microsoft.com/office/drawing/2014/main" id="{75CE0EBA-596A-57B1-2472-FF14B8BFE739}"/>
              </a:ext>
            </a:extLst>
          </p:cNvPr>
          <p:cNvSpPr>
            <a:spLocks/>
          </p:cNvSpPr>
          <p:nvPr/>
        </p:nvSpPr>
        <p:spPr bwMode="auto">
          <a:xfrm>
            <a:off x="4354117" y="2322910"/>
            <a:ext cx="229790" cy="229790"/>
          </a:xfrm>
          <a:custGeom>
            <a:avLst/>
            <a:gdLst>
              <a:gd name="T0" fmla="*/ 0 w 306704"/>
              <a:gd name="T1" fmla="*/ 151117 h 306704"/>
              <a:gd name="T2" fmla="*/ 7704 w 306704"/>
              <a:gd name="T3" fmla="*/ 103355 h 306704"/>
              <a:gd name="T4" fmla="*/ 29161 w 306704"/>
              <a:gd name="T5" fmla="*/ 61872 h 306704"/>
              <a:gd name="T6" fmla="*/ 61872 w 306704"/>
              <a:gd name="T7" fmla="*/ 29161 h 306704"/>
              <a:gd name="T8" fmla="*/ 103355 w 306704"/>
              <a:gd name="T9" fmla="*/ 7704 h 306704"/>
              <a:gd name="T10" fmla="*/ 151117 w 306704"/>
              <a:gd name="T11" fmla="*/ 0 h 306704"/>
              <a:gd name="T12" fmla="*/ 198879 w 306704"/>
              <a:gd name="T13" fmla="*/ 7704 h 306704"/>
              <a:gd name="T14" fmla="*/ 240361 w 306704"/>
              <a:gd name="T15" fmla="*/ 29161 h 306704"/>
              <a:gd name="T16" fmla="*/ 273074 w 306704"/>
              <a:gd name="T17" fmla="*/ 61872 h 306704"/>
              <a:gd name="T18" fmla="*/ 294528 w 306704"/>
              <a:gd name="T19" fmla="*/ 103355 h 306704"/>
              <a:gd name="T20" fmla="*/ 302233 w 306704"/>
              <a:gd name="T21" fmla="*/ 151117 h 306704"/>
              <a:gd name="T22" fmla="*/ 294528 w 306704"/>
              <a:gd name="T23" fmla="*/ 198879 h 306704"/>
              <a:gd name="T24" fmla="*/ 273074 w 306704"/>
              <a:gd name="T25" fmla="*/ 240361 h 306704"/>
              <a:gd name="T26" fmla="*/ 240361 w 306704"/>
              <a:gd name="T27" fmla="*/ 273074 h 306704"/>
              <a:gd name="T28" fmla="*/ 198879 w 306704"/>
              <a:gd name="T29" fmla="*/ 294528 h 306704"/>
              <a:gd name="T30" fmla="*/ 151117 w 306704"/>
              <a:gd name="T31" fmla="*/ 302233 h 306704"/>
              <a:gd name="T32" fmla="*/ 103355 w 306704"/>
              <a:gd name="T33" fmla="*/ 294528 h 306704"/>
              <a:gd name="T34" fmla="*/ 61872 w 306704"/>
              <a:gd name="T35" fmla="*/ 273074 h 306704"/>
              <a:gd name="T36" fmla="*/ 29161 w 306704"/>
              <a:gd name="T37" fmla="*/ 240361 h 306704"/>
              <a:gd name="T38" fmla="*/ 7704 w 306704"/>
              <a:gd name="T39" fmla="*/ 198879 h 306704"/>
              <a:gd name="T40" fmla="*/ 0 w 306704"/>
              <a:gd name="T41" fmla="*/ 151117 h 3067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6704" h="306704">
                <a:moveTo>
                  <a:pt x="0" y="153162"/>
                </a:moveTo>
                <a:lnTo>
                  <a:pt x="7808" y="104753"/>
                </a:lnTo>
                <a:lnTo>
                  <a:pt x="29553" y="62709"/>
                </a:lnTo>
                <a:lnTo>
                  <a:pt x="62709" y="29553"/>
                </a:lnTo>
                <a:lnTo>
                  <a:pt x="104753" y="7808"/>
                </a:lnTo>
                <a:lnTo>
                  <a:pt x="153162" y="0"/>
                </a:lnTo>
                <a:lnTo>
                  <a:pt x="201570" y="7808"/>
                </a:lnTo>
                <a:lnTo>
                  <a:pt x="243614" y="29553"/>
                </a:lnTo>
                <a:lnTo>
                  <a:pt x="276770" y="62709"/>
                </a:lnTo>
                <a:lnTo>
                  <a:pt x="298515" y="104753"/>
                </a:lnTo>
                <a:lnTo>
                  <a:pt x="306324" y="153162"/>
                </a:lnTo>
                <a:lnTo>
                  <a:pt x="298515" y="201570"/>
                </a:lnTo>
                <a:lnTo>
                  <a:pt x="276770" y="243614"/>
                </a:lnTo>
                <a:lnTo>
                  <a:pt x="243614" y="276770"/>
                </a:lnTo>
                <a:lnTo>
                  <a:pt x="201570" y="298515"/>
                </a:lnTo>
                <a:lnTo>
                  <a:pt x="153162" y="306324"/>
                </a:lnTo>
                <a:lnTo>
                  <a:pt x="104753" y="298515"/>
                </a:lnTo>
                <a:lnTo>
                  <a:pt x="62709" y="276770"/>
                </a:lnTo>
                <a:lnTo>
                  <a:pt x="29553" y="243614"/>
                </a:lnTo>
                <a:lnTo>
                  <a:pt x="7808" y="201570"/>
                </a:lnTo>
                <a:lnTo>
                  <a:pt x="0" y="153162"/>
                </a:lnTo>
                <a:close/>
              </a:path>
            </a:pathLst>
          </a:custGeom>
          <a:noFill/>
          <a:ln w="25908">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da-DK" sz="1350"/>
          </a:p>
        </p:txBody>
      </p:sp>
      <p:sp>
        <p:nvSpPr>
          <p:cNvPr id="11274" name="object 9">
            <a:extLst>
              <a:ext uri="{FF2B5EF4-FFF2-40B4-BE49-F238E27FC236}">
                <a16:creationId xmlns:a16="http://schemas.microsoft.com/office/drawing/2014/main" id="{81914FB3-8EEF-BBEB-8A00-EDB0E11CD48C}"/>
              </a:ext>
            </a:extLst>
          </p:cNvPr>
          <p:cNvSpPr txBox="1">
            <a:spLocks noChangeArrowheads="1"/>
          </p:cNvSpPr>
          <p:nvPr/>
        </p:nvSpPr>
        <p:spPr bwMode="auto">
          <a:xfrm>
            <a:off x="4636294" y="2283619"/>
            <a:ext cx="1085850" cy="201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nSpc>
                <a:spcPts val="2250"/>
              </a:lnSpc>
              <a:spcBef>
                <a:spcPct val="0"/>
              </a:spcBef>
            </a:pPr>
            <a:r>
              <a:rPr lang="sv-SE" altLang="sv-SE" sz="1950" b="1" dirty="0">
                <a:solidFill>
                  <a:srgbClr val="1A2944"/>
                </a:solidFill>
                <a:latin typeface="Times New Roman" panose="02020603050405020304" pitchFamily="18" charset="0"/>
              </a:rPr>
              <a:t>RBV</a:t>
            </a:r>
            <a:endParaRPr lang="sv-SE" altLang="sv-SE" sz="1950" dirty="0">
              <a:latin typeface="Times New Roman" panose="02020603050405020304" pitchFamily="18" charset="0"/>
            </a:endParaRPr>
          </a:p>
          <a:p>
            <a:pPr>
              <a:lnSpc>
                <a:spcPct val="86000"/>
              </a:lnSpc>
              <a:spcBef>
                <a:spcPts val="103"/>
              </a:spcBef>
              <a:buFontTx/>
              <a:buChar char="-"/>
            </a:pPr>
            <a:r>
              <a:rPr lang="sv-SE" altLang="sv-SE" sz="1200" dirty="0">
                <a:solidFill>
                  <a:srgbClr val="1A2944"/>
                </a:solidFill>
                <a:latin typeface="Times New Roman" panose="02020603050405020304" pitchFamily="18" charset="0"/>
              </a:rPr>
              <a:t>VRIN assets drive </a:t>
            </a:r>
            <a:r>
              <a:rPr lang="sv-SE" altLang="sv-SE" sz="1200" dirty="0" err="1">
                <a:solidFill>
                  <a:srgbClr val="1A2944"/>
                </a:solidFill>
                <a:latin typeface="Times New Roman" panose="02020603050405020304" pitchFamily="18" charset="0"/>
              </a:rPr>
              <a:t>value</a:t>
            </a:r>
            <a:r>
              <a:rPr lang="sv-SE" altLang="sv-SE" sz="1200" dirty="0">
                <a:solidFill>
                  <a:srgbClr val="1A2944"/>
                </a:solidFill>
                <a:latin typeface="Times New Roman" panose="02020603050405020304" pitchFamily="18" charset="0"/>
              </a:rPr>
              <a:t> </a:t>
            </a:r>
            <a:r>
              <a:rPr lang="sv-SE" altLang="sv-SE" sz="1200" dirty="0" err="1">
                <a:solidFill>
                  <a:srgbClr val="1A2944"/>
                </a:solidFill>
                <a:latin typeface="Times New Roman" panose="02020603050405020304" pitchFamily="18" charset="0"/>
              </a:rPr>
              <a:t>creation</a:t>
            </a:r>
            <a:endParaRPr lang="sv-SE" altLang="sv-SE" sz="1200" dirty="0">
              <a:latin typeface="Times New Roman" panose="02020603050405020304" pitchFamily="18" charset="0"/>
            </a:endParaRPr>
          </a:p>
          <a:p>
            <a:pPr>
              <a:lnSpc>
                <a:spcPts val="1247"/>
              </a:lnSpc>
              <a:spcBef>
                <a:spcPct val="0"/>
              </a:spcBef>
              <a:buFontTx/>
              <a:buChar char="-"/>
            </a:pPr>
            <a:r>
              <a:rPr lang="sv-SE" altLang="sv-SE" sz="1200" dirty="0" err="1">
                <a:solidFill>
                  <a:srgbClr val="1A2944"/>
                </a:solidFill>
                <a:latin typeface="Times New Roman" panose="02020603050405020304" pitchFamily="18" charset="0"/>
              </a:rPr>
              <a:t>barriers</a:t>
            </a:r>
            <a:r>
              <a:rPr lang="sv-SE" altLang="sv-SE" sz="1200" dirty="0">
                <a:solidFill>
                  <a:srgbClr val="1A2944"/>
                </a:solidFill>
                <a:latin typeface="Times New Roman" panose="02020603050405020304" pitchFamily="18" charset="0"/>
              </a:rPr>
              <a:t> to </a:t>
            </a:r>
            <a:r>
              <a:rPr lang="sv-SE" altLang="sv-SE" sz="1200" dirty="0" err="1">
                <a:solidFill>
                  <a:srgbClr val="1A2944"/>
                </a:solidFill>
                <a:latin typeface="Times New Roman" panose="02020603050405020304" pitchFamily="18" charset="0"/>
              </a:rPr>
              <a:t>competition</a:t>
            </a:r>
            <a:r>
              <a:rPr lang="sv-SE" altLang="sv-SE" sz="1200" dirty="0">
                <a:solidFill>
                  <a:srgbClr val="1A2944"/>
                </a:solidFill>
                <a:latin typeface="Times New Roman" panose="02020603050405020304" pitchFamily="18" charset="0"/>
              </a:rPr>
              <a:t> </a:t>
            </a:r>
            <a:r>
              <a:rPr lang="sv-SE" altLang="sv-SE" sz="1200" dirty="0" err="1">
                <a:solidFill>
                  <a:srgbClr val="1A2944"/>
                </a:solidFill>
                <a:latin typeface="Times New Roman" panose="02020603050405020304" pitchFamily="18" charset="0"/>
              </a:rPr>
              <a:t>determine</a:t>
            </a:r>
            <a:r>
              <a:rPr lang="sv-SE" altLang="sv-SE" sz="1200" dirty="0">
                <a:solidFill>
                  <a:srgbClr val="1A2944"/>
                </a:solidFill>
                <a:latin typeface="Times New Roman" panose="02020603050405020304" pitchFamily="18" charset="0"/>
              </a:rPr>
              <a:t> </a:t>
            </a:r>
            <a:r>
              <a:rPr lang="sv-SE" altLang="sv-SE" sz="1200" dirty="0" err="1">
                <a:solidFill>
                  <a:srgbClr val="1A2944"/>
                </a:solidFill>
                <a:latin typeface="Times New Roman" panose="02020603050405020304" pitchFamily="18" charset="0"/>
              </a:rPr>
              <a:t>longevity</a:t>
            </a:r>
            <a:endParaRPr lang="sv-SE" altLang="sv-SE" sz="1200" dirty="0">
              <a:latin typeface="Times New Roman" panose="02020603050405020304" pitchFamily="18" charset="0"/>
            </a:endParaRPr>
          </a:p>
          <a:p>
            <a:pPr>
              <a:lnSpc>
                <a:spcPts val="1135"/>
              </a:lnSpc>
              <a:spcBef>
                <a:spcPct val="0"/>
              </a:spcBef>
              <a:buFontTx/>
              <a:buChar char="-"/>
            </a:pPr>
            <a:r>
              <a:rPr lang="sv-SE" altLang="sv-SE" sz="1200" dirty="0">
                <a:solidFill>
                  <a:srgbClr val="1A2944"/>
                </a:solidFill>
                <a:latin typeface="Times New Roman" panose="02020603050405020304" pitchFamily="18" charset="0"/>
              </a:rPr>
              <a:t>all 4 VRIN</a:t>
            </a:r>
            <a:endParaRPr lang="sv-SE" altLang="sv-SE" sz="1200" dirty="0">
              <a:latin typeface="Times New Roman" panose="02020603050405020304" pitchFamily="18" charset="0"/>
            </a:endParaRPr>
          </a:p>
          <a:p>
            <a:pPr>
              <a:lnSpc>
                <a:spcPts val="1247"/>
              </a:lnSpc>
              <a:spcBef>
                <a:spcPts val="103"/>
              </a:spcBef>
            </a:pPr>
            <a:r>
              <a:rPr lang="sv-SE" altLang="sv-SE" sz="1200" dirty="0" err="1">
                <a:solidFill>
                  <a:srgbClr val="1A2944"/>
                </a:solidFill>
                <a:latin typeface="Times New Roman" panose="02020603050405020304" pitchFamily="18" charset="0"/>
              </a:rPr>
              <a:t>traits</a:t>
            </a:r>
            <a:r>
              <a:rPr lang="sv-SE" altLang="sv-SE" sz="1200" dirty="0">
                <a:solidFill>
                  <a:srgbClr val="1A2944"/>
                </a:solidFill>
                <a:latin typeface="Times New Roman" panose="02020603050405020304" pitchFamily="18" charset="0"/>
              </a:rPr>
              <a:t> </a:t>
            </a:r>
            <a:r>
              <a:rPr lang="sv-SE" altLang="sv-SE" sz="1200" dirty="0" err="1">
                <a:solidFill>
                  <a:srgbClr val="1A2944"/>
                </a:solidFill>
                <a:latin typeface="Times New Roman" panose="02020603050405020304" pitchFamily="18" charset="0"/>
              </a:rPr>
              <a:t>necessary</a:t>
            </a:r>
            <a:r>
              <a:rPr lang="sv-SE" altLang="sv-SE" sz="1200" dirty="0">
                <a:solidFill>
                  <a:srgbClr val="1A2944"/>
                </a:solidFill>
                <a:latin typeface="Times New Roman" panose="02020603050405020304" pitchFamily="18" charset="0"/>
              </a:rPr>
              <a:t> to </a:t>
            </a:r>
            <a:r>
              <a:rPr lang="sv-SE" altLang="sv-SE" sz="1200" dirty="0" err="1">
                <a:solidFill>
                  <a:srgbClr val="1A2944"/>
                </a:solidFill>
                <a:latin typeface="Times New Roman" panose="02020603050405020304" pitchFamily="18" charset="0"/>
              </a:rPr>
              <a:t>sustain</a:t>
            </a:r>
            <a:r>
              <a:rPr lang="sv-SE" altLang="sv-SE" sz="1200" dirty="0">
                <a:solidFill>
                  <a:srgbClr val="1A2944"/>
                </a:solidFill>
                <a:latin typeface="Times New Roman" panose="02020603050405020304" pitchFamily="18" charset="0"/>
              </a:rPr>
              <a:t> </a:t>
            </a:r>
            <a:r>
              <a:rPr lang="sv-SE" altLang="sv-SE" sz="1200" dirty="0" err="1">
                <a:solidFill>
                  <a:srgbClr val="1A2944"/>
                </a:solidFill>
                <a:latin typeface="Times New Roman" panose="02020603050405020304" pitchFamily="18" charset="0"/>
              </a:rPr>
              <a:t>advantage</a:t>
            </a:r>
            <a:endParaRPr lang="sv-SE" altLang="sv-SE" sz="1200" dirty="0">
              <a:latin typeface="Times New Roman" panose="02020603050405020304" pitchFamily="18" charset="0"/>
            </a:endParaRPr>
          </a:p>
        </p:txBody>
      </p:sp>
      <p:sp>
        <p:nvSpPr>
          <p:cNvPr id="11275" name="object 10">
            <a:extLst>
              <a:ext uri="{FF2B5EF4-FFF2-40B4-BE49-F238E27FC236}">
                <a16:creationId xmlns:a16="http://schemas.microsoft.com/office/drawing/2014/main" id="{9C2625D8-DC6E-212C-41C7-55CD410F6B42}"/>
              </a:ext>
            </a:extLst>
          </p:cNvPr>
          <p:cNvSpPr>
            <a:spLocks/>
          </p:cNvSpPr>
          <p:nvPr/>
        </p:nvSpPr>
        <p:spPr bwMode="auto">
          <a:xfrm>
            <a:off x="5556648" y="1819276"/>
            <a:ext cx="316706" cy="317897"/>
          </a:xfrm>
          <a:custGeom>
            <a:avLst/>
            <a:gdLst>
              <a:gd name="T0" fmla="*/ 211074 w 422275"/>
              <a:gd name="T1" fmla="*/ 0 h 424180"/>
              <a:gd name="T2" fmla="*/ 162672 w 422275"/>
              <a:gd name="T3" fmla="*/ 5544 h 424180"/>
              <a:gd name="T4" fmla="*/ 118243 w 422275"/>
              <a:gd name="T5" fmla="*/ 21327 h 424180"/>
              <a:gd name="T6" fmla="*/ 79052 w 422275"/>
              <a:gd name="T7" fmla="*/ 46093 h 424180"/>
              <a:gd name="T8" fmla="*/ 46366 w 422275"/>
              <a:gd name="T9" fmla="*/ 78587 h 424180"/>
              <a:gd name="T10" fmla="*/ 21451 w 422275"/>
              <a:gd name="T11" fmla="*/ 117540 h 424180"/>
              <a:gd name="T12" fmla="*/ 5573 w 422275"/>
              <a:gd name="T13" fmla="*/ 161693 h 424180"/>
              <a:gd name="T14" fmla="*/ 0 w 422275"/>
              <a:gd name="T15" fmla="*/ 209788 h 424180"/>
              <a:gd name="T16" fmla="*/ 5573 w 422275"/>
              <a:gd name="T17" fmla="*/ 257881 h 424180"/>
              <a:gd name="T18" fmla="*/ 21451 w 422275"/>
              <a:gd name="T19" fmla="*/ 302034 h 424180"/>
              <a:gd name="T20" fmla="*/ 46366 w 422275"/>
              <a:gd name="T21" fmla="*/ 340987 h 424180"/>
              <a:gd name="T22" fmla="*/ 79052 w 422275"/>
              <a:gd name="T23" fmla="*/ 373477 h 424180"/>
              <a:gd name="T24" fmla="*/ 118243 w 422275"/>
              <a:gd name="T25" fmla="*/ 398246 h 424180"/>
              <a:gd name="T26" fmla="*/ 162672 w 422275"/>
              <a:gd name="T27" fmla="*/ 414031 h 424180"/>
              <a:gd name="T28" fmla="*/ 211074 w 422275"/>
              <a:gd name="T29" fmla="*/ 419574 h 424180"/>
              <a:gd name="T30" fmla="*/ 259475 w 422275"/>
              <a:gd name="T31" fmla="*/ 414031 h 424180"/>
              <a:gd name="T32" fmla="*/ 303904 w 422275"/>
              <a:gd name="T33" fmla="*/ 398246 h 424180"/>
              <a:gd name="T34" fmla="*/ 343095 w 422275"/>
              <a:gd name="T35" fmla="*/ 373477 h 424180"/>
              <a:gd name="T36" fmla="*/ 375781 w 422275"/>
              <a:gd name="T37" fmla="*/ 340987 h 424180"/>
              <a:gd name="T38" fmla="*/ 400696 w 422275"/>
              <a:gd name="T39" fmla="*/ 302034 h 424180"/>
              <a:gd name="T40" fmla="*/ 416574 w 422275"/>
              <a:gd name="T41" fmla="*/ 257881 h 424180"/>
              <a:gd name="T42" fmla="*/ 422148 w 422275"/>
              <a:gd name="T43" fmla="*/ 209788 h 424180"/>
              <a:gd name="T44" fmla="*/ 416574 w 422275"/>
              <a:gd name="T45" fmla="*/ 161693 h 424180"/>
              <a:gd name="T46" fmla="*/ 400696 w 422275"/>
              <a:gd name="T47" fmla="*/ 117540 h 424180"/>
              <a:gd name="T48" fmla="*/ 375781 w 422275"/>
              <a:gd name="T49" fmla="*/ 78587 h 424180"/>
              <a:gd name="T50" fmla="*/ 343095 w 422275"/>
              <a:gd name="T51" fmla="*/ 46093 h 424180"/>
              <a:gd name="T52" fmla="*/ 303904 w 422275"/>
              <a:gd name="T53" fmla="*/ 21327 h 424180"/>
              <a:gd name="T54" fmla="*/ 259475 w 422275"/>
              <a:gd name="T55" fmla="*/ 5544 h 424180"/>
              <a:gd name="T56" fmla="*/ 211074 w 422275"/>
              <a:gd name="T57" fmla="*/ 0 h 424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22275" h="424180">
                <a:moveTo>
                  <a:pt x="211074" y="0"/>
                </a:moveTo>
                <a:lnTo>
                  <a:pt x="162672" y="5596"/>
                </a:lnTo>
                <a:lnTo>
                  <a:pt x="118243" y="21535"/>
                </a:lnTo>
                <a:lnTo>
                  <a:pt x="79052" y="46546"/>
                </a:lnTo>
                <a:lnTo>
                  <a:pt x="46366" y="79354"/>
                </a:lnTo>
                <a:lnTo>
                  <a:pt x="21451" y="118687"/>
                </a:lnTo>
                <a:lnTo>
                  <a:pt x="5573" y="163272"/>
                </a:lnTo>
                <a:lnTo>
                  <a:pt x="0" y="211836"/>
                </a:lnTo>
                <a:lnTo>
                  <a:pt x="5573" y="260399"/>
                </a:lnTo>
                <a:lnTo>
                  <a:pt x="21451" y="304984"/>
                </a:lnTo>
                <a:lnTo>
                  <a:pt x="46366" y="344317"/>
                </a:lnTo>
                <a:lnTo>
                  <a:pt x="79052" y="377125"/>
                </a:lnTo>
                <a:lnTo>
                  <a:pt x="118243" y="402136"/>
                </a:lnTo>
                <a:lnTo>
                  <a:pt x="162672" y="418075"/>
                </a:lnTo>
                <a:lnTo>
                  <a:pt x="211074" y="423671"/>
                </a:lnTo>
                <a:lnTo>
                  <a:pt x="259475" y="418075"/>
                </a:lnTo>
                <a:lnTo>
                  <a:pt x="303904" y="402136"/>
                </a:lnTo>
                <a:lnTo>
                  <a:pt x="343095" y="377125"/>
                </a:lnTo>
                <a:lnTo>
                  <a:pt x="375781" y="344317"/>
                </a:lnTo>
                <a:lnTo>
                  <a:pt x="400696" y="304984"/>
                </a:lnTo>
                <a:lnTo>
                  <a:pt x="416574" y="260399"/>
                </a:lnTo>
                <a:lnTo>
                  <a:pt x="422148" y="211836"/>
                </a:lnTo>
                <a:lnTo>
                  <a:pt x="416574" y="163272"/>
                </a:lnTo>
                <a:lnTo>
                  <a:pt x="400696" y="118687"/>
                </a:lnTo>
                <a:lnTo>
                  <a:pt x="375781" y="79354"/>
                </a:lnTo>
                <a:lnTo>
                  <a:pt x="343095" y="46546"/>
                </a:lnTo>
                <a:lnTo>
                  <a:pt x="303904" y="21535"/>
                </a:lnTo>
                <a:lnTo>
                  <a:pt x="259475" y="5596"/>
                </a:lnTo>
                <a:lnTo>
                  <a:pt x="211074" y="0"/>
                </a:lnTo>
                <a:close/>
              </a:path>
            </a:pathLst>
          </a:custGeom>
          <a:solidFill>
            <a:srgbClr val="1EBBE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1276" name="object 11">
            <a:extLst>
              <a:ext uri="{FF2B5EF4-FFF2-40B4-BE49-F238E27FC236}">
                <a16:creationId xmlns:a16="http://schemas.microsoft.com/office/drawing/2014/main" id="{9627CD40-A348-3A0F-ED4B-3E242BE4AF6C}"/>
              </a:ext>
            </a:extLst>
          </p:cNvPr>
          <p:cNvSpPr>
            <a:spLocks/>
          </p:cNvSpPr>
          <p:nvPr/>
        </p:nvSpPr>
        <p:spPr bwMode="auto">
          <a:xfrm>
            <a:off x="5556648" y="1819276"/>
            <a:ext cx="316706" cy="317897"/>
          </a:xfrm>
          <a:custGeom>
            <a:avLst/>
            <a:gdLst>
              <a:gd name="T0" fmla="*/ 0 w 422275"/>
              <a:gd name="T1" fmla="*/ 209788 h 424180"/>
              <a:gd name="T2" fmla="*/ 5573 w 422275"/>
              <a:gd name="T3" fmla="*/ 161693 h 424180"/>
              <a:gd name="T4" fmla="*/ 21451 w 422275"/>
              <a:gd name="T5" fmla="*/ 117540 h 424180"/>
              <a:gd name="T6" fmla="*/ 46366 w 422275"/>
              <a:gd name="T7" fmla="*/ 78587 h 424180"/>
              <a:gd name="T8" fmla="*/ 79052 w 422275"/>
              <a:gd name="T9" fmla="*/ 46093 h 424180"/>
              <a:gd name="T10" fmla="*/ 118243 w 422275"/>
              <a:gd name="T11" fmla="*/ 21327 h 424180"/>
              <a:gd name="T12" fmla="*/ 162672 w 422275"/>
              <a:gd name="T13" fmla="*/ 5544 h 424180"/>
              <a:gd name="T14" fmla="*/ 211074 w 422275"/>
              <a:gd name="T15" fmla="*/ 0 h 424180"/>
              <a:gd name="T16" fmla="*/ 259475 w 422275"/>
              <a:gd name="T17" fmla="*/ 5544 h 424180"/>
              <a:gd name="T18" fmla="*/ 303904 w 422275"/>
              <a:gd name="T19" fmla="*/ 21327 h 424180"/>
              <a:gd name="T20" fmla="*/ 343095 w 422275"/>
              <a:gd name="T21" fmla="*/ 46093 h 424180"/>
              <a:gd name="T22" fmla="*/ 375781 w 422275"/>
              <a:gd name="T23" fmla="*/ 78587 h 424180"/>
              <a:gd name="T24" fmla="*/ 400696 w 422275"/>
              <a:gd name="T25" fmla="*/ 117540 h 424180"/>
              <a:gd name="T26" fmla="*/ 416574 w 422275"/>
              <a:gd name="T27" fmla="*/ 161693 h 424180"/>
              <a:gd name="T28" fmla="*/ 422148 w 422275"/>
              <a:gd name="T29" fmla="*/ 209788 h 424180"/>
              <a:gd name="T30" fmla="*/ 416574 w 422275"/>
              <a:gd name="T31" fmla="*/ 257881 h 424180"/>
              <a:gd name="T32" fmla="*/ 400696 w 422275"/>
              <a:gd name="T33" fmla="*/ 302034 h 424180"/>
              <a:gd name="T34" fmla="*/ 375781 w 422275"/>
              <a:gd name="T35" fmla="*/ 340987 h 424180"/>
              <a:gd name="T36" fmla="*/ 343095 w 422275"/>
              <a:gd name="T37" fmla="*/ 373477 h 424180"/>
              <a:gd name="T38" fmla="*/ 303904 w 422275"/>
              <a:gd name="T39" fmla="*/ 398246 h 424180"/>
              <a:gd name="T40" fmla="*/ 259475 w 422275"/>
              <a:gd name="T41" fmla="*/ 414031 h 424180"/>
              <a:gd name="T42" fmla="*/ 211074 w 422275"/>
              <a:gd name="T43" fmla="*/ 419574 h 424180"/>
              <a:gd name="T44" fmla="*/ 162672 w 422275"/>
              <a:gd name="T45" fmla="*/ 414031 h 424180"/>
              <a:gd name="T46" fmla="*/ 118243 w 422275"/>
              <a:gd name="T47" fmla="*/ 398246 h 424180"/>
              <a:gd name="T48" fmla="*/ 79052 w 422275"/>
              <a:gd name="T49" fmla="*/ 373477 h 424180"/>
              <a:gd name="T50" fmla="*/ 46366 w 422275"/>
              <a:gd name="T51" fmla="*/ 340987 h 424180"/>
              <a:gd name="T52" fmla="*/ 21451 w 422275"/>
              <a:gd name="T53" fmla="*/ 302034 h 424180"/>
              <a:gd name="T54" fmla="*/ 5573 w 422275"/>
              <a:gd name="T55" fmla="*/ 257881 h 424180"/>
              <a:gd name="T56" fmla="*/ 0 w 422275"/>
              <a:gd name="T57" fmla="*/ 209788 h 424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22275" h="424180">
                <a:moveTo>
                  <a:pt x="0" y="211836"/>
                </a:moveTo>
                <a:lnTo>
                  <a:pt x="5573" y="163272"/>
                </a:lnTo>
                <a:lnTo>
                  <a:pt x="21451" y="118687"/>
                </a:lnTo>
                <a:lnTo>
                  <a:pt x="46366" y="79354"/>
                </a:lnTo>
                <a:lnTo>
                  <a:pt x="79052" y="46546"/>
                </a:lnTo>
                <a:lnTo>
                  <a:pt x="118243" y="21535"/>
                </a:lnTo>
                <a:lnTo>
                  <a:pt x="162672" y="5596"/>
                </a:lnTo>
                <a:lnTo>
                  <a:pt x="211074" y="0"/>
                </a:lnTo>
                <a:lnTo>
                  <a:pt x="259475" y="5596"/>
                </a:lnTo>
                <a:lnTo>
                  <a:pt x="303904" y="21535"/>
                </a:lnTo>
                <a:lnTo>
                  <a:pt x="343095" y="46546"/>
                </a:lnTo>
                <a:lnTo>
                  <a:pt x="375781" y="79354"/>
                </a:lnTo>
                <a:lnTo>
                  <a:pt x="400696" y="118687"/>
                </a:lnTo>
                <a:lnTo>
                  <a:pt x="416574" y="163272"/>
                </a:lnTo>
                <a:lnTo>
                  <a:pt x="422148" y="211836"/>
                </a:lnTo>
                <a:lnTo>
                  <a:pt x="416574" y="260399"/>
                </a:lnTo>
                <a:lnTo>
                  <a:pt x="400696" y="304984"/>
                </a:lnTo>
                <a:lnTo>
                  <a:pt x="375781" y="344317"/>
                </a:lnTo>
                <a:lnTo>
                  <a:pt x="343095" y="377125"/>
                </a:lnTo>
                <a:lnTo>
                  <a:pt x="303904" y="402136"/>
                </a:lnTo>
                <a:lnTo>
                  <a:pt x="259475" y="418075"/>
                </a:lnTo>
                <a:lnTo>
                  <a:pt x="211074" y="423671"/>
                </a:lnTo>
                <a:lnTo>
                  <a:pt x="162672" y="418075"/>
                </a:lnTo>
                <a:lnTo>
                  <a:pt x="118243" y="402136"/>
                </a:lnTo>
                <a:lnTo>
                  <a:pt x="79052" y="377125"/>
                </a:lnTo>
                <a:lnTo>
                  <a:pt x="46366" y="344317"/>
                </a:lnTo>
                <a:lnTo>
                  <a:pt x="21451" y="304984"/>
                </a:lnTo>
                <a:lnTo>
                  <a:pt x="5573" y="260399"/>
                </a:lnTo>
                <a:lnTo>
                  <a:pt x="0" y="211836"/>
                </a:lnTo>
                <a:close/>
              </a:path>
            </a:pathLst>
          </a:custGeom>
          <a:noFill/>
          <a:ln w="25908">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da-DK" sz="1350"/>
          </a:p>
        </p:txBody>
      </p:sp>
      <p:sp>
        <p:nvSpPr>
          <p:cNvPr id="11277" name="object 12">
            <a:extLst>
              <a:ext uri="{FF2B5EF4-FFF2-40B4-BE49-F238E27FC236}">
                <a16:creationId xmlns:a16="http://schemas.microsoft.com/office/drawing/2014/main" id="{BDD671CE-99EE-AE57-6FB0-CB163A794F4A}"/>
              </a:ext>
            </a:extLst>
          </p:cNvPr>
          <p:cNvSpPr txBox="1">
            <a:spLocks noChangeArrowheads="1"/>
          </p:cNvSpPr>
          <p:nvPr/>
        </p:nvSpPr>
        <p:spPr bwMode="auto">
          <a:xfrm>
            <a:off x="5944791" y="1871663"/>
            <a:ext cx="1702594" cy="214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spcBef>
                <a:spcPct val="0"/>
              </a:spcBef>
            </a:pPr>
            <a:r>
              <a:rPr lang="sv-SE" altLang="sv-SE" sz="2100" b="1">
                <a:solidFill>
                  <a:srgbClr val="1A2944"/>
                </a:solidFill>
                <a:latin typeface="Times New Roman" panose="02020603050405020304" pitchFamily="18" charset="0"/>
              </a:rPr>
              <a:t>Dynamic Capabilities</a:t>
            </a:r>
            <a:endParaRPr lang="en-US" altLang="sv-SE" sz="2100" b="1">
              <a:solidFill>
                <a:srgbClr val="1A2944"/>
              </a:solidFill>
              <a:latin typeface="Times New Roman" panose="02020603050405020304" pitchFamily="18" charset="0"/>
            </a:endParaRPr>
          </a:p>
          <a:p>
            <a:pPr>
              <a:spcBef>
                <a:spcPct val="0"/>
              </a:spcBef>
            </a:pPr>
            <a:endParaRPr lang="en-US" altLang="sv-SE" sz="1200" b="1">
              <a:solidFill>
                <a:srgbClr val="1A2944"/>
              </a:solidFill>
              <a:latin typeface="Times New Roman" panose="02020603050405020304" pitchFamily="18" charset="0"/>
            </a:endParaRPr>
          </a:p>
          <a:p>
            <a:pPr>
              <a:spcBef>
                <a:spcPct val="0"/>
              </a:spcBef>
            </a:pPr>
            <a:r>
              <a:rPr lang="en-US" altLang="sv-SE" sz="1200" b="1">
                <a:solidFill>
                  <a:srgbClr val="1A2944"/>
                </a:solidFill>
                <a:latin typeface="Times New Roman" panose="02020603050405020304" pitchFamily="18" charset="0"/>
              </a:rPr>
              <a:t>-Markets are dynamic and competition is often disruptive</a:t>
            </a:r>
          </a:p>
          <a:p>
            <a:pPr>
              <a:spcBef>
                <a:spcPct val="0"/>
              </a:spcBef>
            </a:pPr>
            <a:r>
              <a:rPr lang="en-US" altLang="sv-SE" sz="1200" b="1">
                <a:solidFill>
                  <a:srgbClr val="1A2944"/>
                </a:solidFill>
                <a:latin typeface="Times New Roman" panose="02020603050405020304" pitchFamily="18" charset="0"/>
              </a:rPr>
              <a:t>-Asset orchestration &amp; strategy </a:t>
            </a:r>
            <a:r>
              <a:rPr lang="sv-SE" altLang="sv-SE" sz="1200" b="1">
                <a:solidFill>
                  <a:srgbClr val="1A2944"/>
                </a:solidFill>
                <a:latin typeface="Times New Roman" panose="02020603050405020304" pitchFamily="18" charset="0"/>
              </a:rPr>
              <a:t>drive advantage</a:t>
            </a:r>
            <a:endParaRPr lang="sv-SE" altLang="sv-SE" sz="1200">
              <a:latin typeface="Times New Roman" panose="02020603050405020304" pitchFamily="18" charset="0"/>
            </a:endParaRPr>
          </a:p>
          <a:p>
            <a:pPr>
              <a:lnSpc>
                <a:spcPct val="86000"/>
              </a:lnSpc>
              <a:spcBef>
                <a:spcPts val="600"/>
              </a:spcBef>
            </a:pPr>
            <a:r>
              <a:rPr lang="en-US" altLang="sv-SE" sz="1200" b="1">
                <a:solidFill>
                  <a:srgbClr val="1A2944"/>
                </a:solidFill>
                <a:latin typeface="Times New Roman" panose="02020603050405020304" pitchFamily="18" charset="0"/>
              </a:rPr>
              <a:t>-</a:t>
            </a:r>
            <a:r>
              <a:rPr lang="sv-SE" altLang="sv-SE" sz="1200" b="1">
                <a:solidFill>
                  <a:srgbClr val="1A2944"/>
                </a:solidFill>
                <a:latin typeface="Times New Roman" panose="02020603050405020304" pitchFamily="18" charset="0"/>
              </a:rPr>
              <a:t>Reshaping ecosystems &amp; biz models is critical</a:t>
            </a:r>
            <a:endParaRPr lang="sv-SE" altLang="sv-SE" sz="1200">
              <a:latin typeface="Times New Roman" panose="02020603050405020304" pitchFamily="18" charset="0"/>
            </a:endParaRPr>
          </a:p>
        </p:txBody>
      </p:sp>
      <p:sp>
        <p:nvSpPr>
          <p:cNvPr id="11278" name="object 13">
            <a:extLst>
              <a:ext uri="{FF2B5EF4-FFF2-40B4-BE49-F238E27FC236}">
                <a16:creationId xmlns:a16="http://schemas.microsoft.com/office/drawing/2014/main" id="{735EE36C-1974-9CB6-8E2F-4816D424C719}"/>
              </a:ext>
            </a:extLst>
          </p:cNvPr>
          <p:cNvSpPr>
            <a:spLocks/>
          </p:cNvSpPr>
          <p:nvPr/>
        </p:nvSpPr>
        <p:spPr bwMode="auto">
          <a:xfrm>
            <a:off x="1884760" y="4558903"/>
            <a:ext cx="5375672" cy="128588"/>
          </a:xfrm>
          <a:custGeom>
            <a:avLst/>
            <a:gdLst>
              <a:gd name="T0" fmla="*/ 7088073 w 7167880"/>
              <a:gd name="T1" fmla="*/ 85573 h 171450"/>
              <a:gd name="T2" fmla="*/ 7002039 w 7167880"/>
              <a:gd name="T3" fmla="*/ 135789 h 171450"/>
              <a:gd name="T4" fmla="*/ 6996420 w 7167880"/>
              <a:gd name="T5" fmla="*/ 140822 h 171450"/>
              <a:gd name="T6" fmla="*/ 6993241 w 7167880"/>
              <a:gd name="T7" fmla="*/ 147400 h 171450"/>
              <a:gd name="T8" fmla="*/ 6992747 w 7167880"/>
              <a:gd name="T9" fmla="*/ 154688 h 171450"/>
              <a:gd name="T10" fmla="*/ 6995192 w 7167880"/>
              <a:gd name="T11" fmla="*/ 161849 h 171450"/>
              <a:gd name="T12" fmla="*/ 7000231 w 7167880"/>
              <a:gd name="T13" fmla="*/ 167497 h 171450"/>
              <a:gd name="T14" fmla="*/ 7006817 w 7167880"/>
              <a:gd name="T15" fmla="*/ 170670 h 171450"/>
              <a:gd name="T16" fmla="*/ 7014094 w 7167880"/>
              <a:gd name="T17" fmla="*/ 171147 h 171450"/>
              <a:gd name="T18" fmla="*/ 7021203 w 7167880"/>
              <a:gd name="T19" fmla="*/ 168707 h 171450"/>
              <a:gd name="T20" fmla="*/ 7130988 w 7167880"/>
              <a:gd name="T21" fmla="*/ 104623 h 171450"/>
              <a:gd name="T22" fmla="*/ 7125926 w 7167880"/>
              <a:gd name="T23" fmla="*/ 104623 h 171450"/>
              <a:gd name="T24" fmla="*/ 7125926 w 7167880"/>
              <a:gd name="T25" fmla="*/ 102032 h 171450"/>
              <a:gd name="T26" fmla="*/ 7116274 w 7167880"/>
              <a:gd name="T27" fmla="*/ 102032 h 171450"/>
              <a:gd name="T28" fmla="*/ 7088073 w 7167880"/>
              <a:gd name="T29" fmla="*/ 85573 h 171450"/>
              <a:gd name="T30" fmla="*/ 7055440 w 7167880"/>
              <a:gd name="T31" fmla="*/ 66523 h 171450"/>
              <a:gd name="T32" fmla="*/ 0 w 7167880"/>
              <a:gd name="T33" fmla="*/ 66523 h 171450"/>
              <a:gd name="T34" fmla="*/ 0 w 7167880"/>
              <a:gd name="T35" fmla="*/ 104623 h 171450"/>
              <a:gd name="T36" fmla="*/ 7055440 w 7167880"/>
              <a:gd name="T37" fmla="*/ 104623 h 171450"/>
              <a:gd name="T38" fmla="*/ 7088073 w 7167880"/>
              <a:gd name="T39" fmla="*/ 85573 h 171450"/>
              <a:gd name="T40" fmla="*/ 7055440 w 7167880"/>
              <a:gd name="T41" fmla="*/ 66523 h 171450"/>
              <a:gd name="T42" fmla="*/ 7130988 w 7167880"/>
              <a:gd name="T43" fmla="*/ 66523 h 171450"/>
              <a:gd name="T44" fmla="*/ 7125926 w 7167880"/>
              <a:gd name="T45" fmla="*/ 66523 h 171450"/>
              <a:gd name="T46" fmla="*/ 7125926 w 7167880"/>
              <a:gd name="T47" fmla="*/ 104623 h 171450"/>
              <a:gd name="T48" fmla="*/ 7130988 w 7167880"/>
              <a:gd name="T49" fmla="*/ 104623 h 171450"/>
              <a:gd name="T50" fmla="*/ 7163619 w 7167880"/>
              <a:gd name="T51" fmla="*/ 85573 h 171450"/>
              <a:gd name="T52" fmla="*/ 7130988 w 7167880"/>
              <a:gd name="T53" fmla="*/ 66523 h 171450"/>
              <a:gd name="T54" fmla="*/ 7116274 w 7167880"/>
              <a:gd name="T55" fmla="*/ 69114 h 171450"/>
              <a:gd name="T56" fmla="*/ 7088073 w 7167880"/>
              <a:gd name="T57" fmla="*/ 85573 h 171450"/>
              <a:gd name="T58" fmla="*/ 7116274 w 7167880"/>
              <a:gd name="T59" fmla="*/ 102032 h 171450"/>
              <a:gd name="T60" fmla="*/ 7116274 w 7167880"/>
              <a:gd name="T61" fmla="*/ 69114 h 171450"/>
              <a:gd name="T62" fmla="*/ 7125926 w 7167880"/>
              <a:gd name="T63" fmla="*/ 69114 h 171450"/>
              <a:gd name="T64" fmla="*/ 7116274 w 7167880"/>
              <a:gd name="T65" fmla="*/ 69114 h 171450"/>
              <a:gd name="T66" fmla="*/ 7116274 w 7167880"/>
              <a:gd name="T67" fmla="*/ 102032 h 171450"/>
              <a:gd name="T68" fmla="*/ 7125926 w 7167880"/>
              <a:gd name="T69" fmla="*/ 102032 h 171450"/>
              <a:gd name="T70" fmla="*/ 7125926 w 7167880"/>
              <a:gd name="T71" fmla="*/ 69114 h 171450"/>
              <a:gd name="T72" fmla="*/ 7014094 w 7167880"/>
              <a:gd name="T73" fmla="*/ 0 h 171450"/>
              <a:gd name="T74" fmla="*/ 7006817 w 7167880"/>
              <a:gd name="T75" fmla="*/ 477 h 171450"/>
              <a:gd name="T76" fmla="*/ 7000231 w 7167880"/>
              <a:gd name="T77" fmla="*/ 3650 h 171450"/>
              <a:gd name="T78" fmla="*/ 6995192 w 7167880"/>
              <a:gd name="T79" fmla="*/ 9297 h 171450"/>
              <a:gd name="T80" fmla="*/ 6992747 w 7167880"/>
              <a:gd name="T81" fmla="*/ 16459 h 171450"/>
              <a:gd name="T82" fmla="*/ 6993241 w 7167880"/>
              <a:gd name="T83" fmla="*/ 23747 h 171450"/>
              <a:gd name="T84" fmla="*/ 6996420 w 7167880"/>
              <a:gd name="T85" fmla="*/ 30325 h 171450"/>
              <a:gd name="T86" fmla="*/ 7002039 w 7167880"/>
              <a:gd name="T87" fmla="*/ 35357 h 171450"/>
              <a:gd name="T88" fmla="*/ 7088073 w 7167880"/>
              <a:gd name="T89" fmla="*/ 85573 h 171450"/>
              <a:gd name="T90" fmla="*/ 7116274 w 7167880"/>
              <a:gd name="T91" fmla="*/ 69114 h 171450"/>
              <a:gd name="T92" fmla="*/ 7125926 w 7167880"/>
              <a:gd name="T93" fmla="*/ 69114 h 171450"/>
              <a:gd name="T94" fmla="*/ 7125926 w 7167880"/>
              <a:gd name="T95" fmla="*/ 66523 h 171450"/>
              <a:gd name="T96" fmla="*/ 7130988 w 7167880"/>
              <a:gd name="T97" fmla="*/ 66523 h 171450"/>
              <a:gd name="T98" fmla="*/ 7021203 w 7167880"/>
              <a:gd name="T99" fmla="*/ 2439 h 171450"/>
              <a:gd name="T100" fmla="*/ 7014094 w 7167880"/>
              <a:gd name="T101" fmla="*/ 0 h 1714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7167880" h="171450">
                <a:moveTo>
                  <a:pt x="7092166" y="85573"/>
                </a:moveTo>
                <a:lnTo>
                  <a:pt x="7006082" y="135789"/>
                </a:lnTo>
                <a:lnTo>
                  <a:pt x="7000456" y="140822"/>
                </a:lnTo>
                <a:lnTo>
                  <a:pt x="6997271" y="147400"/>
                </a:lnTo>
                <a:lnTo>
                  <a:pt x="6996777" y="154688"/>
                </a:lnTo>
                <a:lnTo>
                  <a:pt x="6999224" y="161849"/>
                </a:lnTo>
                <a:lnTo>
                  <a:pt x="7004274" y="167497"/>
                </a:lnTo>
                <a:lnTo>
                  <a:pt x="7010860" y="170670"/>
                </a:lnTo>
                <a:lnTo>
                  <a:pt x="7018137" y="171147"/>
                </a:lnTo>
                <a:lnTo>
                  <a:pt x="7025259" y="168707"/>
                </a:lnTo>
                <a:lnTo>
                  <a:pt x="7135100" y="104623"/>
                </a:lnTo>
                <a:lnTo>
                  <a:pt x="7130034" y="104623"/>
                </a:lnTo>
                <a:lnTo>
                  <a:pt x="7130034" y="102032"/>
                </a:lnTo>
                <a:lnTo>
                  <a:pt x="7120382" y="102032"/>
                </a:lnTo>
                <a:lnTo>
                  <a:pt x="7092166" y="85573"/>
                </a:lnTo>
                <a:close/>
              </a:path>
              <a:path w="7167880" h="171450">
                <a:moveTo>
                  <a:pt x="7059509" y="66523"/>
                </a:moveTo>
                <a:lnTo>
                  <a:pt x="0" y="66523"/>
                </a:lnTo>
                <a:lnTo>
                  <a:pt x="0" y="104623"/>
                </a:lnTo>
                <a:lnTo>
                  <a:pt x="7059509" y="104623"/>
                </a:lnTo>
                <a:lnTo>
                  <a:pt x="7092166" y="85573"/>
                </a:lnTo>
                <a:lnTo>
                  <a:pt x="7059509" y="66523"/>
                </a:lnTo>
                <a:close/>
              </a:path>
              <a:path w="7167880" h="171450">
                <a:moveTo>
                  <a:pt x="7135100" y="66523"/>
                </a:moveTo>
                <a:lnTo>
                  <a:pt x="7130034" y="66523"/>
                </a:lnTo>
                <a:lnTo>
                  <a:pt x="7130034" y="104623"/>
                </a:lnTo>
                <a:lnTo>
                  <a:pt x="7135100" y="104623"/>
                </a:lnTo>
                <a:lnTo>
                  <a:pt x="7167753" y="85573"/>
                </a:lnTo>
                <a:lnTo>
                  <a:pt x="7135100" y="66523"/>
                </a:lnTo>
                <a:close/>
              </a:path>
              <a:path w="7167880" h="171450">
                <a:moveTo>
                  <a:pt x="7120382" y="69114"/>
                </a:moveTo>
                <a:lnTo>
                  <a:pt x="7092166" y="85573"/>
                </a:lnTo>
                <a:lnTo>
                  <a:pt x="7120382" y="102032"/>
                </a:lnTo>
                <a:lnTo>
                  <a:pt x="7120382" y="69114"/>
                </a:lnTo>
                <a:close/>
              </a:path>
              <a:path w="7167880" h="171450">
                <a:moveTo>
                  <a:pt x="7130034" y="69114"/>
                </a:moveTo>
                <a:lnTo>
                  <a:pt x="7120382" y="69114"/>
                </a:lnTo>
                <a:lnTo>
                  <a:pt x="7120382" y="102032"/>
                </a:lnTo>
                <a:lnTo>
                  <a:pt x="7130034" y="102032"/>
                </a:lnTo>
                <a:lnTo>
                  <a:pt x="7130034" y="69114"/>
                </a:lnTo>
                <a:close/>
              </a:path>
              <a:path w="7167880" h="171450">
                <a:moveTo>
                  <a:pt x="7018137" y="0"/>
                </a:moveTo>
                <a:lnTo>
                  <a:pt x="7010860" y="477"/>
                </a:lnTo>
                <a:lnTo>
                  <a:pt x="7004274" y="3650"/>
                </a:lnTo>
                <a:lnTo>
                  <a:pt x="6999224" y="9297"/>
                </a:lnTo>
                <a:lnTo>
                  <a:pt x="6996777" y="16459"/>
                </a:lnTo>
                <a:lnTo>
                  <a:pt x="6997271" y="23747"/>
                </a:lnTo>
                <a:lnTo>
                  <a:pt x="7000456" y="30325"/>
                </a:lnTo>
                <a:lnTo>
                  <a:pt x="7006082" y="35357"/>
                </a:lnTo>
                <a:lnTo>
                  <a:pt x="7092166" y="85573"/>
                </a:lnTo>
                <a:lnTo>
                  <a:pt x="7120382" y="69114"/>
                </a:lnTo>
                <a:lnTo>
                  <a:pt x="7130034" y="69114"/>
                </a:lnTo>
                <a:lnTo>
                  <a:pt x="7130034" y="66523"/>
                </a:lnTo>
                <a:lnTo>
                  <a:pt x="7135100" y="66523"/>
                </a:lnTo>
                <a:lnTo>
                  <a:pt x="7025259" y="2439"/>
                </a:lnTo>
                <a:lnTo>
                  <a:pt x="7018137" y="0"/>
                </a:lnTo>
                <a:close/>
              </a:path>
            </a:pathLst>
          </a:custGeom>
          <a:solidFill>
            <a:srgbClr val="17BAE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1279" name="object 14">
            <a:extLst>
              <a:ext uri="{FF2B5EF4-FFF2-40B4-BE49-F238E27FC236}">
                <a16:creationId xmlns:a16="http://schemas.microsoft.com/office/drawing/2014/main" id="{6B6E87FD-B6E4-6981-9D4C-DFF774B9557F}"/>
              </a:ext>
            </a:extLst>
          </p:cNvPr>
          <p:cNvSpPr>
            <a:spLocks/>
          </p:cNvSpPr>
          <p:nvPr/>
        </p:nvSpPr>
        <p:spPr bwMode="auto">
          <a:xfrm>
            <a:off x="2189560" y="1070373"/>
            <a:ext cx="128588" cy="3698081"/>
          </a:xfrm>
          <a:custGeom>
            <a:avLst/>
            <a:gdLst>
              <a:gd name="T0" fmla="*/ 85578 w 171450"/>
              <a:gd name="T1" fmla="*/ 75930 h 4930140"/>
              <a:gd name="T2" fmla="*/ 66528 w 171450"/>
              <a:gd name="T3" fmla="*/ 108640 h 4930140"/>
              <a:gd name="T4" fmla="*/ 66528 w 171450"/>
              <a:gd name="T5" fmla="*/ 4938134 h 4930140"/>
              <a:gd name="T6" fmla="*/ 104628 w 171450"/>
              <a:gd name="T7" fmla="*/ 4938134 h 4930140"/>
              <a:gd name="T8" fmla="*/ 104628 w 171450"/>
              <a:gd name="T9" fmla="*/ 108640 h 4930140"/>
              <a:gd name="T10" fmla="*/ 85578 w 171450"/>
              <a:gd name="T11" fmla="*/ 75930 h 4930140"/>
              <a:gd name="T12" fmla="*/ 85578 w 171450"/>
              <a:gd name="T13" fmla="*/ 0 h 4930140"/>
              <a:gd name="T14" fmla="*/ 2393 w 171450"/>
              <a:gd name="T15" fmla="*/ 142727 h 4930140"/>
              <a:gd name="T16" fmla="*/ 0 w 171450"/>
              <a:gd name="T17" fmla="*/ 149936 h 4930140"/>
              <a:gd name="T18" fmla="*/ 488 w 171450"/>
              <a:gd name="T19" fmla="*/ 157263 h 4930140"/>
              <a:gd name="T20" fmla="*/ 3643 w 171450"/>
              <a:gd name="T21" fmla="*/ 163876 h 4930140"/>
              <a:gd name="T22" fmla="*/ 9251 w 171450"/>
              <a:gd name="T23" fmla="*/ 168941 h 4930140"/>
              <a:gd name="T24" fmla="*/ 16446 w 171450"/>
              <a:gd name="T25" fmla="*/ 171335 h 4930140"/>
              <a:gd name="T26" fmla="*/ 23760 w 171450"/>
              <a:gd name="T27" fmla="*/ 170847 h 4930140"/>
              <a:gd name="T28" fmla="*/ 30360 w 171450"/>
              <a:gd name="T29" fmla="*/ 167691 h 4930140"/>
              <a:gd name="T30" fmla="*/ 35413 w 171450"/>
              <a:gd name="T31" fmla="*/ 162071 h 4930140"/>
              <a:gd name="T32" fmla="*/ 66528 w 171450"/>
              <a:gd name="T33" fmla="*/ 108640 h 4930140"/>
              <a:gd name="T34" fmla="*/ 66528 w 171450"/>
              <a:gd name="T35" fmla="*/ 37783 h 4930140"/>
              <a:gd name="T36" fmla="*/ 107597 w 171450"/>
              <a:gd name="T37" fmla="*/ 37783 h 4930140"/>
              <a:gd name="T38" fmla="*/ 85578 w 171450"/>
              <a:gd name="T39" fmla="*/ 0 h 4930140"/>
              <a:gd name="T40" fmla="*/ 107597 w 171450"/>
              <a:gd name="T41" fmla="*/ 37783 h 4930140"/>
              <a:gd name="T42" fmla="*/ 104628 w 171450"/>
              <a:gd name="T43" fmla="*/ 37783 h 4930140"/>
              <a:gd name="T44" fmla="*/ 104628 w 171450"/>
              <a:gd name="T45" fmla="*/ 108640 h 4930140"/>
              <a:gd name="T46" fmla="*/ 135743 w 171450"/>
              <a:gd name="T47" fmla="*/ 162071 h 4930140"/>
              <a:gd name="T48" fmla="*/ 140795 w 171450"/>
              <a:gd name="T49" fmla="*/ 167691 h 4930140"/>
              <a:gd name="T50" fmla="*/ 147395 w 171450"/>
              <a:gd name="T51" fmla="*/ 170846 h 4930140"/>
              <a:gd name="T52" fmla="*/ 154709 w 171450"/>
              <a:gd name="T53" fmla="*/ 171335 h 4930140"/>
              <a:gd name="T54" fmla="*/ 161905 w 171450"/>
              <a:gd name="T55" fmla="*/ 168941 h 4930140"/>
              <a:gd name="T56" fmla="*/ 167512 w 171450"/>
              <a:gd name="T57" fmla="*/ 163876 h 4930140"/>
              <a:gd name="T58" fmla="*/ 170668 w 171450"/>
              <a:gd name="T59" fmla="*/ 157263 h 4930140"/>
              <a:gd name="T60" fmla="*/ 171156 w 171450"/>
              <a:gd name="T61" fmla="*/ 149936 h 4930140"/>
              <a:gd name="T62" fmla="*/ 168763 w 171450"/>
              <a:gd name="T63" fmla="*/ 142727 h 4930140"/>
              <a:gd name="T64" fmla="*/ 107597 w 171450"/>
              <a:gd name="T65" fmla="*/ 37783 h 4930140"/>
              <a:gd name="T66" fmla="*/ 104628 w 171450"/>
              <a:gd name="T67" fmla="*/ 37783 h 4930140"/>
              <a:gd name="T68" fmla="*/ 66528 w 171450"/>
              <a:gd name="T69" fmla="*/ 37783 h 4930140"/>
              <a:gd name="T70" fmla="*/ 66528 w 171450"/>
              <a:gd name="T71" fmla="*/ 108640 h 4930140"/>
              <a:gd name="T72" fmla="*/ 85578 w 171450"/>
              <a:gd name="T73" fmla="*/ 75930 h 4930140"/>
              <a:gd name="T74" fmla="*/ 69068 w 171450"/>
              <a:gd name="T75" fmla="*/ 47576 h 4930140"/>
              <a:gd name="T76" fmla="*/ 104628 w 171450"/>
              <a:gd name="T77" fmla="*/ 47576 h 4930140"/>
              <a:gd name="T78" fmla="*/ 104628 w 171450"/>
              <a:gd name="T79" fmla="*/ 37783 h 4930140"/>
              <a:gd name="T80" fmla="*/ 104628 w 171450"/>
              <a:gd name="T81" fmla="*/ 47576 h 4930140"/>
              <a:gd name="T82" fmla="*/ 102088 w 171450"/>
              <a:gd name="T83" fmla="*/ 47576 h 4930140"/>
              <a:gd name="T84" fmla="*/ 85578 w 171450"/>
              <a:gd name="T85" fmla="*/ 75930 h 4930140"/>
              <a:gd name="T86" fmla="*/ 104628 w 171450"/>
              <a:gd name="T87" fmla="*/ 108640 h 4930140"/>
              <a:gd name="T88" fmla="*/ 104628 w 171450"/>
              <a:gd name="T89" fmla="*/ 47576 h 4930140"/>
              <a:gd name="T90" fmla="*/ 102088 w 171450"/>
              <a:gd name="T91" fmla="*/ 47576 h 4930140"/>
              <a:gd name="T92" fmla="*/ 69068 w 171450"/>
              <a:gd name="T93" fmla="*/ 47576 h 4930140"/>
              <a:gd name="T94" fmla="*/ 85578 w 171450"/>
              <a:gd name="T95" fmla="*/ 75930 h 4930140"/>
              <a:gd name="T96" fmla="*/ 102088 w 171450"/>
              <a:gd name="T97" fmla="*/ 47576 h 49301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71450" h="4930140">
                <a:moveTo>
                  <a:pt x="85578" y="75800"/>
                </a:moveTo>
                <a:lnTo>
                  <a:pt x="66528" y="108458"/>
                </a:lnTo>
                <a:lnTo>
                  <a:pt x="66528" y="4929873"/>
                </a:lnTo>
                <a:lnTo>
                  <a:pt x="104628" y="4929873"/>
                </a:lnTo>
                <a:lnTo>
                  <a:pt x="104628" y="108458"/>
                </a:lnTo>
                <a:lnTo>
                  <a:pt x="85578" y="75800"/>
                </a:lnTo>
                <a:close/>
              </a:path>
              <a:path w="171450" h="4930140">
                <a:moveTo>
                  <a:pt x="85578" y="0"/>
                </a:moveTo>
                <a:lnTo>
                  <a:pt x="2393" y="142493"/>
                </a:lnTo>
                <a:lnTo>
                  <a:pt x="0" y="149689"/>
                </a:lnTo>
                <a:lnTo>
                  <a:pt x="488" y="157003"/>
                </a:lnTo>
                <a:lnTo>
                  <a:pt x="3643" y="163603"/>
                </a:lnTo>
                <a:lnTo>
                  <a:pt x="9251" y="168655"/>
                </a:lnTo>
                <a:lnTo>
                  <a:pt x="16446" y="171049"/>
                </a:lnTo>
                <a:lnTo>
                  <a:pt x="23760" y="170561"/>
                </a:lnTo>
                <a:lnTo>
                  <a:pt x="30360" y="167405"/>
                </a:lnTo>
                <a:lnTo>
                  <a:pt x="35413" y="161798"/>
                </a:lnTo>
                <a:lnTo>
                  <a:pt x="66528" y="108458"/>
                </a:lnTo>
                <a:lnTo>
                  <a:pt x="66528" y="37718"/>
                </a:lnTo>
                <a:lnTo>
                  <a:pt x="107597" y="37718"/>
                </a:lnTo>
                <a:lnTo>
                  <a:pt x="85578" y="0"/>
                </a:lnTo>
                <a:close/>
              </a:path>
              <a:path w="171450" h="4930140">
                <a:moveTo>
                  <a:pt x="107597" y="37718"/>
                </a:moveTo>
                <a:lnTo>
                  <a:pt x="104628" y="37718"/>
                </a:lnTo>
                <a:lnTo>
                  <a:pt x="104628" y="108458"/>
                </a:lnTo>
                <a:lnTo>
                  <a:pt x="135743" y="161798"/>
                </a:lnTo>
                <a:lnTo>
                  <a:pt x="140795" y="167405"/>
                </a:lnTo>
                <a:lnTo>
                  <a:pt x="147395" y="170560"/>
                </a:lnTo>
                <a:lnTo>
                  <a:pt x="154709" y="171049"/>
                </a:lnTo>
                <a:lnTo>
                  <a:pt x="161905" y="168655"/>
                </a:lnTo>
                <a:lnTo>
                  <a:pt x="167512" y="163603"/>
                </a:lnTo>
                <a:lnTo>
                  <a:pt x="170668" y="157003"/>
                </a:lnTo>
                <a:lnTo>
                  <a:pt x="171156" y="149689"/>
                </a:lnTo>
                <a:lnTo>
                  <a:pt x="168763" y="142493"/>
                </a:lnTo>
                <a:lnTo>
                  <a:pt x="107597" y="37718"/>
                </a:lnTo>
                <a:close/>
              </a:path>
              <a:path w="171450" h="4930140">
                <a:moveTo>
                  <a:pt x="104628" y="37718"/>
                </a:moveTo>
                <a:lnTo>
                  <a:pt x="66528" y="37718"/>
                </a:lnTo>
                <a:lnTo>
                  <a:pt x="66528" y="108458"/>
                </a:lnTo>
                <a:lnTo>
                  <a:pt x="85578" y="75800"/>
                </a:lnTo>
                <a:lnTo>
                  <a:pt x="69068" y="47498"/>
                </a:lnTo>
                <a:lnTo>
                  <a:pt x="104628" y="47498"/>
                </a:lnTo>
                <a:lnTo>
                  <a:pt x="104628" y="37718"/>
                </a:lnTo>
                <a:close/>
              </a:path>
              <a:path w="171450" h="4930140">
                <a:moveTo>
                  <a:pt x="104628" y="47498"/>
                </a:moveTo>
                <a:lnTo>
                  <a:pt x="102088" y="47498"/>
                </a:lnTo>
                <a:lnTo>
                  <a:pt x="85578" y="75800"/>
                </a:lnTo>
                <a:lnTo>
                  <a:pt x="104628" y="108458"/>
                </a:lnTo>
                <a:lnTo>
                  <a:pt x="104628" y="47498"/>
                </a:lnTo>
                <a:close/>
              </a:path>
              <a:path w="171450" h="4930140">
                <a:moveTo>
                  <a:pt x="102088" y="47498"/>
                </a:moveTo>
                <a:lnTo>
                  <a:pt x="69068" y="47498"/>
                </a:lnTo>
                <a:lnTo>
                  <a:pt x="85578" y="75800"/>
                </a:lnTo>
                <a:lnTo>
                  <a:pt x="102088" y="47498"/>
                </a:lnTo>
                <a:close/>
              </a:path>
            </a:pathLst>
          </a:custGeom>
          <a:solidFill>
            <a:srgbClr val="17BAE8"/>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da-DK" sz="1350"/>
          </a:p>
        </p:txBody>
      </p:sp>
      <p:sp>
        <p:nvSpPr>
          <p:cNvPr id="15" name="object 15">
            <a:extLst>
              <a:ext uri="{FF2B5EF4-FFF2-40B4-BE49-F238E27FC236}">
                <a16:creationId xmlns:a16="http://schemas.microsoft.com/office/drawing/2014/main" id="{83003EBA-8439-8389-6E7D-123AC3AB9DD9}"/>
              </a:ext>
            </a:extLst>
          </p:cNvPr>
          <p:cNvSpPr txBox="1"/>
          <p:nvPr/>
        </p:nvSpPr>
        <p:spPr>
          <a:xfrm>
            <a:off x="2950369" y="4660107"/>
            <a:ext cx="483394" cy="207749"/>
          </a:xfrm>
          <a:prstGeom prst="rect">
            <a:avLst/>
          </a:prstGeom>
        </p:spPr>
        <p:txBody>
          <a:bodyPr lIns="0" tIns="0" rIns="0" bIns="0">
            <a:spAutoFit/>
          </a:bodyPr>
          <a:lstStyle/>
          <a:p>
            <a:pPr marL="9525">
              <a:defRPr/>
            </a:pPr>
            <a:r>
              <a:rPr sz="1350" spc="-4" dirty="0">
                <a:solidFill>
                  <a:srgbClr val="1A2944"/>
                </a:solidFill>
                <a:cs typeface="Arial"/>
              </a:rPr>
              <a:t>1980s</a:t>
            </a:r>
            <a:endParaRPr sz="1350">
              <a:cs typeface="Arial"/>
            </a:endParaRPr>
          </a:p>
        </p:txBody>
      </p:sp>
      <p:sp>
        <p:nvSpPr>
          <p:cNvPr id="16" name="object 16">
            <a:extLst>
              <a:ext uri="{FF2B5EF4-FFF2-40B4-BE49-F238E27FC236}">
                <a16:creationId xmlns:a16="http://schemas.microsoft.com/office/drawing/2014/main" id="{F4023E5A-9CDF-553F-3947-A99F431D8123}"/>
              </a:ext>
            </a:extLst>
          </p:cNvPr>
          <p:cNvSpPr txBox="1"/>
          <p:nvPr/>
        </p:nvSpPr>
        <p:spPr>
          <a:xfrm>
            <a:off x="4343400" y="4660107"/>
            <a:ext cx="484585" cy="207749"/>
          </a:xfrm>
          <a:prstGeom prst="rect">
            <a:avLst/>
          </a:prstGeom>
        </p:spPr>
        <p:txBody>
          <a:bodyPr lIns="0" tIns="0" rIns="0" bIns="0">
            <a:spAutoFit/>
          </a:bodyPr>
          <a:lstStyle/>
          <a:p>
            <a:pPr marL="9525">
              <a:defRPr/>
            </a:pPr>
            <a:r>
              <a:rPr sz="1350" spc="-4" dirty="0">
                <a:solidFill>
                  <a:srgbClr val="1A2944"/>
                </a:solidFill>
                <a:cs typeface="Arial"/>
              </a:rPr>
              <a:t>1990s</a:t>
            </a:r>
            <a:endParaRPr sz="1350">
              <a:cs typeface="Arial"/>
            </a:endParaRPr>
          </a:p>
        </p:txBody>
      </p:sp>
      <p:sp>
        <p:nvSpPr>
          <p:cNvPr id="17" name="object 17">
            <a:extLst>
              <a:ext uri="{FF2B5EF4-FFF2-40B4-BE49-F238E27FC236}">
                <a16:creationId xmlns:a16="http://schemas.microsoft.com/office/drawing/2014/main" id="{28EE44F7-C44A-2358-C68D-6CED3D44099D}"/>
              </a:ext>
            </a:extLst>
          </p:cNvPr>
          <p:cNvSpPr txBox="1"/>
          <p:nvPr/>
        </p:nvSpPr>
        <p:spPr>
          <a:xfrm>
            <a:off x="5737622" y="4660107"/>
            <a:ext cx="498872" cy="207749"/>
          </a:xfrm>
          <a:prstGeom prst="rect">
            <a:avLst/>
          </a:prstGeom>
        </p:spPr>
        <p:txBody>
          <a:bodyPr lIns="0" tIns="0" rIns="0" bIns="0">
            <a:spAutoFit/>
          </a:bodyPr>
          <a:lstStyle/>
          <a:p>
            <a:pPr marL="9525">
              <a:defRPr/>
            </a:pPr>
            <a:r>
              <a:rPr sz="1350" spc="-4" dirty="0">
                <a:solidFill>
                  <a:srgbClr val="1A2944"/>
                </a:solidFill>
                <a:cs typeface="Arial"/>
              </a:rPr>
              <a:t>2000+</a:t>
            </a:r>
            <a:endParaRPr sz="1350">
              <a:cs typeface="Arial"/>
            </a:endParaRPr>
          </a:p>
        </p:txBody>
      </p:sp>
      <p:sp>
        <p:nvSpPr>
          <p:cNvPr id="11283" name="TextBox 19">
            <a:extLst>
              <a:ext uri="{FF2B5EF4-FFF2-40B4-BE49-F238E27FC236}">
                <a16:creationId xmlns:a16="http://schemas.microsoft.com/office/drawing/2014/main" id="{DE015AE3-5E9B-D6CC-755E-42E4D625B623}"/>
              </a:ext>
            </a:extLst>
          </p:cNvPr>
          <p:cNvSpPr txBox="1">
            <a:spLocks noChangeArrowheads="1"/>
          </p:cNvSpPr>
          <p:nvPr/>
        </p:nvSpPr>
        <p:spPr bwMode="auto">
          <a:xfrm>
            <a:off x="1201341" y="1744266"/>
            <a:ext cx="98940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050">
                <a:latin typeface="Times New Roman" panose="02020603050405020304" pitchFamily="18" charset="0"/>
              </a:rPr>
              <a:t>Deep Uncertainty</a:t>
            </a:r>
          </a:p>
        </p:txBody>
      </p:sp>
      <p:sp>
        <p:nvSpPr>
          <p:cNvPr id="11284" name="TextBox 22">
            <a:extLst>
              <a:ext uri="{FF2B5EF4-FFF2-40B4-BE49-F238E27FC236}">
                <a16:creationId xmlns:a16="http://schemas.microsoft.com/office/drawing/2014/main" id="{AEB4503C-BF87-D514-E110-69867B0A2A89}"/>
              </a:ext>
            </a:extLst>
          </p:cNvPr>
          <p:cNvSpPr txBox="1">
            <a:spLocks noChangeArrowheads="1"/>
          </p:cNvSpPr>
          <p:nvPr/>
        </p:nvSpPr>
        <p:spPr bwMode="auto">
          <a:xfrm>
            <a:off x="1201341" y="3128963"/>
            <a:ext cx="98940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050">
                <a:latin typeface="Times New Roman" panose="02020603050405020304" pitchFamily="18" charset="0"/>
              </a:rPr>
              <a:t>Risk</a:t>
            </a:r>
          </a:p>
        </p:txBody>
      </p:sp>
      <p:sp>
        <p:nvSpPr>
          <p:cNvPr id="4" name="TextBox 3">
            <a:extLst>
              <a:ext uri="{FF2B5EF4-FFF2-40B4-BE49-F238E27FC236}">
                <a16:creationId xmlns:a16="http://schemas.microsoft.com/office/drawing/2014/main" id="{26CEB242-1146-3AE8-F07D-C9177CC31C4E}"/>
              </a:ext>
            </a:extLst>
          </p:cNvPr>
          <p:cNvSpPr txBox="1"/>
          <p:nvPr/>
        </p:nvSpPr>
        <p:spPr>
          <a:xfrm>
            <a:off x="6682154" y="701953"/>
            <a:ext cx="2280872" cy="646331"/>
          </a:xfrm>
          <a:prstGeom prst="rect">
            <a:avLst/>
          </a:prstGeom>
          <a:noFill/>
        </p:spPr>
        <p:txBody>
          <a:bodyPr wrap="square" rtlCol="0">
            <a:spAutoFit/>
          </a:bodyPr>
          <a:lstStyle/>
          <a:p>
            <a:r>
              <a:rPr lang="en-US" dirty="0"/>
              <a:t>Copyright Teece 2015</a:t>
            </a:r>
          </a:p>
          <a:p>
            <a:endParaRPr lang="da-DK"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F721E-8D91-A904-91A0-6C54786C9DF9}"/>
              </a:ext>
            </a:extLst>
          </p:cNvPr>
          <p:cNvSpPr>
            <a:spLocks noGrp="1"/>
          </p:cNvSpPr>
          <p:nvPr>
            <p:ph sz="quarter" idx="12"/>
          </p:nvPr>
        </p:nvSpPr>
        <p:spPr/>
        <p:txBody>
          <a:bodyPr>
            <a:normAutofit/>
          </a:bodyPr>
          <a:lstStyle/>
          <a:p>
            <a:pPr indent="0">
              <a:defRPr/>
            </a:pPr>
            <a:r>
              <a:rPr lang="en-US" i="1" dirty="0"/>
              <a:t> “Apple still has strong growth opportunities because of its ability to work simultaneously on hardware, software and services… Apple has the ability to innovate in all three of these spheres and create magic… This isn’t something you can just write a check for. This is something you build over decades.”</a:t>
            </a:r>
            <a:endParaRPr lang="en-US" sz="1800" i="1" dirty="0">
              <a:ea typeface="Calibri" pitchFamily="34" charset="0"/>
              <a:cs typeface="Calibri" pitchFamily="34" charset="0"/>
            </a:endParaRPr>
          </a:p>
          <a:p>
            <a:pPr algn="r" eaLnBrk="1" hangingPunct="1">
              <a:defRPr/>
            </a:pPr>
            <a:r>
              <a:rPr lang="en-US" sz="1500" i="1" dirty="0">
                <a:ea typeface="Calibri" pitchFamily="34" charset="0"/>
                <a:cs typeface="Calibri" pitchFamily="34" charset="0"/>
              </a:rPr>
              <a:t>-</a:t>
            </a:r>
            <a:r>
              <a:rPr lang="en-US" sz="975" i="1" dirty="0">
                <a:ea typeface="Calibri" pitchFamily="34" charset="0"/>
                <a:cs typeface="Calibri" pitchFamily="34" charset="0"/>
              </a:rPr>
              <a:t>Tim Cook, Apple CEO </a:t>
            </a:r>
            <a:r>
              <a:rPr lang="en-US" sz="975" dirty="0"/>
              <a:t>(Taipei Times, February 2013)</a:t>
            </a:r>
          </a:p>
        </p:txBody>
      </p:sp>
      <p:sp>
        <p:nvSpPr>
          <p:cNvPr id="2" name="Text Placeholder 1">
            <a:extLst>
              <a:ext uri="{FF2B5EF4-FFF2-40B4-BE49-F238E27FC236}">
                <a16:creationId xmlns:a16="http://schemas.microsoft.com/office/drawing/2014/main" id="{174A7D76-B4DB-19C8-AE7F-E5FD4FFCE007}"/>
              </a:ext>
            </a:extLst>
          </p:cNvPr>
          <p:cNvSpPr>
            <a:spLocks noGrp="1"/>
          </p:cNvSpPr>
          <p:nvPr>
            <p:ph type="body" sz="quarter" idx="10"/>
          </p:nvPr>
        </p:nvSpPr>
        <p:spPr/>
        <p:txBody>
          <a:bodyPr>
            <a:normAutofit fontScale="92500" lnSpcReduction="20000"/>
          </a:bodyPr>
          <a:lstStyle/>
          <a:p>
            <a:r>
              <a:rPr lang="en-US" dirty="0"/>
              <a:t>Asset Orchestration is Central to Dynamic Capabilities</a:t>
            </a:r>
            <a:endParaRPr lang="da-DK" dirty="0"/>
          </a:p>
        </p:txBody>
      </p:sp>
      <p:pic>
        <p:nvPicPr>
          <p:cNvPr id="10244" name="Picture 2" descr="http://legalnewsline.com/wp-content/uploads/2014/02/applelogo.jpg">
            <a:extLst>
              <a:ext uri="{FF2B5EF4-FFF2-40B4-BE49-F238E27FC236}">
                <a16:creationId xmlns:a16="http://schemas.microsoft.com/office/drawing/2014/main" id="{0010736F-FF92-4841-CFE9-E315CB37C71B}"/>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281112" y="2916382"/>
            <a:ext cx="966410" cy="1130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6612" name="Rectangle 4">
            <a:extLst>
              <a:ext uri="{FF2B5EF4-FFF2-40B4-BE49-F238E27FC236}">
                <a16:creationId xmlns:a16="http://schemas.microsoft.com/office/drawing/2014/main" id="{04B12526-DE3A-0D6E-543D-53B603801DC4}"/>
              </a:ext>
            </a:extLst>
          </p:cNvPr>
          <p:cNvSpPr>
            <a:spLocks noChangeArrowheads="1"/>
          </p:cNvSpPr>
          <p:nvPr/>
        </p:nvSpPr>
        <p:spPr bwMode="auto">
          <a:xfrm>
            <a:off x="5141119" y="1744266"/>
            <a:ext cx="2686050" cy="1912298"/>
          </a:xfrm>
          <a:prstGeom prst="rect">
            <a:avLst/>
          </a:prstGeom>
          <a:noFill/>
          <a:ln w="9525">
            <a:noFill/>
            <a:miter lim="800000"/>
            <a:headEnd/>
            <a:tailEnd/>
          </a:ln>
        </p:spPr>
        <p:txBody>
          <a:bodyPr lIns="99746" tIns="50434" rIns="99746" bIns="50434"/>
          <a:lstStyle/>
          <a:p>
            <a:pPr marL="258366" lvl="1" indent="-251222" defTabSz="1481138">
              <a:buClr>
                <a:schemeClr val="accent6">
                  <a:lumMod val="75000"/>
                </a:schemeClr>
              </a:buClr>
              <a:buFont typeface="Arial" pitchFamily="34" charset="0"/>
              <a:buChar char="•"/>
              <a:defRPr/>
            </a:pPr>
            <a:r>
              <a:rPr lang="en-US" sz="1200" dirty="0"/>
              <a:t>Strategic “fit” over the long run (evolutionary fitness)</a:t>
            </a:r>
          </a:p>
          <a:p>
            <a:pPr marL="7144" lvl="1" defTabSz="1481138">
              <a:buClr>
                <a:schemeClr val="accent6">
                  <a:lumMod val="75000"/>
                </a:schemeClr>
              </a:buClr>
              <a:defRPr/>
            </a:pPr>
            <a:endParaRPr lang="en-US" sz="1200" dirty="0"/>
          </a:p>
          <a:p>
            <a:pPr marL="258366" lvl="1" indent="-251222" defTabSz="1481138">
              <a:buClr>
                <a:schemeClr val="accent6">
                  <a:lumMod val="75000"/>
                </a:schemeClr>
              </a:buClr>
              <a:buFont typeface="Arial" pitchFamily="34" charset="0"/>
              <a:buChar char="•"/>
              <a:defRPr/>
            </a:pPr>
            <a:endParaRPr lang="en-US" sz="1200" dirty="0"/>
          </a:p>
          <a:p>
            <a:pPr marL="258366" lvl="1" indent="-251222" defTabSz="1481138">
              <a:buClr>
                <a:schemeClr val="accent6">
                  <a:lumMod val="75000"/>
                </a:schemeClr>
              </a:buClr>
              <a:buFont typeface="Arial" pitchFamily="34" charset="0"/>
              <a:buChar char="•"/>
              <a:defRPr/>
            </a:pPr>
            <a:r>
              <a:rPr lang="en-US" sz="1200" dirty="0"/>
              <a:t>Sensing, seizing, shaping and transforming </a:t>
            </a:r>
          </a:p>
          <a:p>
            <a:pPr marL="7144" lvl="1" defTabSz="1481138">
              <a:buClr>
                <a:schemeClr val="accent6">
                  <a:lumMod val="75000"/>
                </a:schemeClr>
              </a:buClr>
              <a:defRPr/>
            </a:pPr>
            <a:endParaRPr lang="en-US" sz="1200" dirty="0"/>
          </a:p>
          <a:p>
            <a:pPr marL="258366" lvl="1" indent="-251222" defTabSz="1481138">
              <a:buClr>
                <a:schemeClr val="accent6">
                  <a:lumMod val="75000"/>
                </a:schemeClr>
              </a:buClr>
              <a:defRPr/>
            </a:pPr>
            <a:endParaRPr lang="en-US" sz="1200" dirty="0"/>
          </a:p>
          <a:p>
            <a:pPr marL="258366" lvl="1" indent="-251222" defTabSz="1481138">
              <a:buClr>
                <a:schemeClr val="accent6">
                  <a:lumMod val="75000"/>
                </a:schemeClr>
              </a:buClr>
              <a:defRPr/>
            </a:pPr>
            <a:endParaRPr lang="en-US" sz="1200" dirty="0"/>
          </a:p>
          <a:p>
            <a:pPr marL="258366" lvl="1" indent="-251222" defTabSz="1481138">
              <a:buClr>
                <a:schemeClr val="accent6">
                  <a:lumMod val="75000"/>
                </a:schemeClr>
              </a:buClr>
              <a:buFont typeface="Arial" pitchFamily="34" charset="0"/>
              <a:buChar char="•"/>
              <a:defRPr/>
            </a:pPr>
            <a:r>
              <a:rPr lang="en-US" sz="1200" dirty="0"/>
              <a:t>Difficult ; inimitable</a:t>
            </a:r>
          </a:p>
          <a:p>
            <a:pPr marL="258366" lvl="1" indent="-251222" defTabSz="1481138">
              <a:buFont typeface="Arial" pitchFamily="34" charset="0"/>
              <a:buChar char="•"/>
              <a:defRPr/>
            </a:pPr>
            <a:endParaRPr lang="en-US" sz="1200" dirty="0">
              <a:solidFill>
                <a:srgbClr val="C00000"/>
              </a:solidFill>
            </a:endParaRPr>
          </a:p>
        </p:txBody>
      </p:sp>
      <p:sp>
        <p:nvSpPr>
          <p:cNvPr id="16387" name="Rectangle 5">
            <a:extLst>
              <a:ext uri="{FF2B5EF4-FFF2-40B4-BE49-F238E27FC236}">
                <a16:creationId xmlns:a16="http://schemas.microsoft.com/office/drawing/2014/main" id="{81C24E0B-339F-A5D4-153C-7FC96C063B92}"/>
              </a:ext>
            </a:extLst>
          </p:cNvPr>
          <p:cNvSpPr>
            <a:spLocks noChangeArrowheads="1"/>
          </p:cNvSpPr>
          <p:nvPr/>
        </p:nvSpPr>
        <p:spPr bwMode="auto">
          <a:xfrm>
            <a:off x="2565797" y="1729978"/>
            <a:ext cx="2400300" cy="1912298"/>
          </a:xfrm>
          <a:prstGeom prst="rect">
            <a:avLst/>
          </a:prstGeom>
          <a:noFill/>
          <a:ln w="9525">
            <a:noFill/>
            <a:miter lim="800000"/>
            <a:headEnd/>
            <a:tailEnd/>
          </a:ln>
        </p:spPr>
        <p:txBody>
          <a:bodyPr lIns="65003" tIns="32502" rIns="65003" bIns="32502">
            <a:spAutoFit/>
          </a:bodyPr>
          <a:lstStyle/>
          <a:p>
            <a:pPr marL="161925" indent="-161925" defTabSz="645319">
              <a:buClr>
                <a:schemeClr val="accent6">
                  <a:lumMod val="75000"/>
                </a:schemeClr>
              </a:buClr>
              <a:buFontTx/>
              <a:buChar char="•"/>
              <a:defRPr/>
            </a:pPr>
            <a:r>
              <a:rPr lang="en-US" sz="1200" dirty="0">
                <a:solidFill>
                  <a:srgbClr val="C00000"/>
                </a:solidFill>
              </a:rPr>
              <a:t>Technical efficiency in basic business functions</a:t>
            </a:r>
          </a:p>
          <a:p>
            <a:pPr marL="161925" indent="-161925" defTabSz="645319">
              <a:buClr>
                <a:schemeClr val="accent6">
                  <a:lumMod val="75000"/>
                </a:schemeClr>
              </a:buClr>
              <a:buFontTx/>
              <a:buChar char="•"/>
              <a:defRPr/>
            </a:pPr>
            <a:endParaRPr lang="en-US" sz="1200" dirty="0">
              <a:solidFill>
                <a:srgbClr val="C00000"/>
              </a:solidFill>
            </a:endParaRPr>
          </a:p>
          <a:p>
            <a:pPr marL="161925" indent="-161925" defTabSz="645319">
              <a:buClr>
                <a:schemeClr val="accent6">
                  <a:lumMod val="75000"/>
                </a:schemeClr>
              </a:buClr>
              <a:buFontTx/>
              <a:buChar char="•"/>
              <a:defRPr/>
            </a:pPr>
            <a:endParaRPr lang="en-US" sz="1200" dirty="0">
              <a:solidFill>
                <a:srgbClr val="C00000"/>
              </a:solidFill>
            </a:endParaRPr>
          </a:p>
          <a:p>
            <a:pPr marL="161925" indent="-161925" defTabSz="645319">
              <a:buClr>
                <a:schemeClr val="accent6">
                  <a:lumMod val="75000"/>
                </a:schemeClr>
              </a:buClr>
              <a:buFontTx/>
              <a:buChar char="•"/>
              <a:defRPr/>
            </a:pPr>
            <a:r>
              <a:rPr lang="en-US" sz="1200" dirty="0">
                <a:solidFill>
                  <a:srgbClr val="C00000"/>
                </a:solidFill>
              </a:rPr>
              <a:t>Operational, administrative, and governance</a:t>
            </a:r>
          </a:p>
          <a:p>
            <a:pPr marL="161925" indent="-161925" defTabSz="645319">
              <a:buClr>
                <a:schemeClr val="accent6">
                  <a:lumMod val="75000"/>
                </a:schemeClr>
              </a:buClr>
              <a:buFontTx/>
              <a:buChar char="•"/>
              <a:defRPr/>
            </a:pPr>
            <a:endParaRPr lang="en-US" sz="1200" dirty="0">
              <a:solidFill>
                <a:srgbClr val="C00000"/>
              </a:solidFill>
            </a:endParaRPr>
          </a:p>
          <a:p>
            <a:pPr defTabSz="645319">
              <a:buClr>
                <a:schemeClr val="accent6">
                  <a:lumMod val="75000"/>
                </a:schemeClr>
              </a:buClr>
              <a:defRPr/>
            </a:pPr>
            <a:endParaRPr lang="en-US" sz="1200" dirty="0">
              <a:solidFill>
                <a:srgbClr val="C00000"/>
              </a:solidFill>
            </a:endParaRPr>
          </a:p>
          <a:p>
            <a:pPr marL="161925" indent="-161925" defTabSz="645319">
              <a:buClr>
                <a:schemeClr val="accent6">
                  <a:lumMod val="75000"/>
                </a:schemeClr>
              </a:buClr>
              <a:buFontTx/>
              <a:buChar char="•"/>
              <a:defRPr/>
            </a:pPr>
            <a:endParaRPr lang="en-US" sz="1200" dirty="0">
              <a:solidFill>
                <a:srgbClr val="C00000"/>
              </a:solidFill>
            </a:endParaRPr>
          </a:p>
          <a:p>
            <a:pPr marL="161925" indent="-161925" defTabSz="645319">
              <a:buClr>
                <a:schemeClr val="accent6">
                  <a:lumMod val="75000"/>
                </a:schemeClr>
              </a:buClr>
              <a:buFontTx/>
              <a:buChar char="•"/>
              <a:defRPr/>
            </a:pPr>
            <a:r>
              <a:rPr lang="en-US" sz="1200" dirty="0">
                <a:solidFill>
                  <a:srgbClr val="C00000"/>
                </a:solidFill>
              </a:rPr>
              <a:t>Relatively easy; imitable </a:t>
            </a:r>
          </a:p>
        </p:txBody>
      </p:sp>
      <p:sp>
        <p:nvSpPr>
          <p:cNvPr id="2756614" name="Oval 6">
            <a:extLst>
              <a:ext uri="{FF2B5EF4-FFF2-40B4-BE49-F238E27FC236}">
                <a16:creationId xmlns:a16="http://schemas.microsoft.com/office/drawing/2014/main" id="{CAD3DE0C-AFE7-C05B-F8E2-1614E8FDFA48}"/>
              </a:ext>
            </a:extLst>
          </p:cNvPr>
          <p:cNvSpPr>
            <a:spLocks noChangeArrowheads="1"/>
          </p:cNvSpPr>
          <p:nvPr/>
        </p:nvSpPr>
        <p:spPr bwMode="auto">
          <a:xfrm>
            <a:off x="2833688" y="1113235"/>
            <a:ext cx="1657350" cy="544115"/>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lIns="66123" tIns="33622" rIns="66123" bIns="33622" anchor="ctr"/>
          <a:lstStyle/>
          <a:p>
            <a:pPr algn="ctr" defTabSz="658416">
              <a:defRPr/>
            </a:pPr>
            <a:r>
              <a:rPr lang="en-US" sz="1500" b="1" dirty="0">
                <a:solidFill>
                  <a:schemeClr val="tx1"/>
                </a:solidFill>
                <a:cs typeface="Calibri" pitchFamily="34" charset="0"/>
              </a:rPr>
              <a:t>Ordinary</a:t>
            </a:r>
          </a:p>
          <a:p>
            <a:pPr algn="ctr" defTabSz="658416">
              <a:defRPr/>
            </a:pPr>
            <a:r>
              <a:rPr lang="en-US" sz="1500" b="1" dirty="0">
                <a:solidFill>
                  <a:schemeClr val="tx1"/>
                </a:solidFill>
                <a:cs typeface="Calibri" pitchFamily="34" charset="0"/>
              </a:rPr>
              <a:t>Capabilities</a:t>
            </a:r>
          </a:p>
        </p:txBody>
      </p:sp>
      <p:sp>
        <p:nvSpPr>
          <p:cNvPr id="2756615" name="Oval 7">
            <a:extLst>
              <a:ext uri="{FF2B5EF4-FFF2-40B4-BE49-F238E27FC236}">
                <a16:creationId xmlns:a16="http://schemas.microsoft.com/office/drawing/2014/main" id="{1CF5979A-7E39-3159-FB45-59216578C1AC}"/>
              </a:ext>
            </a:extLst>
          </p:cNvPr>
          <p:cNvSpPr>
            <a:spLocks noChangeArrowheads="1"/>
          </p:cNvSpPr>
          <p:nvPr/>
        </p:nvSpPr>
        <p:spPr bwMode="auto">
          <a:xfrm>
            <a:off x="5657850" y="1113235"/>
            <a:ext cx="1578769" cy="544115"/>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lIns="66123" tIns="33622" rIns="66123" bIns="33622" anchor="ctr"/>
          <a:lstStyle/>
          <a:p>
            <a:pPr algn="ctr" defTabSz="658416">
              <a:defRPr/>
            </a:pPr>
            <a:r>
              <a:rPr lang="en-US" sz="1500" b="1" dirty="0">
                <a:solidFill>
                  <a:schemeClr val="tx1"/>
                </a:solidFill>
                <a:cs typeface="Calibri" pitchFamily="34" charset="0"/>
              </a:rPr>
              <a:t>Dynamic</a:t>
            </a:r>
          </a:p>
          <a:p>
            <a:pPr algn="ctr" defTabSz="658416">
              <a:defRPr/>
            </a:pPr>
            <a:r>
              <a:rPr lang="en-US" sz="1500" b="1" dirty="0">
                <a:solidFill>
                  <a:schemeClr val="tx1"/>
                </a:solidFill>
                <a:cs typeface="Calibri" pitchFamily="34" charset="0"/>
              </a:rPr>
              <a:t>Capabilities</a:t>
            </a:r>
          </a:p>
        </p:txBody>
      </p:sp>
      <p:sp>
        <p:nvSpPr>
          <p:cNvPr id="18" name="Rectangle 17">
            <a:extLst>
              <a:ext uri="{FF2B5EF4-FFF2-40B4-BE49-F238E27FC236}">
                <a16:creationId xmlns:a16="http://schemas.microsoft.com/office/drawing/2014/main" id="{EC625B57-25DC-BFA6-0164-14BE895148EB}"/>
              </a:ext>
            </a:extLst>
          </p:cNvPr>
          <p:cNvSpPr/>
          <p:nvPr/>
        </p:nvSpPr>
        <p:spPr>
          <a:xfrm>
            <a:off x="1371600" y="1714500"/>
            <a:ext cx="1200150" cy="45720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1350" b="1" dirty="0">
                <a:solidFill>
                  <a:schemeClr val="bg1"/>
                </a:solidFill>
                <a:cs typeface="Calibri" pitchFamily="34" charset="0"/>
              </a:rPr>
              <a:t>Purpose</a:t>
            </a:r>
          </a:p>
        </p:txBody>
      </p:sp>
      <p:sp>
        <p:nvSpPr>
          <p:cNvPr id="19" name="Rectangle 18">
            <a:extLst>
              <a:ext uri="{FF2B5EF4-FFF2-40B4-BE49-F238E27FC236}">
                <a16:creationId xmlns:a16="http://schemas.microsoft.com/office/drawing/2014/main" id="{32306980-5E87-E262-AE2C-1FEAD9ADC0B0}"/>
              </a:ext>
            </a:extLst>
          </p:cNvPr>
          <p:cNvSpPr/>
          <p:nvPr/>
        </p:nvSpPr>
        <p:spPr>
          <a:xfrm>
            <a:off x="1338263" y="2343150"/>
            <a:ext cx="1200150" cy="6858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b="1" dirty="0">
                <a:solidFill>
                  <a:schemeClr val="tx1"/>
                </a:solidFill>
                <a:cs typeface="Calibri" pitchFamily="34" charset="0"/>
              </a:rPr>
              <a:t>Schemes</a:t>
            </a:r>
          </a:p>
        </p:txBody>
      </p:sp>
      <p:sp>
        <p:nvSpPr>
          <p:cNvPr id="20" name="Rectangle 19">
            <a:extLst>
              <a:ext uri="{FF2B5EF4-FFF2-40B4-BE49-F238E27FC236}">
                <a16:creationId xmlns:a16="http://schemas.microsoft.com/office/drawing/2014/main" id="{7552F508-A051-E061-9691-00579BF549FD}"/>
              </a:ext>
            </a:extLst>
          </p:cNvPr>
          <p:cNvSpPr/>
          <p:nvPr/>
        </p:nvSpPr>
        <p:spPr>
          <a:xfrm>
            <a:off x="1314450" y="3212306"/>
            <a:ext cx="1200150" cy="58221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500" b="1" dirty="0">
                <a:solidFill>
                  <a:schemeClr val="tx1"/>
                </a:solidFill>
                <a:cs typeface="Calibri" pitchFamily="34" charset="0"/>
              </a:rPr>
              <a:t>Imitability</a:t>
            </a:r>
          </a:p>
        </p:txBody>
      </p:sp>
      <p:sp>
        <p:nvSpPr>
          <p:cNvPr id="21" name="Rectangle 5">
            <a:extLst>
              <a:ext uri="{FF2B5EF4-FFF2-40B4-BE49-F238E27FC236}">
                <a16:creationId xmlns:a16="http://schemas.microsoft.com/office/drawing/2014/main" id="{1617410A-8A75-6028-6AEA-F19518568E58}"/>
              </a:ext>
            </a:extLst>
          </p:cNvPr>
          <p:cNvSpPr>
            <a:spLocks noChangeArrowheads="1"/>
          </p:cNvSpPr>
          <p:nvPr/>
        </p:nvSpPr>
        <p:spPr bwMode="auto">
          <a:xfrm>
            <a:off x="2571750" y="1725216"/>
            <a:ext cx="2400300" cy="1912298"/>
          </a:xfrm>
          <a:prstGeom prst="rect">
            <a:avLst/>
          </a:prstGeom>
          <a:noFill/>
          <a:ln w="9525">
            <a:noFill/>
            <a:miter lim="800000"/>
            <a:headEnd/>
            <a:tailEnd/>
          </a:ln>
        </p:spPr>
        <p:txBody>
          <a:bodyPr lIns="65003" tIns="32502" rIns="65003" bIns="32502">
            <a:spAutoFit/>
          </a:bodyPr>
          <a:lstStyle/>
          <a:p>
            <a:pPr marL="161925" indent="-161925" defTabSz="645319">
              <a:buClr>
                <a:schemeClr val="accent6">
                  <a:lumMod val="75000"/>
                </a:schemeClr>
              </a:buClr>
              <a:buFontTx/>
              <a:buChar char="•"/>
              <a:defRPr/>
            </a:pPr>
            <a:r>
              <a:rPr lang="en-US" sz="1200" dirty="0"/>
              <a:t>Technical efficiency in basic business functions</a:t>
            </a:r>
          </a:p>
          <a:p>
            <a:pPr marL="161925" indent="-161925" defTabSz="645319">
              <a:buClr>
                <a:schemeClr val="accent6">
                  <a:lumMod val="75000"/>
                </a:schemeClr>
              </a:buClr>
              <a:buFontTx/>
              <a:buChar char="•"/>
              <a:defRPr/>
            </a:pPr>
            <a:endParaRPr lang="en-US" sz="1200" dirty="0"/>
          </a:p>
          <a:p>
            <a:pPr marL="161925" indent="-161925" defTabSz="645319">
              <a:buClr>
                <a:schemeClr val="accent6">
                  <a:lumMod val="75000"/>
                </a:schemeClr>
              </a:buClr>
              <a:buFontTx/>
              <a:buChar char="•"/>
              <a:defRPr/>
            </a:pPr>
            <a:endParaRPr lang="en-US" sz="1200" dirty="0"/>
          </a:p>
          <a:p>
            <a:pPr marL="161925" indent="-161925" defTabSz="645319">
              <a:buClr>
                <a:schemeClr val="accent6">
                  <a:lumMod val="75000"/>
                </a:schemeClr>
              </a:buClr>
              <a:buFontTx/>
              <a:buChar char="•"/>
              <a:defRPr/>
            </a:pPr>
            <a:r>
              <a:rPr lang="en-US" sz="1200" dirty="0"/>
              <a:t>Operational, administrative, and governance</a:t>
            </a:r>
          </a:p>
          <a:p>
            <a:pPr marL="161925" indent="-161925" defTabSz="645319">
              <a:buClr>
                <a:schemeClr val="accent6">
                  <a:lumMod val="75000"/>
                </a:schemeClr>
              </a:buClr>
              <a:buFontTx/>
              <a:buChar char="•"/>
              <a:defRPr/>
            </a:pPr>
            <a:endParaRPr lang="en-US" sz="1200" dirty="0"/>
          </a:p>
          <a:p>
            <a:pPr defTabSz="645319">
              <a:buClr>
                <a:schemeClr val="accent6">
                  <a:lumMod val="75000"/>
                </a:schemeClr>
              </a:buClr>
              <a:defRPr/>
            </a:pPr>
            <a:endParaRPr lang="en-US" sz="1200" dirty="0"/>
          </a:p>
          <a:p>
            <a:pPr marL="161925" indent="-161925" defTabSz="645319">
              <a:buClr>
                <a:schemeClr val="accent6">
                  <a:lumMod val="75000"/>
                </a:schemeClr>
              </a:buClr>
              <a:buFontTx/>
              <a:buChar char="•"/>
              <a:defRPr/>
            </a:pPr>
            <a:endParaRPr lang="en-US" sz="1200" dirty="0"/>
          </a:p>
          <a:p>
            <a:pPr marL="161925" indent="-161925" defTabSz="645319">
              <a:buClr>
                <a:schemeClr val="accent6">
                  <a:lumMod val="75000"/>
                </a:schemeClr>
              </a:buClr>
              <a:buFontTx/>
              <a:buChar char="•"/>
              <a:defRPr/>
            </a:pPr>
            <a:r>
              <a:rPr lang="en-US" sz="1200" dirty="0"/>
              <a:t>Relatively easy; imitable </a:t>
            </a:r>
          </a:p>
        </p:txBody>
      </p:sp>
      <p:sp>
        <p:nvSpPr>
          <p:cNvPr id="23" name="Rectangle 22">
            <a:extLst>
              <a:ext uri="{FF2B5EF4-FFF2-40B4-BE49-F238E27FC236}">
                <a16:creationId xmlns:a16="http://schemas.microsoft.com/office/drawing/2014/main" id="{6E7041FC-C4F1-6853-25F1-557132C91DA8}"/>
              </a:ext>
            </a:extLst>
          </p:cNvPr>
          <p:cNvSpPr/>
          <p:nvPr/>
        </p:nvSpPr>
        <p:spPr>
          <a:xfrm>
            <a:off x="1381125" y="1702594"/>
            <a:ext cx="1200150" cy="4572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b="1" dirty="0">
                <a:solidFill>
                  <a:schemeClr val="tx1"/>
                </a:solidFill>
                <a:cs typeface="Calibri" pitchFamily="34" charset="0"/>
              </a:rPr>
              <a:t>Purpose</a:t>
            </a:r>
          </a:p>
        </p:txBody>
      </p:sp>
      <p:sp>
        <p:nvSpPr>
          <p:cNvPr id="2" name="Text Placeholder 1">
            <a:extLst>
              <a:ext uri="{FF2B5EF4-FFF2-40B4-BE49-F238E27FC236}">
                <a16:creationId xmlns:a16="http://schemas.microsoft.com/office/drawing/2014/main" id="{BF3A547F-8C36-BD88-710D-7A4AA6FAE38A}"/>
              </a:ext>
            </a:extLst>
          </p:cNvPr>
          <p:cNvSpPr>
            <a:spLocks noGrp="1"/>
          </p:cNvSpPr>
          <p:nvPr>
            <p:ph type="body" sz="quarter" idx="10"/>
          </p:nvPr>
        </p:nvSpPr>
        <p:spPr/>
        <p:txBody>
          <a:bodyPr/>
          <a:lstStyle/>
          <a:p>
            <a:r>
              <a:rPr lang="da-DK" dirty="0"/>
              <a:t>Dynamic Vs. </a:t>
            </a:r>
            <a:r>
              <a:rPr lang="en-US" dirty="0"/>
              <a:t>Ordinary Capabilities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0AD1E-423E-BC49-3190-72F5FD373411}"/>
              </a:ext>
            </a:extLst>
          </p:cNvPr>
          <p:cNvSpPr>
            <a:spLocks noGrp="1"/>
          </p:cNvSpPr>
          <p:nvPr>
            <p:ph type="body" sz="quarter" idx="10"/>
          </p:nvPr>
        </p:nvSpPr>
        <p:spPr/>
        <p:txBody>
          <a:bodyPr>
            <a:normAutofit fontScale="92500" lnSpcReduction="20000"/>
          </a:bodyPr>
          <a:lstStyle/>
          <a:p>
            <a:r>
              <a:rPr lang="en-US" dirty="0"/>
              <a:t>Three categories of dynamic capabilities according to Teece (2007)</a:t>
            </a:r>
            <a:endParaRPr lang="da-DK" dirty="0"/>
          </a:p>
        </p:txBody>
      </p:sp>
      <p:sp>
        <p:nvSpPr>
          <p:cNvPr id="4" name="Rectangle 5">
            <a:extLst>
              <a:ext uri="{FF2B5EF4-FFF2-40B4-BE49-F238E27FC236}">
                <a16:creationId xmlns:a16="http://schemas.microsoft.com/office/drawing/2014/main" id="{B65ECA4C-DD17-BF91-F469-8E9CE22CB1CB}"/>
              </a:ext>
            </a:extLst>
          </p:cNvPr>
          <p:cNvSpPr>
            <a:spLocks noChangeArrowheads="1"/>
          </p:cNvSpPr>
          <p:nvPr/>
        </p:nvSpPr>
        <p:spPr bwMode="auto">
          <a:xfrm flipV="1">
            <a:off x="1527572" y="1657350"/>
            <a:ext cx="1943100" cy="13716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rot="10800000" wrap="none" lIns="137160"/>
          <a:lstStyle/>
          <a:p>
            <a:pPr>
              <a:tabLst>
                <a:tab pos="171450" algn="l"/>
              </a:tabLst>
              <a:defRPr/>
            </a:pPr>
            <a:r>
              <a:rPr lang="en-US" sz="1500" b="1" dirty="0">
                <a:solidFill>
                  <a:schemeClr val="bg1"/>
                </a:solidFill>
              </a:rPr>
              <a:t>Sensing</a:t>
            </a:r>
          </a:p>
          <a:p>
            <a:pPr>
              <a:tabLst>
                <a:tab pos="171450" algn="l"/>
              </a:tabLst>
              <a:defRPr/>
            </a:pPr>
            <a:r>
              <a:rPr lang="en-US" sz="1500" dirty="0">
                <a:solidFill>
                  <a:schemeClr val="bg1"/>
                </a:solidFill>
              </a:rPr>
              <a:t>Identification of </a:t>
            </a:r>
          </a:p>
          <a:p>
            <a:pPr>
              <a:tabLst>
                <a:tab pos="171450" algn="l"/>
              </a:tabLst>
              <a:defRPr/>
            </a:pPr>
            <a:r>
              <a:rPr lang="en-US" sz="1500" dirty="0">
                <a:solidFill>
                  <a:schemeClr val="bg1"/>
                </a:solidFill>
              </a:rPr>
              <a:t>opportunities &amp; </a:t>
            </a:r>
          </a:p>
          <a:p>
            <a:pPr>
              <a:tabLst>
                <a:tab pos="171450" algn="l"/>
              </a:tabLst>
              <a:defRPr/>
            </a:pPr>
            <a:r>
              <a:rPr lang="en-US" sz="1500" dirty="0">
                <a:solidFill>
                  <a:schemeClr val="bg1"/>
                </a:solidFill>
              </a:rPr>
              <a:t>threats at home </a:t>
            </a:r>
          </a:p>
          <a:p>
            <a:pPr>
              <a:tabLst>
                <a:tab pos="171450" algn="l"/>
              </a:tabLst>
              <a:defRPr/>
            </a:pPr>
            <a:r>
              <a:rPr lang="en-US" sz="1500" dirty="0">
                <a:solidFill>
                  <a:schemeClr val="bg1"/>
                </a:solidFill>
              </a:rPr>
              <a:t>and abroad</a:t>
            </a:r>
            <a:endParaRPr lang="en-US" sz="1200" dirty="0">
              <a:solidFill>
                <a:schemeClr val="bg1"/>
              </a:solidFill>
            </a:endParaRPr>
          </a:p>
        </p:txBody>
      </p:sp>
      <p:sp>
        <p:nvSpPr>
          <p:cNvPr id="5" name="Rectangle 8">
            <a:extLst>
              <a:ext uri="{FF2B5EF4-FFF2-40B4-BE49-F238E27FC236}">
                <a16:creationId xmlns:a16="http://schemas.microsoft.com/office/drawing/2014/main" id="{6B75CF6D-CECD-A3B0-B150-183DCFF112C3}"/>
              </a:ext>
            </a:extLst>
          </p:cNvPr>
          <p:cNvSpPr>
            <a:spLocks noChangeArrowheads="1"/>
          </p:cNvSpPr>
          <p:nvPr/>
        </p:nvSpPr>
        <p:spPr bwMode="auto">
          <a:xfrm flipV="1">
            <a:off x="5817394" y="1657350"/>
            <a:ext cx="1885950" cy="13716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rot="10800000" wrap="none" lIns="137160"/>
          <a:lstStyle/>
          <a:p>
            <a:pPr>
              <a:tabLst>
                <a:tab pos="171450" algn="l"/>
              </a:tabLst>
              <a:defRPr/>
            </a:pPr>
            <a:r>
              <a:rPr lang="en-US" sz="1500" b="1" dirty="0">
                <a:solidFill>
                  <a:schemeClr val="bg1"/>
                </a:solidFill>
              </a:rPr>
              <a:t>Transforming</a:t>
            </a:r>
          </a:p>
          <a:p>
            <a:pPr>
              <a:tabLst>
                <a:tab pos="171450" algn="l"/>
              </a:tabLst>
              <a:defRPr/>
            </a:pPr>
            <a:r>
              <a:rPr lang="en-US" sz="1500" dirty="0">
                <a:solidFill>
                  <a:schemeClr val="bg1"/>
                </a:solidFill>
              </a:rPr>
              <a:t>Continuous renewal</a:t>
            </a:r>
          </a:p>
          <a:p>
            <a:pPr>
              <a:tabLst>
                <a:tab pos="171450" algn="l"/>
              </a:tabLst>
              <a:defRPr/>
            </a:pPr>
            <a:r>
              <a:rPr lang="en-US" sz="1500" dirty="0">
                <a:solidFill>
                  <a:schemeClr val="bg1"/>
                </a:solidFill>
              </a:rPr>
              <a:t>and periodic major</a:t>
            </a:r>
          </a:p>
          <a:p>
            <a:pPr>
              <a:tabLst>
                <a:tab pos="171450" algn="l"/>
              </a:tabLst>
              <a:defRPr/>
            </a:pPr>
            <a:r>
              <a:rPr lang="en-US" sz="1500" dirty="0">
                <a:solidFill>
                  <a:schemeClr val="bg1"/>
                </a:solidFill>
              </a:rPr>
              <a:t>strategic shifts</a:t>
            </a:r>
          </a:p>
          <a:p>
            <a:pPr>
              <a:tabLst>
                <a:tab pos="171450" algn="l"/>
              </a:tabLst>
              <a:defRPr/>
            </a:pPr>
            <a:endParaRPr lang="en-US" sz="1500" dirty="0">
              <a:solidFill>
                <a:schemeClr val="bg1"/>
              </a:solidFill>
            </a:endParaRPr>
          </a:p>
          <a:p>
            <a:pPr>
              <a:tabLst>
                <a:tab pos="171450" algn="l"/>
              </a:tabLst>
              <a:defRPr/>
            </a:pPr>
            <a:endParaRPr lang="en-US" sz="1500" dirty="0">
              <a:solidFill>
                <a:schemeClr val="bg1"/>
              </a:solidFill>
            </a:endParaRPr>
          </a:p>
        </p:txBody>
      </p:sp>
      <p:sp>
        <p:nvSpPr>
          <p:cNvPr id="6" name="Rectangle 5">
            <a:extLst>
              <a:ext uri="{FF2B5EF4-FFF2-40B4-BE49-F238E27FC236}">
                <a16:creationId xmlns:a16="http://schemas.microsoft.com/office/drawing/2014/main" id="{75943E7A-5626-0AA2-2657-EEEA01B026BF}"/>
              </a:ext>
            </a:extLst>
          </p:cNvPr>
          <p:cNvSpPr>
            <a:spLocks noChangeArrowheads="1"/>
          </p:cNvSpPr>
          <p:nvPr/>
        </p:nvSpPr>
        <p:spPr bwMode="auto">
          <a:xfrm flipV="1">
            <a:off x="3657600" y="1657350"/>
            <a:ext cx="1943100" cy="13716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rot="10800000" wrap="none" lIns="137160"/>
          <a:lstStyle/>
          <a:p>
            <a:pPr>
              <a:tabLst>
                <a:tab pos="171450" algn="l"/>
              </a:tabLst>
              <a:defRPr/>
            </a:pPr>
            <a:r>
              <a:rPr lang="en-US" sz="1500" b="1" dirty="0">
                <a:solidFill>
                  <a:schemeClr val="tx1"/>
                </a:solidFill>
              </a:rPr>
              <a:t>Seizing</a:t>
            </a:r>
          </a:p>
          <a:p>
            <a:pPr>
              <a:tabLst>
                <a:tab pos="171450" algn="l"/>
              </a:tabLst>
              <a:defRPr/>
            </a:pPr>
            <a:r>
              <a:rPr lang="en-US" sz="1500" dirty="0">
                <a:solidFill>
                  <a:schemeClr val="tx1"/>
                </a:solidFill>
              </a:rPr>
              <a:t>Mobilization of </a:t>
            </a:r>
          </a:p>
          <a:p>
            <a:pPr>
              <a:tabLst>
                <a:tab pos="171450" algn="l"/>
              </a:tabLst>
              <a:defRPr/>
            </a:pPr>
            <a:r>
              <a:rPr lang="en-US" sz="1500" dirty="0">
                <a:solidFill>
                  <a:schemeClr val="tx1"/>
                </a:solidFill>
              </a:rPr>
              <a:t>resources to</a:t>
            </a:r>
          </a:p>
          <a:p>
            <a:pPr>
              <a:tabLst>
                <a:tab pos="171450" algn="l"/>
              </a:tabLst>
              <a:defRPr/>
            </a:pPr>
            <a:r>
              <a:rPr lang="en-US" sz="1500" dirty="0">
                <a:solidFill>
                  <a:schemeClr val="tx1"/>
                </a:solidFill>
              </a:rPr>
              <a:t>deliver value and </a:t>
            </a:r>
          </a:p>
          <a:p>
            <a:pPr>
              <a:tabLst>
                <a:tab pos="171450" algn="l"/>
              </a:tabLst>
              <a:defRPr/>
            </a:pPr>
            <a:r>
              <a:rPr lang="en-US" sz="1500" dirty="0">
                <a:solidFill>
                  <a:schemeClr val="tx1"/>
                </a:solidFill>
              </a:rPr>
              <a:t>shape markets</a:t>
            </a:r>
          </a:p>
        </p:txBody>
      </p:sp>
      <p:cxnSp>
        <p:nvCxnSpPr>
          <p:cNvPr id="3" name="Straight Arrow Connector 2">
            <a:extLst>
              <a:ext uri="{FF2B5EF4-FFF2-40B4-BE49-F238E27FC236}">
                <a16:creationId xmlns:a16="http://schemas.microsoft.com/office/drawing/2014/main" id="{DA82C6DC-6B6D-42C6-4C14-6FFB93449E19}"/>
              </a:ext>
            </a:extLst>
          </p:cNvPr>
          <p:cNvCxnSpPr/>
          <p:nvPr/>
        </p:nvCxnSpPr>
        <p:spPr>
          <a:xfrm>
            <a:off x="3459956" y="2286000"/>
            <a:ext cx="2857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D0575C-4611-6344-4910-2CF8F116AEB6}"/>
              </a:ext>
            </a:extLst>
          </p:cNvPr>
          <p:cNvCxnSpPr/>
          <p:nvPr/>
        </p:nvCxnSpPr>
        <p:spPr>
          <a:xfrm>
            <a:off x="5600700" y="2303860"/>
            <a:ext cx="21669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randombar(horizontal)">
                                      <p:cBhvr>
                                        <p:cTn id="20" dur="500"/>
                                        <p:tgtEl>
                                          <p:spTgt spid="5"/>
                                        </p:tgtEl>
                                      </p:cBhvr>
                                    </p:animEffect>
                                  </p:childTnLst>
                                </p:cTn>
                              </p:par>
                              <p:par>
                                <p:cTn id="21" presetID="14" presetClass="entr" presetSubtype="1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randombar(horizont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2-Point Star 2">
            <a:extLst>
              <a:ext uri="{FF2B5EF4-FFF2-40B4-BE49-F238E27FC236}">
                <a16:creationId xmlns:a16="http://schemas.microsoft.com/office/drawing/2014/main" id="{6594830B-CD67-403D-CF25-D4130F70D1B3}"/>
              </a:ext>
            </a:extLst>
          </p:cNvPr>
          <p:cNvSpPr/>
          <p:nvPr/>
        </p:nvSpPr>
        <p:spPr>
          <a:xfrm>
            <a:off x="3544491" y="769144"/>
            <a:ext cx="2686050" cy="685800"/>
          </a:xfrm>
          <a:prstGeom prst="star12">
            <a:avLst/>
          </a:prstGeom>
        </p:spPr>
        <p:style>
          <a:lnRef idx="3">
            <a:schemeClr val="lt1"/>
          </a:lnRef>
          <a:fillRef idx="1">
            <a:schemeClr val="accent1"/>
          </a:fillRef>
          <a:effectRef idx="1">
            <a:schemeClr val="accent1"/>
          </a:effectRef>
          <a:fontRef idx="minor">
            <a:schemeClr val="lt1"/>
          </a:fontRef>
        </p:style>
        <p:txBody>
          <a:bodyPr anchor="ctr"/>
          <a:lstStyle/>
          <a:p>
            <a:pPr algn="ctr">
              <a:defRPr/>
            </a:pPr>
            <a:r>
              <a:rPr lang="en-US" sz="1200" b="1" dirty="0">
                <a:cs typeface="Arial"/>
              </a:rPr>
              <a:t>Firm Performance</a:t>
            </a:r>
          </a:p>
        </p:txBody>
      </p:sp>
      <p:grpSp>
        <p:nvGrpSpPr>
          <p:cNvPr id="17411" name="Group 4">
            <a:extLst>
              <a:ext uri="{FF2B5EF4-FFF2-40B4-BE49-F238E27FC236}">
                <a16:creationId xmlns:a16="http://schemas.microsoft.com/office/drawing/2014/main" id="{777735E6-D0A3-DAB3-FDD1-484DB0BDB4FB}"/>
              </a:ext>
            </a:extLst>
          </p:cNvPr>
          <p:cNvGrpSpPr>
            <a:grpSpLocks/>
          </p:cNvGrpSpPr>
          <p:nvPr/>
        </p:nvGrpSpPr>
        <p:grpSpPr bwMode="auto">
          <a:xfrm>
            <a:off x="1201341" y="1273969"/>
            <a:ext cx="6572250" cy="3314700"/>
            <a:chOff x="76200" y="1981200"/>
            <a:chExt cx="8763000" cy="4419600"/>
          </a:xfrm>
        </p:grpSpPr>
        <p:sp>
          <p:nvSpPr>
            <p:cNvPr id="17415" name="TextBox 1">
              <a:extLst>
                <a:ext uri="{FF2B5EF4-FFF2-40B4-BE49-F238E27FC236}">
                  <a16:creationId xmlns:a16="http://schemas.microsoft.com/office/drawing/2014/main" id="{20018060-9149-26D8-83A8-79C82D4C7B6A}"/>
                </a:ext>
              </a:extLst>
            </p:cNvPr>
            <p:cNvSpPr txBox="1">
              <a:spLocks noChangeArrowheads="1"/>
            </p:cNvSpPr>
            <p:nvPr/>
          </p:nvSpPr>
          <p:spPr bwMode="auto">
            <a:xfrm>
              <a:off x="1676400" y="4038600"/>
              <a:ext cx="1828800" cy="685800"/>
            </a:xfrm>
            <a:prstGeom prst="rect">
              <a:avLst/>
            </a:prstGeom>
            <a:blipFill dpi="0" rotWithShape="0">
              <a:blip r:embed="rId3"/>
              <a:srcRect/>
              <a:tile tx="0" ty="0" sx="100000" sy="100000" flip="none" algn="tl"/>
            </a:blipFill>
            <a:ln w="19050">
              <a:solidFill>
                <a:schemeClr val="tx1"/>
              </a:solidFill>
              <a:miter lim="800000"/>
              <a:headEnd/>
              <a:tailEnd/>
            </a:ln>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Sensing</a:t>
              </a:r>
            </a:p>
          </p:txBody>
        </p:sp>
        <p:sp>
          <p:nvSpPr>
            <p:cNvPr id="17416" name="TextBox 6">
              <a:extLst>
                <a:ext uri="{FF2B5EF4-FFF2-40B4-BE49-F238E27FC236}">
                  <a16:creationId xmlns:a16="http://schemas.microsoft.com/office/drawing/2014/main" id="{31A6B7C5-5704-73A9-E6FA-5482471E1879}"/>
                </a:ext>
              </a:extLst>
            </p:cNvPr>
            <p:cNvSpPr txBox="1">
              <a:spLocks noChangeArrowheads="1"/>
            </p:cNvSpPr>
            <p:nvPr/>
          </p:nvSpPr>
          <p:spPr bwMode="auto">
            <a:xfrm>
              <a:off x="4191000" y="4038600"/>
              <a:ext cx="1828800" cy="685800"/>
            </a:xfrm>
            <a:prstGeom prst="rect">
              <a:avLst/>
            </a:prstGeom>
            <a:blipFill dpi="0" rotWithShape="0">
              <a:blip r:embed="rId3"/>
              <a:srcRect/>
              <a:tile tx="0" ty="0" sx="100000" sy="100000" flip="none" algn="tl"/>
            </a:blipFill>
            <a:ln w="19050">
              <a:solidFill>
                <a:schemeClr val="tx1"/>
              </a:solidFill>
              <a:miter lim="800000"/>
              <a:headEnd/>
              <a:tailEnd/>
            </a:ln>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Co-creating and Seizing</a:t>
              </a:r>
            </a:p>
          </p:txBody>
        </p:sp>
        <p:sp>
          <p:nvSpPr>
            <p:cNvPr id="17417" name="TextBox 7">
              <a:extLst>
                <a:ext uri="{FF2B5EF4-FFF2-40B4-BE49-F238E27FC236}">
                  <a16:creationId xmlns:a16="http://schemas.microsoft.com/office/drawing/2014/main" id="{3301FFAA-DB18-622A-A241-213C107FD79C}"/>
                </a:ext>
              </a:extLst>
            </p:cNvPr>
            <p:cNvSpPr txBox="1">
              <a:spLocks noChangeArrowheads="1"/>
            </p:cNvSpPr>
            <p:nvPr/>
          </p:nvSpPr>
          <p:spPr bwMode="auto">
            <a:xfrm>
              <a:off x="6781800" y="3962400"/>
              <a:ext cx="1981200" cy="685800"/>
            </a:xfrm>
            <a:prstGeom prst="rect">
              <a:avLst/>
            </a:prstGeom>
            <a:blipFill dpi="0" rotWithShape="0">
              <a:blip r:embed="rId3"/>
              <a:srcRect/>
              <a:tile tx="0" ty="0" sx="100000" sy="100000" flip="none" algn="tl"/>
            </a:blipFill>
            <a:ln w="19050">
              <a:solidFill>
                <a:schemeClr val="tx1"/>
              </a:solidFill>
              <a:miter lim="800000"/>
              <a:headEnd/>
              <a:tailEnd/>
            </a:ln>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Transforming</a:t>
              </a:r>
            </a:p>
          </p:txBody>
        </p:sp>
        <p:sp>
          <p:nvSpPr>
            <p:cNvPr id="17418" name="TextBox 8">
              <a:extLst>
                <a:ext uri="{FF2B5EF4-FFF2-40B4-BE49-F238E27FC236}">
                  <a16:creationId xmlns:a16="http://schemas.microsoft.com/office/drawing/2014/main" id="{2DD0A480-8287-2529-AC79-3F5F154AE06F}"/>
                </a:ext>
              </a:extLst>
            </p:cNvPr>
            <p:cNvSpPr txBox="1">
              <a:spLocks noChangeArrowheads="1"/>
            </p:cNvSpPr>
            <p:nvPr/>
          </p:nvSpPr>
          <p:spPr bwMode="auto">
            <a:xfrm>
              <a:off x="1676400" y="5181600"/>
              <a:ext cx="18288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Perception and Attention</a:t>
              </a:r>
            </a:p>
          </p:txBody>
        </p:sp>
        <p:sp>
          <p:nvSpPr>
            <p:cNvPr id="17419" name="TextBox 9">
              <a:extLst>
                <a:ext uri="{FF2B5EF4-FFF2-40B4-BE49-F238E27FC236}">
                  <a16:creationId xmlns:a16="http://schemas.microsoft.com/office/drawing/2014/main" id="{BA289F3B-37E8-D327-2FAC-E5C74A311161}"/>
                </a:ext>
              </a:extLst>
            </p:cNvPr>
            <p:cNvSpPr txBox="1">
              <a:spLocks noChangeArrowheads="1"/>
            </p:cNvSpPr>
            <p:nvPr/>
          </p:nvSpPr>
          <p:spPr bwMode="auto">
            <a:xfrm>
              <a:off x="4191000" y="5181600"/>
              <a:ext cx="1905000" cy="1219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Problem Solving and Reasoning</a:t>
              </a:r>
            </a:p>
          </p:txBody>
        </p:sp>
        <p:sp>
          <p:nvSpPr>
            <p:cNvPr id="17420" name="TextBox 11">
              <a:extLst>
                <a:ext uri="{FF2B5EF4-FFF2-40B4-BE49-F238E27FC236}">
                  <a16:creationId xmlns:a16="http://schemas.microsoft.com/office/drawing/2014/main" id="{3BD5263C-0594-DB90-1C8A-07A4E241D939}"/>
                </a:ext>
              </a:extLst>
            </p:cNvPr>
            <p:cNvSpPr txBox="1">
              <a:spLocks noChangeArrowheads="1"/>
            </p:cNvSpPr>
            <p:nvPr/>
          </p:nvSpPr>
          <p:spPr bwMode="auto">
            <a:xfrm>
              <a:off x="6781800" y="5181600"/>
              <a:ext cx="20574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Communication and Social Cognition</a:t>
              </a:r>
            </a:p>
          </p:txBody>
        </p:sp>
        <p:sp>
          <p:nvSpPr>
            <p:cNvPr id="17421" name="TextBox 12">
              <a:extLst>
                <a:ext uri="{FF2B5EF4-FFF2-40B4-BE49-F238E27FC236}">
                  <a16:creationId xmlns:a16="http://schemas.microsoft.com/office/drawing/2014/main" id="{CFCAEF74-AD0C-D29D-A37E-F257C99560D4}"/>
                </a:ext>
              </a:extLst>
            </p:cNvPr>
            <p:cNvSpPr txBox="1">
              <a:spLocks noChangeArrowheads="1"/>
            </p:cNvSpPr>
            <p:nvPr/>
          </p:nvSpPr>
          <p:spPr bwMode="auto">
            <a:xfrm>
              <a:off x="1676400" y="2438400"/>
              <a:ext cx="1828800" cy="1219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Opportunity Recognition &amp; Creation</a:t>
              </a:r>
            </a:p>
          </p:txBody>
        </p:sp>
        <p:sp>
          <p:nvSpPr>
            <p:cNvPr id="17422" name="TextBox 13">
              <a:extLst>
                <a:ext uri="{FF2B5EF4-FFF2-40B4-BE49-F238E27FC236}">
                  <a16:creationId xmlns:a16="http://schemas.microsoft.com/office/drawing/2014/main" id="{C0330D46-E09D-3551-F21D-B53C36CF1023}"/>
                </a:ext>
              </a:extLst>
            </p:cNvPr>
            <p:cNvSpPr txBox="1">
              <a:spLocks noChangeArrowheads="1"/>
            </p:cNvSpPr>
            <p:nvPr/>
          </p:nvSpPr>
          <p:spPr bwMode="auto">
            <a:xfrm>
              <a:off x="4114800" y="2438400"/>
              <a:ext cx="1905000" cy="12954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Strategic Investment &amp; Business Model Design</a:t>
              </a:r>
            </a:p>
          </p:txBody>
        </p:sp>
        <p:sp>
          <p:nvSpPr>
            <p:cNvPr id="17423" name="TextBox 14">
              <a:extLst>
                <a:ext uri="{FF2B5EF4-FFF2-40B4-BE49-F238E27FC236}">
                  <a16:creationId xmlns:a16="http://schemas.microsoft.com/office/drawing/2014/main" id="{6F4A6A8F-032D-0E2D-CB75-427E979AF154}"/>
                </a:ext>
              </a:extLst>
            </p:cNvPr>
            <p:cNvSpPr txBox="1">
              <a:spLocks noChangeArrowheads="1"/>
            </p:cNvSpPr>
            <p:nvPr/>
          </p:nvSpPr>
          <p:spPr bwMode="auto">
            <a:xfrm>
              <a:off x="6705600" y="2362200"/>
              <a:ext cx="2057400" cy="12954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lgn="ctr">
                <a:spcBef>
                  <a:spcPct val="0"/>
                </a:spcBef>
              </a:pPr>
              <a:r>
                <a:rPr lang="en-US" altLang="sv-SE" sz="1200">
                  <a:latin typeface="Times New Roman" panose="02020603050405020304" pitchFamily="18" charset="0"/>
                </a:rPr>
                <a:t>Asset Alignment &amp; Overcoming Change Resistance</a:t>
              </a:r>
            </a:p>
          </p:txBody>
        </p:sp>
        <p:sp>
          <p:nvSpPr>
            <p:cNvPr id="4" name="TextBox 3">
              <a:extLst>
                <a:ext uri="{FF2B5EF4-FFF2-40B4-BE49-F238E27FC236}">
                  <a16:creationId xmlns:a16="http://schemas.microsoft.com/office/drawing/2014/main" id="{33AE3520-5C35-5747-F073-BC70FB9A12CE}"/>
                </a:ext>
              </a:extLst>
            </p:cNvPr>
            <p:cNvSpPr txBox="1"/>
            <p:nvPr/>
          </p:nvSpPr>
          <p:spPr>
            <a:xfrm>
              <a:off x="76200" y="5124451"/>
              <a:ext cx="1447800" cy="1107996"/>
            </a:xfrm>
            <a:prstGeom prst="rect">
              <a:avLst/>
            </a:prstGeom>
            <a:noFill/>
          </p:spPr>
          <p:txBody>
            <a:bodyPr>
              <a:spAutoFit/>
            </a:bodyPr>
            <a:lstStyle/>
            <a:p>
              <a:pPr>
                <a:defRPr/>
              </a:pPr>
              <a:r>
                <a:rPr lang="en-US" sz="1200" dirty="0">
                  <a:solidFill>
                    <a:schemeClr val="accent1">
                      <a:lumMod val="75000"/>
                    </a:schemeClr>
                  </a:solidFill>
                </a:rPr>
                <a:t>Sample Managerial Cognitive Capabilities</a:t>
              </a:r>
            </a:p>
          </p:txBody>
        </p:sp>
        <p:sp>
          <p:nvSpPr>
            <p:cNvPr id="17" name="TextBox 16">
              <a:extLst>
                <a:ext uri="{FF2B5EF4-FFF2-40B4-BE49-F238E27FC236}">
                  <a16:creationId xmlns:a16="http://schemas.microsoft.com/office/drawing/2014/main" id="{07CD9DD0-545B-D51D-302C-0CACD0F4A677}"/>
                </a:ext>
              </a:extLst>
            </p:cNvPr>
            <p:cNvSpPr txBox="1"/>
            <p:nvPr/>
          </p:nvSpPr>
          <p:spPr>
            <a:xfrm>
              <a:off x="111125" y="3886200"/>
              <a:ext cx="1489075" cy="861775"/>
            </a:xfrm>
            <a:prstGeom prst="rect">
              <a:avLst/>
            </a:prstGeom>
            <a:noFill/>
          </p:spPr>
          <p:txBody>
            <a:bodyPr>
              <a:spAutoFit/>
            </a:bodyPr>
            <a:lstStyle/>
            <a:p>
              <a:pPr>
                <a:defRPr/>
              </a:pPr>
              <a:r>
                <a:rPr lang="en-US" sz="1200" dirty="0">
                  <a:solidFill>
                    <a:schemeClr val="accent1">
                      <a:lumMod val="75000"/>
                    </a:schemeClr>
                  </a:solidFill>
                </a:rPr>
                <a:t>Dynamic Managerial Capabilities</a:t>
              </a:r>
            </a:p>
          </p:txBody>
        </p:sp>
        <p:sp>
          <p:nvSpPr>
            <p:cNvPr id="18" name="TextBox 17">
              <a:extLst>
                <a:ext uri="{FF2B5EF4-FFF2-40B4-BE49-F238E27FC236}">
                  <a16:creationId xmlns:a16="http://schemas.microsoft.com/office/drawing/2014/main" id="{F8E34265-29FC-08C0-9757-AC8A836BD41F}"/>
                </a:ext>
              </a:extLst>
            </p:cNvPr>
            <p:cNvSpPr txBox="1"/>
            <p:nvPr/>
          </p:nvSpPr>
          <p:spPr>
            <a:xfrm>
              <a:off x="152400" y="2505075"/>
              <a:ext cx="1219200" cy="861775"/>
            </a:xfrm>
            <a:prstGeom prst="rect">
              <a:avLst/>
            </a:prstGeom>
            <a:noFill/>
          </p:spPr>
          <p:txBody>
            <a:bodyPr>
              <a:spAutoFit/>
            </a:bodyPr>
            <a:lstStyle/>
            <a:p>
              <a:pPr>
                <a:defRPr/>
              </a:pPr>
              <a:r>
                <a:rPr lang="en-US" sz="1200" dirty="0">
                  <a:solidFill>
                    <a:schemeClr val="accent1">
                      <a:lumMod val="75000"/>
                    </a:schemeClr>
                  </a:solidFill>
                </a:rPr>
                <a:t>Potential  Strategic Impacts</a:t>
              </a:r>
            </a:p>
          </p:txBody>
        </p:sp>
        <p:cxnSp>
          <p:nvCxnSpPr>
            <p:cNvPr id="16" name="Straight Arrow Connector 15">
              <a:extLst>
                <a:ext uri="{FF2B5EF4-FFF2-40B4-BE49-F238E27FC236}">
                  <a16:creationId xmlns:a16="http://schemas.microsoft.com/office/drawing/2014/main" id="{9E4C0949-306D-BBF8-1316-65B7C6816570}"/>
                </a:ext>
              </a:extLst>
            </p:cNvPr>
            <p:cNvCxnSpPr/>
            <p:nvPr/>
          </p:nvCxnSpPr>
          <p:spPr>
            <a:xfrm flipV="1">
              <a:off x="2286000" y="1981200"/>
              <a:ext cx="114300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DF1EB96-147D-CD50-E80E-C0CDFA253C49}"/>
                </a:ext>
              </a:extLst>
            </p:cNvPr>
            <p:cNvCxnSpPr/>
            <p:nvPr/>
          </p:nvCxnSpPr>
          <p:spPr>
            <a:xfrm flipH="1" flipV="1">
              <a:off x="6553200" y="1981200"/>
              <a:ext cx="914400" cy="3810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16CDE29-BC76-35C6-CF17-AB41D1DA8CA2}"/>
                </a:ext>
              </a:extLst>
            </p:cNvPr>
            <p:cNvCxnSpPr/>
            <p:nvPr/>
          </p:nvCxnSpPr>
          <p:spPr>
            <a:xfrm flipV="1">
              <a:off x="2438400" y="37338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30D8DE6-F916-A850-6F25-D9DCD71ED5DD}"/>
                </a:ext>
              </a:extLst>
            </p:cNvPr>
            <p:cNvCxnSpPr/>
            <p:nvPr/>
          </p:nvCxnSpPr>
          <p:spPr>
            <a:xfrm flipV="1">
              <a:off x="5029200" y="37338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899A1584-E258-8702-118C-709540D67DD0}"/>
                </a:ext>
              </a:extLst>
            </p:cNvPr>
            <p:cNvCxnSpPr/>
            <p:nvPr/>
          </p:nvCxnSpPr>
          <p:spPr>
            <a:xfrm flipV="1">
              <a:off x="7772400" y="36576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31830F4E-4886-80B4-1A14-4CCD99D58D2C}"/>
                </a:ext>
              </a:extLst>
            </p:cNvPr>
            <p:cNvCxnSpPr/>
            <p:nvPr/>
          </p:nvCxnSpPr>
          <p:spPr>
            <a:xfrm flipV="1">
              <a:off x="2438400" y="48006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9FB8C3B-037E-8447-F5A0-A6FB1EB87BCD}"/>
                </a:ext>
              </a:extLst>
            </p:cNvPr>
            <p:cNvCxnSpPr/>
            <p:nvPr/>
          </p:nvCxnSpPr>
          <p:spPr>
            <a:xfrm flipV="1">
              <a:off x="5105400" y="48006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859771D-99B3-0BAF-A9C7-78E0C799FCB8}"/>
                </a:ext>
              </a:extLst>
            </p:cNvPr>
            <p:cNvCxnSpPr/>
            <p:nvPr/>
          </p:nvCxnSpPr>
          <p:spPr>
            <a:xfrm flipV="1">
              <a:off x="7772400" y="4724400"/>
              <a:ext cx="0" cy="4572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1BAAD66D-C6F5-5DBB-6309-1268DD66FD18}"/>
                </a:ext>
              </a:extLst>
            </p:cNvPr>
            <p:cNvCxnSpPr/>
            <p:nvPr/>
          </p:nvCxnSpPr>
          <p:spPr>
            <a:xfrm flipV="1">
              <a:off x="5029200" y="2209800"/>
              <a:ext cx="0" cy="304800"/>
            </a:xfrm>
            <a:prstGeom prst="straightConnector1">
              <a:avLst/>
            </a:prstGeom>
            <a:ln w="31750">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7412" name="TextBox 18">
            <a:extLst>
              <a:ext uri="{FF2B5EF4-FFF2-40B4-BE49-F238E27FC236}">
                <a16:creationId xmlns:a16="http://schemas.microsoft.com/office/drawing/2014/main" id="{BCA56B1F-B6C5-7975-DF11-CFC725C63F9D}"/>
              </a:ext>
            </a:extLst>
          </p:cNvPr>
          <p:cNvSpPr txBox="1">
            <a:spLocks noChangeArrowheads="1"/>
          </p:cNvSpPr>
          <p:nvPr/>
        </p:nvSpPr>
        <p:spPr bwMode="auto">
          <a:xfrm>
            <a:off x="5944791" y="4593432"/>
            <a:ext cx="19990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defRPr>
            </a:lvl1pPr>
            <a:lvl2pPr marL="742950" indent="-285750">
              <a:spcBef>
                <a:spcPct val="20000"/>
              </a:spcBef>
              <a:defRPr sz="2800">
                <a:solidFill>
                  <a:schemeClr val="tx1"/>
                </a:solidFill>
                <a:latin typeface="Arial" panose="020B0604020202020204" pitchFamily="34" charset="0"/>
              </a:defRPr>
            </a:lvl2pPr>
            <a:lvl3pPr marL="1143000" indent="-228600">
              <a:spcBef>
                <a:spcPct val="20000"/>
              </a:spcBef>
              <a:defRPr sz="2800">
                <a:solidFill>
                  <a:schemeClr val="tx1"/>
                </a:solidFill>
                <a:latin typeface="Arial" panose="020B0604020202020204" pitchFamily="34" charset="0"/>
              </a:defRPr>
            </a:lvl3pPr>
            <a:lvl4pPr marL="1600200" indent="-228600">
              <a:spcBef>
                <a:spcPct val="20000"/>
              </a:spcBef>
              <a:defRPr sz="2800">
                <a:solidFill>
                  <a:schemeClr val="tx1"/>
                </a:solidFill>
                <a:latin typeface="Arial" panose="020B0604020202020204" pitchFamily="34" charset="0"/>
              </a:defRPr>
            </a:lvl4pPr>
            <a:lvl5pPr marL="2057400" indent="-228600">
              <a:spcBef>
                <a:spcPct val="20000"/>
              </a:spcBef>
              <a:defRPr sz="2800">
                <a:solidFill>
                  <a:schemeClr val="tx1"/>
                </a:solidFill>
                <a:latin typeface="Arial" panose="020B0604020202020204" pitchFamily="34" charset="0"/>
              </a:defRPr>
            </a:lvl5pPr>
            <a:lvl6pPr marL="2514600" indent="-228600" eaLnBrk="0" fontAlgn="base" hangingPunct="0">
              <a:spcBef>
                <a:spcPct val="20000"/>
              </a:spcBef>
              <a:spcAft>
                <a:spcPct val="0"/>
              </a:spcAft>
              <a:defRPr sz="2800">
                <a:solidFill>
                  <a:schemeClr val="tx1"/>
                </a:solidFill>
                <a:latin typeface="Arial" panose="020B0604020202020204" pitchFamily="34" charset="0"/>
              </a:defRPr>
            </a:lvl6pPr>
            <a:lvl7pPr marL="2971800" indent="-228600" eaLnBrk="0" fontAlgn="base" hangingPunct="0">
              <a:spcBef>
                <a:spcPct val="20000"/>
              </a:spcBef>
              <a:spcAft>
                <a:spcPct val="0"/>
              </a:spcAft>
              <a:defRPr sz="2800">
                <a:solidFill>
                  <a:schemeClr val="tx1"/>
                </a:solidFill>
                <a:latin typeface="Arial" panose="020B0604020202020204" pitchFamily="34" charset="0"/>
              </a:defRPr>
            </a:lvl7pPr>
            <a:lvl8pPr marL="3429000" indent="-228600" eaLnBrk="0" fontAlgn="base" hangingPunct="0">
              <a:spcBef>
                <a:spcPct val="20000"/>
              </a:spcBef>
              <a:spcAft>
                <a:spcPct val="0"/>
              </a:spcAft>
              <a:defRPr sz="2800">
                <a:solidFill>
                  <a:schemeClr val="tx1"/>
                </a:solidFill>
                <a:latin typeface="Arial" panose="020B0604020202020204" pitchFamily="34" charset="0"/>
              </a:defRPr>
            </a:lvl8pPr>
            <a:lvl9pPr marL="3886200" indent="-228600" eaLnBrk="0" fontAlgn="base" hangingPunct="0">
              <a:spcBef>
                <a:spcPct val="20000"/>
              </a:spcBef>
              <a:spcAft>
                <a:spcPct val="0"/>
              </a:spcAft>
              <a:defRPr sz="2800">
                <a:solidFill>
                  <a:schemeClr val="tx1"/>
                </a:solidFill>
                <a:latin typeface="Arial" panose="020B0604020202020204" pitchFamily="34" charset="0"/>
              </a:defRPr>
            </a:lvl9pPr>
          </a:lstStyle>
          <a:p>
            <a:pPr>
              <a:spcBef>
                <a:spcPct val="0"/>
              </a:spcBef>
            </a:pPr>
            <a:r>
              <a:rPr lang="en-US" altLang="sv-SE" sz="750">
                <a:latin typeface="Times New Roman" panose="02020603050405020304" pitchFamily="18" charset="0"/>
              </a:rPr>
              <a:t>Source: Helfat &amp; Peteraf (2015, p.837) </a:t>
            </a:r>
          </a:p>
          <a:p>
            <a:pPr>
              <a:spcBef>
                <a:spcPct val="0"/>
              </a:spcBef>
            </a:pPr>
            <a:endParaRPr lang="en-US" altLang="sv-SE" sz="750">
              <a:latin typeface="Times New Roman" panose="02020603050405020304" pitchFamily="18" charset="0"/>
            </a:endParaRPr>
          </a:p>
        </p:txBody>
      </p:sp>
      <p:sp>
        <p:nvSpPr>
          <p:cNvPr id="8" name="Text Placeholder 7">
            <a:extLst>
              <a:ext uri="{FF2B5EF4-FFF2-40B4-BE49-F238E27FC236}">
                <a16:creationId xmlns:a16="http://schemas.microsoft.com/office/drawing/2014/main" id="{594F1A70-DBEF-8C51-F668-705BF912F8A7}"/>
              </a:ext>
            </a:extLst>
          </p:cNvPr>
          <p:cNvSpPr>
            <a:spLocks noGrp="1"/>
          </p:cNvSpPr>
          <p:nvPr>
            <p:ph type="body" sz="quarter" idx="10"/>
          </p:nvPr>
        </p:nvSpPr>
        <p:spPr/>
        <p:txBody>
          <a:bodyPr/>
          <a:lstStyle/>
          <a:p>
            <a:r>
              <a:rPr lang="en-US" dirty="0"/>
              <a:t>The dynamic capabilities framework</a:t>
            </a:r>
            <a:endParaRPr lang="da-DK"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7A480B-6002-6187-D874-8CF50869A0BA}"/>
              </a:ext>
            </a:extLst>
          </p:cNvPr>
          <p:cNvSpPr>
            <a:spLocks noGrp="1"/>
          </p:cNvSpPr>
          <p:nvPr>
            <p:ph type="body" sz="quarter" idx="10"/>
          </p:nvPr>
        </p:nvSpPr>
        <p:spPr/>
        <p:txBody>
          <a:bodyPr/>
          <a:lstStyle/>
          <a:p>
            <a:r>
              <a:rPr lang="da-DK" dirty="0"/>
              <a:t>OPEN FORUM: Example of Amazon</a:t>
            </a:r>
          </a:p>
        </p:txBody>
      </p:sp>
      <p:pic>
        <p:nvPicPr>
          <p:cNvPr id="1026" name="Picture 2" descr="Amazon Ecosystem overview">
            <a:extLst>
              <a:ext uri="{FF2B5EF4-FFF2-40B4-BE49-F238E27FC236}">
                <a16:creationId xmlns:a16="http://schemas.microsoft.com/office/drawing/2014/main" id="{26A46507-F835-8C8E-18DE-001D1CF7132C}"/>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759527" y="798906"/>
            <a:ext cx="6043036" cy="3809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pPr marL="457200" indent="-457200">
              <a:buFont typeface="Arial" panose="020B0604020202020204" pitchFamily="34" charset="0"/>
              <a:buChar char="•"/>
            </a:pPr>
            <a:r>
              <a:rPr lang="en-US" sz="2800" dirty="0"/>
              <a:t>How does digitalization influence dynamic capabilities?</a:t>
            </a:r>
          </a:p>
          <a:p>
            <a:pPr marL="457200" indent="-457200">
              <a:buFont typeface="Arial" panose="020B0604020202020204" pitchFamily="34" charset="0"/>
              <a:buChar char="•"/>
            </a:pPr>
            <a:r>
              <a:rPr lang="en-US" sz="2800" b="1" dirty="0"/>
              <a:t>How is digital transformation challenge the firm’s key resources?</a:t>
            </a:r>
          </a:p>
        </p:txBody>
      </p:sp>
      <p:sp>
        <p:nvSpPr>
          <p:cNvPr id="3" name="Text Placeholder 2"/>
          <p:cNvSpPr>
            <a:spLocks noGrp="1"/>
          </p:cNvSpPr>
          <p:nvPr>
            <p:ph type="body" sz="quarter" idx="10"/>
          </p:nvPr>
        </p:nvSpPr>
        <p:spPr/>
        <p:txBody>
          <a:bodyPr/>
          <a:lstStyle/>
          <a:p>
            <a:r>
              <a:rPr lang="en-AU"/>
              <a:t>Questions related to learning objectives</a:t>
            </a:r>
            <a:endParaRPr lang="en-AU" dirty="0"/>
          </a:p>
        </p:txBody>
      </p:sp>
    </p:spTree>
    <p:extLst>
      <p:ext uri="{BB962C8B-B14F-4D97-AF65-F5344CB8AC3E}">
        <p14:creationId xmlns:p14="http://schemas.microsoft.com/office/powerpoint/2010/main" val="1958762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218419C-25B9-3C40-53B4-BE75AF0B1B9E}"/>
              </a:ext>
            </a:extLst>
          </p:cNvPr>
          <p:cNvSpPr>
            <a:spLocks noGrp="1"/>
          </p:cNvSpPr>
          <p:nvPr>
            <p:ph sz="quarter" idx="12"/>
          </p:nvPr>
        </p:nvSpPr>
        <p:spPr/>
        <p:txBody>
          <a:bodyPr/>
          <a:lstStyle/>
          <a:p>
            <a:endParaRPr lang="en-US" sz="1800" dirty="0"/>
          </a:p>
          <a:p>
            <a:r>
              <a:rPr lang="en-US" sz="1800" dirty="0"/>
              <a:t>MIT report (Furr &amp; </a:t>
            </a:r>
            <a:r>
              <a:rPr lang="en-US" sz="1800" dirty="0" err="1"/>
              <a:t>Shipilov</a:t>
            </a:r>
            <a:r>
              <a:rPr lang="en-US" sz="1800" dirty="0"/>
              <a:t>, 2025) found that 95% of enterprise generative AI pilots fail to deliver measurable returns</a:t>
            </a:r>
          </a:p>
          <a:p>
            <a:endParaRPr lang="en-US" sz="1800" dirty="0"/>
          </a:p>
          <a:p>
            <a:r>
              <a:rPr lang="en-US" sz="1800" dirty="0"/>
              <a:t>AI entity view: a self-contained system that “lives” inside algorithms and can think and act on its own. </a:t>
            </a:r>
          </a:p>
          <a:p>
            <a:pPr lvl="1"/>
            <a:r>
              <a:rPr lang="en-US" sz="1500" dirty="0"/>
              <a:t>Underestimate the organizational work needed and assume success depends mainly on the technical quality of the model</a:t>
            </a:r>
          </a:p>
          <a:p>
            <a:pPr lvl="1"/>
            <a:r>
              <a:rPr lang="en-US" sz="1500" dirty="0" err="1"/>
              <a:t>Unprepare</a:t>
            </a:r>
            <a:r>
              <a:rPr lang="en-US" sz="1500" dirty="0"/>
              <a:t> for the changes in roles, processes, and responsibilities that actually determine whether AI delivers value.</a:t>
            </a:r>
          </a:p>
          <a:p>
            <a:endParaRPr lang="da-DK" dirty="0"/>
          </a:p>
        </p:txBody>
      </p:sp>
      <p:sp>
        <p:nvSpPr>
          <p:cNvPr id="6" name="Title 5">
            <a:extLst>
              <a:ext uri="{FF2B5EF4-FFF2-40B4-BE49-F238E27FC236}">
                <a16:creationId xmlns:a16="http://schemas.microsoft.com/office/drawing/2014/main" id="{A43F812D-0E7D-23CF-A9A9-92EC68E127FB}"/>
              </a:ext>
            </a:extLst>
          </p:cNvPr>
          <p:cNvSpPr>
            <a:spLocks noGrp="1"/>
          </p:cNvSpPr>
          <p:nvPr>
            <p:ph type="title" idx="4294967295"/>
          </p:nvPr>
        </p:nvSpPr>
        <p:spPr>
          <a:xfrm>
            <a:off x="0" y="0"/>
            <a:ext cx="0" cy="0"/>
          </a:xfrm>
        </p:spPr>
        <p:txBody>
          <a:bodyPr/>
          <a:lstStyle/>
          <a:p>
            <a:br>
              <a:rPr lang="en-US" dirty="0"/>
            </a:br>
            <a:endParaRPr lang="da-DK" dirty="0"/>
          </a:p>
        </p:txBody>
      </p:sp>
      <p:sp>
        <p:nvSpPr>
          <p:cNvPr id="4" name="Subtitle 7">
            <a:extLst>
              <a:ext uri="{FF2B5EF4-FFF2-40B4-BE49-F238E27FC236}">
                <a16:creationId xmlns:a16="http://schemas.microsoft.com/office/drawing/2014/main" id="{81D647A7-6385-DB35-0A3D-94B608FC5B05}"/>
              </a:ext>
            </a:extLst>
          </p:cNvPr>
          <p:cNvSpPr>
            <a:spLocks noGrp="1"/>
          </p:cNvSpPr>
          <p:nvPr>
            <p:ph type="body" sz="quarter" idx="10"/>
          </p:nvPr>
        </p:nvSpPr>
        <p:spPr>
          <a:xfrm>
            <a:off x="917575" y="304800"/>
            <a:ext cx="7310438" cy="649288"/>
          </a:xfrm>
        </p:spPr>
        <p:txBody>
          <a:bodyPr>
            <a:normAutofit fontScale="92500" lnSpcReduction="20000"/>
          </a:bodyPr>
          <a:lstStyle/>
          <a:p>
            <a:r>
              <a:rPr lang="en-US" dirty="0"/>
              <a:t>Business view of AI as an entity- plug-and-play view</a:t>
            </a:r>
            <a:endParaRPr lang="da-DK" dirty="0"/>
          </a:p>
          <a:p>
            <a:endParaRPr lang="da-DK" dirty="0"/>
          </a:p>
          <a:p>
            <a:endParaRPr lang="da-DK" dirty="0"/>
          </a:p>
        </p:txBody>
      </p:sp>
    </p:spTree>
    <p:extLst>
      <p:ext uri="{BB962C8B-B14F-4D97-AF65-F5344CB8AC3E}">
        <p14:creationId xmlns:p14="http://schemas.microsoft.com/office/powerpoint/2010/main" val="2034162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9A33E-CF78-2C89-6BFA-A8C91A38F8A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26A6707-F4CF-C589-9715-F4FD2CEAD1ED}"/>
              </a:ext>
            </a:extLst>
          </p:cNvPr>
          <p:cNvSpPr>
            <a:spLocks noGrp="1"/>
          </p:cNvSpPr>
          <p:nvPr>
            <p:ph sz="quarter" idx="12"/>
          </p:nvPr>
        </p:nvSpPr>
        <p:spPr/>
        <p:txBody>
          <a:bodyPr>
            <a:normAutofit/>
          </a:bodyPr>
          <a:lstStyle/>
          <a:p>
            <a:pPr marL="0" indent="0">
              <a:buNone/>
            </a:pPr>
            <a:endParaRPr lang="en-US" sz="2400" dirty="0"/>
          </a:p>
          <a:p>
            <a:pPr marL="0" indent="0" algn="ctr">
              <a:buNone/>
            </a:pPr>
            <a:r>
              <a:rPr lang="en-US" sz="1800" dirty="0"/>
              <a:t>AI as a connective, codependent, and emergent capability of a system of relations––among human and algorithmic actors––to organize by analyzing, learning, and acting in pursuit of organizational goals.</a:t>
            </a:r>
            <a:endParaRPr lang="da-DK" sz="1800" dirty="0"/>
          </a:p>
        </p:txBody>
      </p:sp>
      <p:sp>
        <p:nvSpPr>
          <p:cNvPr id="5" name="Text Placeholder 4">
            <a:extLst>
              <a:ext uri="{FF2B5EF4-FFF2-40B4-BE49-F238E27FC236}">
                <a16:creationId xmlns:a16="http://schemas.microsoft.com/office/drawing/2014/main" id="{5956D9D2-84EF-BF6B-28B1-51432CE2397E}"/>
              </a:ext>
            </a:extLst>
          </p:cNvPr>
          <p:cNvSpPr>
            <a:spLocks noGrp="1"/>
          </p:cNvSpPr>
          <p:nvPr>
            <p:ph type="body" sz="quarter" idx="10"/>
          </p:nvPr>
        </p:nvSpPr>
        <p:spPr/>
        <p:txBody>
          <a:bodyPr/>
          <a:lstStyle/>
          <a:p>
            <a:r>
              <a:rPr lang="en-US" dirty="0"/>
              <a:t>AI as an Organizing Capability</a:t>
            </a:r>
            <a:endParaRPr lang="da-DK" dirty="0"/>
          </a:p>
        </p:txBody>
      </p:sp>
      <p:sp>
        <p:nvSpPr>
          <p:cNvPr id="2" name="Title 1">
            <a:extLst>
              <a:ext uri="{FF2B5EF4-FFF2-40B4-BE49-F238E27FC236}">
                <a16:creationId xmlns:a16="http://schemas.microsoft.com/office/drawing/2014/main" id="{0332FC04-C60A-FE8B-F34C-5490C55F9041}"/>
              </a:ext>
            </a:extLst>
          </p:cNvPr>
          <p:cNvSpPr>
            <a:spLocks noGrp="1"/>
          </p:cNvSpPr>
          <p:nvPr>
            <p:ph type="title" idx="4294967295"/>
          </p:nvPr>
        </p:nvSpPr>
        <p:spPr>
          <a:xfrm>
            <a:off x="0" y="0"/>
            <a:ext cx="0" cy="0"/>
          </a:xfrm>
        </p:spPr>
        <p:txBody>
          <a:bodyPr/>
          <a:lstStyle/>
          <a:p>
            <a:br>
              <a:rPr lang="da-DK" dirty="0"/>
            </a:br>
            <a:endParaRPr lang="da-DK" dirty="0"/>
          </a:p>
        </p:txBody>
      </p:sp>
      <p:sp>
        <p:nvSpPr>
          <p:cNvPr id="4" name="TextBox 3">
            <a:extLst>
              <a:ext uri="{FF2B5EF4-FFF2-40B4-BE49-F238E27FC236}">
                <a16:creationId xmlns:a16="http://schemas.microsoft.com/office/drawing/2014/main" id="{2D97D010-CD3A-765F-AC21-06222BE5D46F}"/>
              </a:ext>
            </a:extLst>
          </p:cNvPr>
          <p:cNvSpPr txBox="1"/>
          <p:nvPr/>
        </p:nvSpPr>
        <p:spPr>
          <a:xfrm>
            <a:off x="1208766" y="4124325"/>
            <a:ext cx="6726468" cy="323165"/>
          </a:xfrm>
          <a:prstGeom prst="rect">
            <a:avLst/>
          </a:prstGeom>
          <a:noFill/>
        </p:spPr>
        <p:txBody>
          <a:bodyPr wrap="square" lIns="0" tIns="0" rIns="0" bIns="0" rtlCol="0">
            <a:spAutoFit/>
          </a:bodyPr>
          <a:lstStyle/>
          <a:p>
            <a:pPr>
              <a:spcAft>
                <a:spcPts val="450"/>
              </a:spcAft>
              <a:buSzPct val="80000"/>
            </a:pPr>
            <a:r>
              <a:rPr lang="en-US" sz="1050" i="1" dirty="0">
                <a:solidFill>
                  <a:schemeClr val="accent1"/>
                </a:solidFill>
                <a:latin typeface="Arial" panose="020B0604020202020204" pitchFamily="34" charset="0"/>
              </a:rPr>
              <a:t>Stelmaszak, M., Joshi, M. P. &amp; Constantiou, I.  (Forthcoming). Artificial Intelligence as an Organizing Capability Arising from Human–Algorithm Relations, Journal of Management Studies </a:t>
            </a:r>
          </a:p>
        </p:txBody>
      </p:sp>
    </p:spTree>
    <p:extLst>
      <p:ext uri="{BB962C8B-B14F-4D97-AF65-F5344CB8AC3E}">
        <p14:creationId xmlns:p14="http://schemas.microsoft.com/office/powerpoint/2010/main" val="25145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barn(inVertical)">
                                      <p:cBhvr>
                                        <p:cTn id="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0E02F-810A-82BA-5E9A-57222C7CEB0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F11D73C-51DB-8A7B-AE0F-32E0DEFC6F7E}"/>
              </a:ext>
            </a:extLst>
          </p:cNvPr>
          <p:cNvSpPr>
            <a:spLocks noGrp="1"/>
          </p:cNvSpPr>
          <p:nvPr>
            <p:ph sz="quarter" idx="12"/>
          </p:nvPr>
        </p:nvSpPr>
        <p:spPr/>
        <p:txBody>
          <a:bodyPr/>
          <a:lstStyle/>
          <a:p>
            <a:r>
              <a:rPr lang="en-US" sz="1800" dirty="0"/>
              <a:t>AI does not reside in technology alone; it only emerges when humans and algorithms work together. </a:t>
            </a:r>
          </a:p>
          <a:p>
            <a:pPr marL="0" indent="0">
              <a:buNone/>
            </a:pPr>
            <a:r>
              <a:rPr lang="en-US" sz="1800" dirty="0">
                <a:solidFill>
                  <a:srgbClr val="0070C0"/>
                </a:solidFill>
              </a:rPr>
              <a:t>AI isn’t a product that can be purchased and “rolled out”. It is a capability that develops through cocreation. </a:t>
            </a:r>
          </a:p>
          <a:p>
            <a:r>
              <a:rPr lang="da-DK" sz="1800" b="1" dirty="0"/>
              <a:t>Domain </a:t>
            </a:r>
            <a:r>
              <a:rPr lang="en-US" sz="1800" b="1" dirty="0"/>
              <a:t>experts</a:t>
            </a:r>
            <a:r>
              <a:rPr lang="en-US" sz="1800" dirty="0"/>
              <a:t>, must engage as co-producers of capability, not as passive recipients of model insights. </a:t>
            </a:r>
          </a:p>
          <a:p>
            <a:pPr lvl="1"/>
            <a:r>
              <a:rPr lang="en-US" sz="1500" dirty="0"/>
              <a:t>Their interpretive inputs, contextual knowledge, and iterative feedback are what make AI work. </a:t>
            </a:r>
          </a:p>
          <a:p>
            <a:pPr lvl="1"/>
            <a:r>
              <a:rPr lang="en-US" sz="1500" dirty="0"/>
              <a:t>They need to decide when and how to involve algorithmic actors in solving problems. </a:t>
            </a:r>
          </a:p>
        </p:txBody>
      </p:sp>
      <p:sp>
        <p:nvSpPr>
          <p:cNvPr id="6" name="Text Placeholder 5">
            <a:extLst>
              <a:ext uri="{FF2B5EF4-FFF2-40B4-BE49-F238E27FC236}">
                <a16:creationId xmlns:a16="http://schemas.microsoft.com/office/drawing/2014/main" id="{9A88D0F5-A88B-3113-2F2A-DC9E6D9984B4}"/>
              </a:ext>
            </a:extLst>
          </p:cNvPr>
          <p:cNvSpPr>
            <a:spLocks noGrp="1"/>
          </p:cNvSpPr>
          <p:nvPr>
            <p:ph type="body" sz="quarter" idx="10"/>
          </p:nvPr>
        </p:nvSpPr>
        <p:spPr/>
        <p:txBody>
          <a:bodyPr/>
          <a:lstStyle/>
          <a:p>
            <a:r>
              <a:rPr lang="en-US" dirty="0"/>
              <a:t>AI requires connectivity, not adoption</a:t>
            </a:r>
            <a:endParaRPr lang="da-DK" dirty="0"/>
          </a:p>
        </p:txBody>
      </p:sp>
    </p:spTree>
    <p:extLst>
      <p:ext uri="{BB962C8B-B14F-4D97-AF65-F5344CB8AC3E}">
        <p14:creationId xmlns:p14="http://schemas.microsoft.com/office/powerpoint/2010/main" val="2120906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A75F7-BDAD-873F-4408-C08926D3761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51EB7BE-5D72-4966-9CBA-44FC45A43046}"/>
              </a:ext>
            </a:extLst>
          </p:cNvPr>
          <p:cNvSpPr>
            <a:spLocks noGrp="1"/>
          </p:cNvSpPr>
          <p:nvPr>
            <p:ph sz="quarter" idx="12"/>
          </p:nvPr>
        </p:nvSpPr>
        <p:spPr/>
        <p:txBody>
          <a:bodyPr/>
          <a:lstStyle/>
          <a:p>
            <a:r>
              <a:rPr lang="en-US" sz="1500" dirty="0"/>
              <a:t>AI is not a decision-maker on its own but a capability that depends on relations between human and algorithmic actors. </a:t>
            </a:r>
          </a:p>
          <a:p>
            <a:r>
              <a:rPr lang="en-US" sz="1500" dirty="0"/>
              <a:t>Codependence implies that humans and algorithms need each other for AI to arise, and managers are the ones responsible for structuring opportunities for such encounters</a:t>
            </a:r>
            <a:r>
              <a:rPr lang="da-DK" sz="1500" dirty="0"/>
              <a:t>. </a:t>
            </a:r>
          </a:p>
          <a:p>
            <a:pPr marL="0" indent="0">
              <a:buNone/>
            </a:pPr>
            <a:r>
              <a:rPr lang="en-US" sz="1500" dirty="0">
                <a:solidFill>
                  <a:srgbClr val="0070C0"/>
                </a:solidFill>
              </a:rPr>
              <a:t>Not to “delegate” to AI, but to design and manage those relations. </a:t>
            </a:r>
          </a:p>
          <a:p>
            <a:pPr lvl="1"/>
            <a:r>
              <a:rPr lang="en-US" sz="1350" dirty="0"/>
              <a:t>Managing AI entails creating environments where humans and algorithms are intentionally orchestrated </a:t>
            </a:r>
          </a:p>
          <a:p>
            <a:r>
              <a:rPr lang="en-US" sz="1500" b="1" dirty="0"/>
              <a:t>Domain experts </a:t>
            </a:r>
            <a:r>
              <a:rPr lang="en-US" sz="1500" dirty="0"/>
              <a:t>need clarity on how their professional judgment interacts with algorithmic recommendations, how disagreements are resolved, and how accountability is shared. </a:t>
            </a:r>
          </a:p>
          <a:p>
            <a:pPr lvl="1"/>
            <a:r>
              <a:rPr lang="en-US" sz="1350" dirty="0"/>
              <a:t>Recognizing that responsibility lies in the system of relations, not in individual tools, allows domain experts to negotiate oversight and control more effectively.</a:t>
            </a:r>
          </a:p>
          <a:p>
            <a:endParaRPr lang="da-DK" dirty="0"/>
          </a:p>
        </p:txBody>
      </p:sp>
      <p:sp>
        <p:nvSpPr>
          <p:cNvPr id="6" name="Text Placeholder 5">
            <a:extLst>
              <a:ext uri="{FF2B5EF4-FFF2-40B4-BE49-F238E27FC236}">
                <a16:creationId xmlns:a16="http://schemas.microsoft.com/office/drawing/2014/main" id="{493D9F89-1309-8F28-934E-B2F8B688C592}"/>
              </a:ext>
            </a:extLst>
          </p:cNvPr>
          <p:cNvSpPr>
            <a:spLocks noGrp="1"/>
          </p:cNvSpPr>
          <p:nvPr>
            <p:ph type="body" sz="quarter" idx="10"/>
          </p:nvPr>
        </p:nvSpPr>
        <p:spPr/>
        <p:txBody>
          <a:bodyPr/>
          <a:lstStyle/>
          <a:p>
            <a:r>
              <a:rPr lang="en-US" dirty="0"/>
              <a:t>Managing AI means managing relations </a:t>
            </a:r>
            <a:endParaRPr lang="da-DK" dirty="0"/>
          </a:p>
        </p:txBody>
      </p:sp>
    </p:spTree>
    <p:extLst>
      <p:ext uri="{BB962C8B-B14F-4D97-AF65-F5344CB8AC3E}">
        <p14:creationId xmlns:p14="http://schemas.microsoft.com/office/powerpoint/2010/main" val="2105569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438A1B3-B7ED-E75F-9465-4161141C1C9D}"/>
              </a:ext>
            </a:extLst>
          </p:cNvPr>
          <p:cNvSpPr>
            <a:spLocks noGrp="1"/>
          </p:cNvSpPr>
          <p:nvPr>
            <p:ph sz="quarter" idx="12"/>
          </p:nvPr>
        </p:nvSpPr>
        <p:spPr/>
        <p:txBody>
          <a:bodyPr/>
          <a:lstStyle/>
          <a:p>
            <a:r>
              <a:rPr lang="en-US" sz="1800" dirty="0"/>
              <a:t>AI not only helps organizations achieve existing goals but can also shift how those goals are defined. </a:t>
            </a:r>
          </a:p>
          <a:p>
            <a:pPr marL="0" indent="0">
              <a:buNone/>
            </a:pPr>
            <a:r>
              <a:rPr lang="en-US" sz="1800" dirty="0">
                <a:solidFill>
                  <a:srgbClr val="0070C0"/>
                </a:solidFill>
              </a:rPr>
              <a:t>As relations evolve, and so too does the organization’s intelligence. </a:t>
            </a:r>
          </a:p>
          <a:p>
            <a:pPr lvl="1">
              <a:buFont typeface="Arial" panose="020B0604020202020204" pitchFamily="34" charset="0"/>
              <a:buChar char="•"/>
            </a:pPr>
            <a:r>
              <a:rPr lang="en-US" sz="1500" dirty="0"/>
              <a:t>surface new patterns, nudge priorities, or narrow attention in ways that alter organizational goals</a:t>
            </a:r>
            <a:r>
              <a:rPr lang="da-DK" sz="1500" dirty="0"/>
              <a:t>. </a:t>
            </a:r>
            <a:endParaRPr lang="en-US" sz="1500" dirty="0"/>
          </a:p>
          <a:p>
            <a:pPr>
              <a:buFont typeface="Arial" panose="020B0604020202020204" pitchFamily="34" charset="0"/>
              <a:buChar char="•"/>
            </a:pPr>
            <a:endParaRPr lang="en-US" sz="1800" b="1" dirty="0"/>
          </a:p>
          <a:p>
            <a:r>
              <a:rPr lang="en-US" sz="1800" b="1" dirty="0"/>
              <a:t>Domain experts </a:t>
            </a:r>
            <a:r>
              <a:rPr lang="en-US" sz="1800" dirty="0"/>
              <a:t>need to revisit the fundamental basis of their expertise. </a:t>
            </a:r>
          </a:p>
          <a:p>
            <a:pPr lvl="1">
              <a:buFont typeface="Arial" panose="020B0604020202020204" pitchFamily="34" charset="0"/>
              <a:buChar char="•"/>
            </a:pPr>
            <a:r>
              <a:rPr lang="en-US" sz="1500" dirty="0"/>
              <a:t>developing expertise in discovering and substantiating novel problems that could be solved in collaboration with algorithmic actors</a:t>
            </a:r>
            <a:r>
              <a:rPr lang="da-DK" sz="1500" dirty="0"/>
              <a:t>.</a:t>
            </a:r>
          </a:p>
          <a:p>
            <a:pPr marL="0" indent="0">
              <a:buNone/>
            </a:pPr>
            <a:endParaRPr lang="da-DK" dirty="0"/>
          </a:p>
          <a:p>
            <a:pPr marL="0" indent="0">
              <a:buNone/>
            </a:pPr>
            <a:endParaRPr lang="da-DK" dirty="0"/>
          </a:p>
        </p:txBody>
      </p:sp>
      <p:sp>
        <p:nvSpPr>
          <p:cNvPr id="6" name="Text Placeholder 5">
            <a:extLst>
              <a:ext uri="{FF2B5EF4-FFF2-40B4-BE49-F238E27FC236}">
                <a16:creationId xmlns:a16="http://schemas.microsoft.com/office/drawing/2014/main" id="{97254291-7BCB-97E6-D09D-F4A4207941F3}"/>
              </a:ext>
            </a:extLst>
          </p:cNvPr>
          <p:cNvSpPr>
            <a:spLocks noGrp="1"/>
          </p:cNvSpPr>
          <p:nvPr>
            <p:ph type="body" sz="quarter" idx="10"/>
          </p:nvPr>
        </p:nvSpPr>
        <p:spPr/>
        <p:txBody>
          <a:bodyPr/>
          <a:lstStyle/>
          <a:p>
            <a:r>
              <a:rPr lang="en-US" dirty="0"/>
              <a:t>AI can reshape organizational goals </a:t>
            </a:r>
            <a:endParaRPr lang="da-DK" dirty="0"/>
          </a:p>
        </p:txBody>
      </p:sp>
    </p:spTree>
    <p:extLst>
      <p:ext uri="{BB962C8B-B14F-4D97-AF65-F5344CB8AC3E}">
        <p14:creationId xmlns:p14="http://schemas.microsoft.com/office/powerpoint/2010/main" val="10794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7D8308-2872-43AC-0557-523D6B0C04B8}"/>
              </a:ext>
            </a:extLst>
          </p:cNvPr>
          <p:cNvSpPr>
            <a:spLocks noGrp="1"/>
          </p:cNvSpPr>
          <p:nvPr>
            <p:ph sz="quarter" idx="12"/>
          </p:nvPr>
        </p:nvSpPr>
        <p:spPr/>
        <p:txBody>
          <a:bodyPr/>
          <a:lstStyle/>
          <a:p>
            <a:r>
              <a:rPr lang="en-US" sz="1800" dirty="0"/>
              <a:t>Leaders must see themselves not only as technology adopters but as architects of organizational intelligence, responsible for shaping how human and algorithmic reasoning interact across their organizations. </a:t>
            </a:r>
          </a:p>
          <a:p>
            <a:pPr marL="0" indent="0">
              <a:buNone/>
            </a:pPr>
            <a:endParaRPr lang="en-US" sz="1800" dirty="0"/>
          </a:p>
          <a:p>
            <a:pPr marL="0" indent="0">
              <a:buNone/>
            </a:pPr>
            <a:r>
              <a:rPr lang="en-US" sz="1800" dirty="0"/>
              <a:t>The question is no longer “How do we adopt AI?” but </a:t>
            </a:r>
            <a:r>
              <a:rPr lang="en-US" sz="1800" dirty="0">
                <a:solidFill>
                  <a:srgbClr val="0070C0"/>
                </a:solidFill>
              </a:rPr>
              <a:t>“How do we design the systems of relations that make AI work?”</a:t>
            </a:r>
          </a:p>
          <a:p>
            <a:endParaRPr lang="en-US" sz="1500" dirty="0"/>
          </a:p>
          <a:p>
            <a:endParaRPr lang="da-DK" dirty="0"/>
          </a:p>
        </p:txBody>
      </p:sp>
      <p:sp>
        <p:nvSpPr>
          <p:cNvPr id="5" name="Subtitle 4">
            <a:extLst>
              <a:ext uri="{FF2B5EF4-FFF2-40B4-BE49-F238E27FC236}">
                <a16:creationId xmlns:a16="http://schemas.microsoft.com/office/drawing/2014/main" id="{0BD3CD27-AB3E-7DAD-424A-7BC9BFE312C9}"/>
              </a:ext>
            </a:extLst>
          </p:cNvPr>
          <p:cNvSpPr>
            <a:spLocks noGrp="1"/>
          </p:cNvSpPr>
          <p:nvPr>
            <p:ph type="body" sz="quarter" idx="10"/>
          </p:nvPr>
        </p:nvSpPr>
        <p:spPr/>
        <p:txBody>
          <a:bodyPr>
            <a:normAutofit fontScale="92500"/>
          </a:bodyPr>
          <a:lstStyle/>
          <a:p>
            <a:r>
              <a:rPr lang="en-US"/>
              <a:t>Building intelligence together: New mindset</a:t>
            </a:r>
            <a:endParaRPr lang="da-DK" dirty="0"/>
          </a:p>
        </p:txBody>
      </p:sp>
    </p:spTree>
    <p:extLst>
      <p:ext uri="{BB962C8B-B14F-4D97-AF65-F5344CB8AC3E}">
        <p14:creationId xmlns:p14="http://schemas.microsoft.com/office/powerpoint/2010/main" val="1017584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8F5F80-F3AB-07A5-407D-93366580EC84}"/>
              </a:ext>
            </a:extLst>
          </p:cNvPr>
          <p:cNvSpPr>
            <a:spLocks noGrp="1" noChangeArrowheads="1"/>
          </p:cNvSpPr>
          <p:nvPr>
            <p:ph sz="quarter" idx="12"/>
          </p:nvPr>
        </p:nvSpPr>
        <p:spPr/>
        <p:txBody>
          <a:bodyPr>
            <a:normAutofit fontScale="85000" lnSpcReduction="20000"/>
          </a:bodyPr>
          <a:lstStyle/>
          <a:p>
            <a:endParaRPr lang="en-US" i="1" dirty="0"/>
          </a:p>
          <a:p>
            <a:r>
              <a:rPr lang="en-US" dirty="0"/>
              <a:t>	</a:t>
            </a:r>
            <a:r>
              <a:rPr lang="en-US" sz="2600" dirty="0"/>
              <a:t>Expertise </a:t>
            </a:r>
            <a:r>
              <a:rPr lang="en-US" sz="2600" dirty="0">
                <a:sym typeface="Wingdings" panose="05000000000000000000" pitchFamily="2" charset="2"/>
              </a:rPr>
              <a:t>competitive advantage </a:t>
            </a:r>
            <a:endParaRPr lang="en-US" sz="2300" dirty="0">
              <a:sym typeface="Wingdings" panose="05000000000000000000" pitchFamily="2" charset="2"/>
            </a:endParaRPr>
          </a:p>
          <a:p>
            <a:endParaRPr lang="en-US" sz="2300" dirty="0">
              <a:sym typeface="Wingdings" panose="05000000000000000000" pitchFamily="2" charset="2"/>
            </a:endParaRPr>
          </a:p>
          <a:p>
            <a:pPr marL="342900" indent="-342900">
              <a:buFont typeface="Arial" panose="020B0604020202020204" pitchFamily="34" charset="0"/>
              <a:buChar char="•"/>
            </a:pPr>
            <a:r>
              <a:rPr lang="en-US" sz="2400" dirty="0"/>
              <a:t>Expertise: a combination of deep theoretical knowledge and practical know-how in a specific</a:t>
            </a:r>
            <a:r>
              <a:rPr lang="da-DK" sz="2400" dirty="0"/>
              <a:t> domain</a:t>
            </a:r>
          </a:p>
          <a:p>
            <a:pPr marL="342900" indent="-342900">
              <a:buFont typeface="Arial" panose="020B0604020202020204" pitchFamily="34" charset="0"/>
              <a:buChar char="•"/>
            </a:pPr>
            <a:r>
              <a:rPr lang="en-US" sz="2400" noProof="0" dirty="0"/>
              <a:t>Two forces at play create strategic dilemmas:</a:t>
            </a:r>
            <a:endParaRPr lang="en-US" sz="2400" dirty="0"/>
          </a:p>
          <a:p>
            <a:pPr marL="1085850" lvl="1" indent="-342900">
              <a:buFont typeface="Arial" panose="020B0604020202020204" pitchFamily="34" charset="0"/>
              <a:buChar char="•"/>
            </a:pPr>
            <a:r>
              <a:rPr lang="en-US" sz="2400" dirty="0"/>
              <a:t>the </a:t>
            </a:r>
            <a:r>
              <a:rPr lang="en-US" sz="2400" dirty="0">
                <a:solidFill>
                  <a:schemeClr val="accent1"/>
                </a:solidFill>
              </a:rPr>
              <a:t>increasing effort </a:t>
            </a:r>
            <a:r>
              <a:rPr lang="en-US" sz="2400" dirty="0"/>
              <a:t>required to stay at the leading edge in a specific area </a:t>
            </a:r>
          </a:p>
          <a:p>
            <a:pPr marL="1085850" lvl="1" indent="-342900">
              <a:buFont typeface="Arial" panose="020B0604020202020204" pitchFamily="34" charset="0"/>
              <a:buChar char="•"/>
            </a:pPr>
            <a:r>
              <a:rPr lang="en-US" sz="2400" dirty="0"/>
              <a:t>the </a:t>
            </a:r>
            <a:r>
              <a:rPr lang="en-US" sz="2400" dirty="0">
                <a:solidFill>
                  <a:schemeClr val="accent1"/>
                </a:solidFill>
              </a:rPr>
              <a:t>decreasing cost </a:t>
            </a:r>
            <a:r>
              <a:rPr lang="en-US" sz="2400" dirty="0"/>
              <a:t>of accessing that expertise</a:t>
            </a:r>
          </a:p>
          <a:p>
            <a:pPr marL="342900" indent="-342900">
              <a:buFont typeface="Arial" panose="020B0604020202020204" pitchFamily="34" charset="0"/>
              <a:buChar char="•"/>
            </a:pPr>
            <a:endParaRPr lang="en-US" dirty="0"/>
          </a:p>
          <a:p>
            <a:endParaRPr lang="en-US" sz="2400" dirty="0"/>
          </a:p>
          <a:p>
            <a:r>
              <a:rPr lang="en-US" dirty="0"/>
              <a:t>	</a:t>
            </a:r>
            <a:endParaRPr lang="en-US" altLang="en-US" sz="1800" i="1" dirty="0"/>
          </a:p>
          <a:p>
            <a:endParaRPr lang="en-US" altLang="en-US" sz="1800" dirty="0"/>
          </a:p>
        </p:txBody>
      </p:sp>
      <p:sp>
        <p:nvSpPr>
          <p:cNvPr id="2" name="Text Placeholder 1">
            <a:extLst>
              <a:ext uri="{FF2B5EF4-FFF2-40B4-BE49-F238E27FC236}">
                <a16:creationId xmlns:a16="http://schemas.microsoft.com/office/drawing/2014/main" id="{CFF30E6A-D4FA-F184-C2C5-CEFB2F77D5CE}"/>
              </a:ext>
            </a:extLst>
          </p:cNvPr>
          <p:cNvSpPr>
            <a:spLocks noGrp="1"/>
          </p:cNvSpPr>
          <p:nvPr>
            <p:ph type="body" sz="quarter" idx="10"/>
          </p:nvPr>
        </p:nvSpPr>
        <p:spPr/>
        <p:txBody>
          <a:bodyPr/>
          <a:lstStyle/>
          <a:p>
            <a:r>
              <a:rPr lang="en-US" dirty="0"/>
              <a:t>Expertise and Gen AI</a:t>
            </a:r>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C3F5C-03D6-31D3-695A-0F9E704C881D}"/>
              </a:ext>
            </a:extLst>
          </p:cNvPr>
          <p:cNvSpPr>
            <a:spLocks noGrp="1" noChangeArrowheads="1"/>
          </p:cNvSpPr>
          <p:nvPr>
            <p:ph sz="quarter" idx="12"/>
          </p:nvPr>
        </p:nvSpPr>
        <p:spPr/>
        <p:txBody>
          <a:bodyPr/>
          <a:lstStyle/>
          <a:p>
            <a:pPr marL="342900" indent="-342900">
              <a:buFont typeface="Arial" panose="020B0604020202020204" pitchFamily="34" charset="0"/>
              <a:buChar char="•"/>
            </a:pPr>
            <a:r>
              <a:rPr lang="en-US" dirty="0"/>
              <a:t>AI “copilots,” “chatbots,” and “assistants” into applications to augment employees’ workflows. </a:t>
            </a:r>
          </a:p>
          <a:p>
            <a:pPr marL="342900" indent="-342900">
              <a:buFont typeface="Arial" panose="020B0604020202020204" pitchFamily="34" charset="0"/>
              <a:buChar char="•"/>
            </a:pPr>
            <a:r>
              <a:rPr lang="en-US" dirty="0"/>
              <a:t>These tools offer expertise in many domains</a:t>
            </a:r>
          </a:p>
          <a:p>
            <a:pPr marL="342900" indent="-342900">
              <a:buFont typeface="Arial" panose="020B0604020202020204" pitchFamily="34" charset="0"/>
              <a:buChar char="•"/>
            </a:pPr>
            <a:r>
              <a:rPr lang="en-US" dirty="0"/>
              <a:t>They</a:t>
            </a:r>
            <a:r>
              <a:rPr lang="da-DK" dirty="0"/>
              <a:t> bring low performers </a:t>
            </a:r>
            <a:r>
              <a:rPr lang="en-US" dirty="0"/>
              <a:t>up to levels previously considered average and boost the capabilities of high performers</a:t>
            </a:r>
          </a:p>
          <a:p>
            <a:pPr marL="1085850" lvl="1" indent="-342900">
              <a:buFont typeface="Arial" panose="020B0604020202020204" pitchFamily="34" charset="0"/>
              <a:buChar char="•"/>
            </a:pPr>
            <a:r>
              <a:rPr lang="en-US" dirty="0"/>
              <a:t>coding</a:t>
            </a:r>
          </a:p>
          <a:p>
            <a:endParaRPr lang="en-US" altLang="en-US" dirty="0"/>
          </a:p>
        </p:txBody>
      </p:sp>
      <p:sp>
        <p:nvSpPr>
          <p:cNvPr id="2" name="Text Placeholder 1">
            <a:extLst>
              <a:ext uri="{FF2B5EF4-FFF2-40B4-BE49-F238E27FC236}">
                <a16:creationId xmlns:a16="http://schemas.microsoft.com/office/drawing/2014/main" id="{BFA6072D-034C-11D7-890D-DE5F5E1CAD6D}"/>
              </a:ext>
            </a:extLst>
          </p:cNvPr>
          <p:cNvSpPr>
            <a:spLocks noGrp="1"/>
          </p:cNvSpPr>
          <p:nvPr>
            <p:ph type="body" sz="quarter" idx="10"/>
          </p:nvPr>
        </p:nvSpPr>
        <p:spPr/>
        <p:txBody>
          <a:bodyPr/>
          <a:lstStyle/>
          <a:p>
            <a:r>
              <a:rPr lang="en-US" dirty="0"/>
              <a:t>Gen AI on workforce</a:t>
            </a:r>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76B6BB-0AA5-2790-2174-63AD8D44460F}"/>
              </a:ext>
            </a:extLst>
          </p:cNvPr>
          <p:cNvSpPr>
            <a:spLocks noGrp="1" noChangeArrowheads="1"/>
          </p:cNvSpPr>
          <p:nvPr>
            <p:ph sz="quarter" idx="12"/>
          </p:nvPr>
        </p:nvSpPr>
        <p:spPr>
          <a:xfrm>
            <a:off x="917576" y="1019175"/>
            <a:ext cx="7310437" cy="3381375"/>
          </a:xfrm>
        </p:spPr>
        <p:txBody>
          <a:bodyPr>
            <a:normAutofit/>
          </a:bodyPr>
          <a:lstStyle/>
          <a:p>
            <a:pPr marL="342900" indent="-342900">
              <a:buFont typeface="Arial" panose="020B0604020202020204" pitchFamily="34" charset="0"/>
              <a:buChar char="•"/>
            </a:pPr>
            <a:r>
              <a:rPr lang="en-US" dirty="0"/>
              <a:t>Cost and time savings: transform business processes and achieve efficiency by empowering employees to leverage AI for discrete tasks.</a:t>
            </a:r>
          </a:p>
          <a:p>
            <a:pPr marL="342900" indent="-342900">
              <a:buFont typeface="Arial" panose="020B0604020202020204" pitchFamily="34" charset="0"/>
              <a:buChar char="•"/>
            </a:pPr>
            <a:r>
              <a:rPr lang="en-US" dirty="0"/>
              <a:t>Increased workforce productivity. </a:t>
            </a:r>
          </a:p>
          <a:p>
            <a:pPr marL="342900" indent="-342900">
              <a:buFont typeface="Arial" panose="020B0604020202020204" pitchFamily="34" charset="0"/>
              <a:buChar char="•"/>
            </a:pPr>
            <a:r>
              <a:rPr lang="en-US" dirty="0"/>
              <a:t>More investment in activities that matter, rethink how to</a:t>
            </a:r>
            <a:r>
              <a:rPr lang="da-DK" dirty="0"/>
              <a:t> </a:t>
            </a:r>
            <a:r>
              <a:rPr lang="en-US" dirty="0"/>
              <a:t>deploy</a:t>
            </a:r>
            <a:r>
              <a:rPr lang="da-DK" dirty="0"/>
              <a:t> </a:t>
            </a:r>
            <a:r>
              <a:rPr lang="en-US" dirty="0"/>
              <a:t>resources</a:t>
            </a:r>
            <a:r>
              <a:rPr lang="da-DK" dirty="0"/>
              <a:t>.</a:t>
            </a:r>
            <a:endParaRPr lang="en-US" altLang="en-US" dirty="0"/>
          </a:p>
          <a:p>
            <a:endParaRPr lang="en-US" altLang="en-US" dirty="0"/>
          </a:p>
        </p:txBody>
      </p:sp>
      <p:sp>
        <p:nvSpPr>
          <p:cNvPr id="2" name="Text Placeholder 1">
            <a:extLst>
              <a:ext uri="{FF2B5EF4-FFF2-40B4-BE49-F238E27FC236}">
                <a16:creationId xmlns:a16="http://schemas.microsoft.com/office/drawing/2014/main" id="{80157FE9-EA3B-16AF-D132-A0D0CD716D71}"/>
              </a:ext>
            </a:extLst>
          </p:cNvPr>
          <p:cNvSpPr>
            <a:spLocks noGrp="1"/>
          </p:cNvSpPr>
          <p:nvPr>
            <p:ph type="body" sz="quarter" idx="10"/>
          </p:nvPr>
        </p:nvSpPr>
        <p:spPr/>
        <p:txBody>
          <a:bodyPr/>
          <a:lstStyle/>
          <a:p>
            <a:r>
              <a:rPr lang="en-US" dirty="0"/>
              <a:t>Triple product</a:t>
            </a:r>
            <a:endParaRPr lang="da-DK"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ED44F-101C-995D-0013-25CC0F896FFE}"/>
              </a:ext>
            </a:extLst>
          </p:cNvPr>
          <p:cNvSpPr>
            <a:spLocks noGrp="1" noChangeArrowheads="1"/>
          </p:cNvSpPr>
          <p:nvPr>
            <p:ph sz="quarter" idx="12"/>
          </p:nvPr>
        </p:nvSpPr>
        <p:spPr/>
        <p:txBody>
          <a:bodyPr>
            <a:normAutofit/>
          </a:bodyPr>
          <a:lstStyle/>
          <a:p>
            <a:pPr marL="342900" indent="-342900">
              <a:buFont typeface="Arial" panose="020B0604020202020204" pitchFamily="34" charset="0"/>
              <a:buChar char="•"/>
            </a:pPr>
            <a:r>
              <a:rPr lang="en-US" sz="2400" dirty="0"/>
              <a:t>Which aspects of the problem we now solve for customers will customers use AI to solve themselves?</a:t>
            </a:r>
          </a:p>
          <a:p>
            <a:pPr marL="342900" indent="-342900">
              <a:buFont typeface="Arial" panose="020B0604020202020204" pitchFamily="34" charset="0"/>
              <a:buChar char="•"/>
            </a:pPr>
            <a:r>
              <a:rPr lang="en-US" sz="2400" dirty="0"/>
              <a:t>Which types of expertise that we currently possess will need to evolve most if we are to remain ahead</a:t>
            </a:r>
            <a:r>
              <a:rPr lang="da-DK" sz="2400" dirty="0"/>
              <a:t> of </a:t>
            </a:r>
            <a:r>
              <a:rPr lang="en-US" sz="2400" dirty="0"/>
              <a:t>AI’s</a:t>
            </a:r>
            <a:r>
              <a:rPr lang="da-DK" sz="2400" dirty="0"/>
              <a:t> </a:t>
            </a:r>
            <a:r>
              <a:rPr lang="en-US" sz="2400" dirty="0"/>
              <a:t>capabilities</a:t>
            </a:r>
            <a:r>
              <a:rPr lang="da-DK" sz="2400" dirty="0"/>
              <a:t>?</a:t>
            </a:r>
          </a:p>
          <a:p>
            <a:pPr marL="342900" indent="-342900">
              <a:buFont typeface="Arial" panose="020B0604020202020204" pitchFamily="34" charset="0"/>
              <a:buChar char="•"/>
            </a:pPr>
            <a:r>
              <a:rPr lang="en-US" sz="2400" dirty="0"/>
              <a:t>Which assets can we build or augment to enhance our ability to stay competitive as AI advances?</a:t>
            </a:r>
            <a:endParaRPr lang="en-US" altLang="en-US" sz="2400" dirty="0"/>
          </a:p>
        </p:txBody>
      </p:sp>
      <p:sp>
        <p:nvSpPr>
          <p:cNvPr id="2" name="Text Placeholder 1">
            <a:extLst>
              <a:ext uri="{FF2B5EF4-FFF2-40B4-BE49-F238E27FC236}">
                <a16:creationId xmlns:a16="http://schemas.microsoft.com/office/drawing/2014/main" id="{0B56A69E-3796-A018-6598-B14E1399F395}"/>
              </a:ext>
            </a:extLst>
          </p:cNvPr>
          <p:cNvSpPr>
            <a:spLocks noGrp="1"/>
          </p:cNvSpPr>
          <p:nvPr>
            <p:ph type="body" sz="quarter" idx="10"/>
          </p:nvPr>
        </p:nvSpPr>
        <p:spPr/>
        <p:txBody>
          <a:bodyPr>
            <a:normAutofit fontScale="92500" lnSpcReduction="20000"/>
          </a:bodyPr>
          <a:lstStyle/>
          <a:p>
            <a:r>
              <a:rPr lang="en-US" dirty="0"/>
              <a:t>Strategy and Key Questions about AI Resources</a:t>
            </a:r>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itle Slides">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lassisk kontor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Slides - Pi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C29BC07FE2BB46AF5224F684219C8B" ma:contentTypeVersion="1" ma:contentTypeDescription="Create a new document." ma:contentTypeScope="" ma:versionID="dc767dc6a6b6d55af0f0d698a45e0b34">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46ABF9-A021-4776-A5A5-26C5441FE4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0CD774-C46D-4492-9C14-B8B691B83853}">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F061886-A6B2-4AC7-8398-3DC806DA4D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17247</TotalTime>
  <Words>1300</Words>
  <Application>Microsoft Office PowerPoint</Application>
  <PresentationFormat>On-screen Show (16:9)</PresentationFormat>
  <Paragraphs>184</Paragraphs>
  <Slides>23</Slides>
  <Notes>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23</vt:i4>
      </vt:variant>
    </vt:vector>
  </HeadingPairs>
  <TitlesOfParts>
    <vt:vector size="30" baseType="lpstr">
      <vt:lpstr>Arial</vt:lpstr>
      <vt:lpstr>Calibri</vt:lpstr>
      <vt:lpstr>Times New Roman</vt:lpstr>
      <vt:lpstr>Wingdings</vt:lpstr>
      <vt:lpstr>Title Slides</vt:lpstr>
      <vt:lpstr>Content Slides</vt:lpstr>
      <vt:lpstr>Content Slides -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CBS EA</dc:creator>
  <cp:lastModifiedBy>Ioanna Constantiou</cp:lastModifiedBy>
  <cp:revision>412</cp:revision>
  <cp:lastPrinted>2017-02-03T11:55:52Z</cp:lastPrinted>
  <dcterms:created xsi:type="dcterms:W3CDTF">2013-11-09T16:46:18Z</dcterms:created>
  <dcterms:modified xsi:type="dcterms:W3CDTF">2026-03-04T07:48:31Z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0x0101004BC29BC07FE2BB46AF5224F684219C8B</vt:lpwstr>
  </property>
</Properties>
</file>