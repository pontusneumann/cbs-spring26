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 id="2147483684" r:id="rId5"/>
    <p:sldMasterId id="2147483689" r:id="rId6"/>
  </p:sldMasterIdLst>
  <p:notesMasterIdLst>
    <p:notesMasterId r:id="rId28"/>
  </p:notesMasterIdLst>
  <p:handoutMasterIdLst>
    <p:handoutMasterId r:id="rId29"/>
  </p:handoutMasterIdLst>
  <p:sldIdLst>
    <p:sldId id="259" r:id="rId7"/>
    <p:sldId id="470" r:id="rId8"/>
    <p:sldId id="472" r:id="rId9"/>
    <p:sldId id="331" r:id="rId10"/>
    <p:sldId id="262" r:id="rId11"/>
    <p:sldId id="464" r:id="rId12"/>
    <p:sldId id="416" r:id="rId13"/>
    <p:sldId id="417" r:id="rId14"/>
    <p:sldId id="358" r:id="rId15"/>
    <p:sldId id="447" r:id="rId16"/>
    <p:sldId id="456" r:id="rId17"/>
    <p:sldId id="360" r:id="rId18"/>
    <p:sldId id="441" r:id="rId19"/>
    <p:sldId id="369" r:id="rId20"/>
    <p:sldId id="471" r:id="rId21"/>
    <p:sldId id="395" r:id="rId22"/>
    <p:sldId id="459" r:id="rId23"/>
    <p:sldId id="419" r:id="rId24"/>
    <p:sldId id="473" r:id="rId25"/>
    <p:sldId id="449" r:id="rId26"/>
    <p:sldId id="442" r:id="rId27"/>
  </p:sldIdLst>
  <p:sldSz cx="9144000" cy="5143500" type="screen16x9"/>
  <p:notesSz cx="7099300" cy="10234613"/>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3048">
          <p15:clr>
            <a:srgbClr val="A4A3A4"/>
          </p15:clr>
        </p15:guide>
        <p15:guide id="3" pos="5183">
          <p15:clr>
            <a:srgbClr val="A4A3A4"/>
          </p15:clr>
        </p15:guide>
        <p15:guide id="4" pos="579">
          <p15:clr>
            <a:srgbClr val="A4A3A4"/>
          </p15:clr>
        </p15:guide>
        <p15:guide id="5" pos="577">
          <p15:clr>
            <a:srgbClr val="A4A3A4"/>
          </p15:clr>
        </p15:guide>
        <p15:guide id="6" pos="288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AA"/>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603" autoAdjust="0"/>
    <p:restoredTop sz="86387" autoAdjust="0"/>
  </p:normalViewPr>
  <p:slideViewPr>
    <p:cSldViewPr snapToGrid="0" snapToObjects="1" showGuides="1">
      <p:cViewPr varScale="1">
        <p:scale>
          <a:sx n="125" d="100"/>
          <a:sy n="125" d="100"/>
        </p:scale>
        <p:origin x="108" y="450"/>
      </p:cViewPr>
      <p:guideLst>
        <p:guide orient="horz" pos="192"/>
        <p:guide orient="horz" pos="3048"/>
        <p:guide pos="5183"/>
        <p:guide pos="579"/>
        <p:guide pos="577"/>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2" d="100"/>
          <a:sy n="82" d="100"/>
        </p:scale>
        <p:origin x="-3180" y="-96"/>
      </p:cViewPr>
      <p:guideLst>
        <p:guide orient="horz" pos="3224"/>
        <p:guide pos="2237"/>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4622" tIns="47311" rIns="94622" bIns="47311" rtlCol="0"/>
          <a:lstStyle>
            <a:lvl1pPr algn="l">
              <a:defRPr sz="1200"/>
            </a:lvl1pPr>
          </a:lstStyle>
          <a:p>
            <a:endParaRPr lang="da-DK"/>
          </a:p>
        </p:txBody>
      </p:sp>
      <p:sp>
        <p:nvSpPr>
          <p:cNvPr id="3" name="Date Placeholder 2"/>
          <p:cNvSpPr>
            <a:spLocks noGrp="1"/>
          </p:cNvSpPr>
          <p:nvPr>
            <p:ph type="dt" sz="quarter" idx="1"/>
          </p:nvPr>
        </p:nvSpPr>
        <p:spPr>
          <a:xfrm>
            <a:off x="4021294" y="0"/>
            <a:ext cx="3076363" cy="513508"/>
          </a:xfrm>
          <a:prstGeom prst="rect">
            <a:avLst/>
          </a:prstGeom>
        </p:spPr>
        <p:txBody>
          <a:bodyPr vert="horz" lIns="94622" tIns="47311" rIns="94622" bIns="47311" rtlCol="0"/>
          <a:lstStyle>
            <a:lvl1pPr algn="r">
              <a:defRPr sz="1200"/>
            </a:lvl1pPr>
          </a:lstStyle>
          <a:p>
            <a:fld id="{F6992C72-CA01-4D4C-B1C4-5066EC55DB8A}" type="datetimeFigureOut">
              <a:rPr lang="da-DK" smtClean="0"/>
              <a:t>15-02-2026</a:t>
            </a:fld>
            <a:endParaRPr lang="da-DK"/>
          </a:p>
        </p:txBody>
      </p:sp>
      <p:sp>
        <p:nvSpPr>
          <p:cNvPr id="4" name="Footer Placeholder 3"/>
          <p:cNvSpPr>
            <a:spLocks noGrp="1"/>
          </p:cNvSpPr>
          <p:nvPr>
            <p:ph type="ftr" sz="quarter" idx="2"/>
          </p:nvPr>
        </p:nvSpPr>
        <p:spPr>
          <a:xfrm>
            <a:off x="1" y="9721108"/>
            <a:ext cx="3076363" cy="513507"/>
          </a:xfrm>
          <a:prstGeom prst="rect">
            <a:avLst/>
          </a:prstGeom>
        </p:spPr>
        <p:txBody>
          <a:bodyPr vert="horz" lIns="94622" tIns="47311" rIns="94622" bIns="47311" rtlCol="0" anchor="b"/>
          <a:lstStyle>
            <a:lvl1pPr algn="l">
              <a:defRPr sz="1200"/>
            </a:lvl1pPr>
          </a:lstStyle>
          <a:p>
            <a:endParaRPr lang="da-DK"/>
          </a:p>
        </p:txBody>
      </p:sp>
      <p:sp>
        <p:nvSpPr>
          <p:cNvPr id="5" name="Slide Number Placeholder 4"/>
          <p:cNvSpPr>
            <a:spLocks noGrp="1"/>
          </p:cNvSpPr>
          <p:nvPr>
            <p:ph type="sldNum" sz="quarter" idx="3"/>
          </p:nvPr>
        </p:nvSpPr>
        <p:spPr>
          <a:xfrm>
            <a:off x="4021294" y="9721108"/>
            <a:ext cx="3076363" cy="513507"/>
          </a:xfrm>
          <a:prstGeom prst="rect">
            <a:avLst/>
          </a:prstGeom>
        </p:spPr>
        <p:txBody>
          <a:bodyPr vert="horz" lIns="94622" tIns="47311" rIns="94622" bIns="47311" rtlCol="0" anchor="b"/>
          <a:lstStyle>
            <a:lvl1pPr algn="r">
              <a:defRPr sz="1200"/>
            </a:lvl1pPr>
          </a:lstStyle>
          <a:p>
            <a:fld id="{0EF7638A-64AC-4946-94B4-39EF7D477E6B}" type="slidenum">
              <a:rPr lang="da-DK" smtClean="0"/>
              <a:t>‹#›</a:t>
            </a:fld>
            <a:endParaRPr lang="da-DK"/>
          </a:p>
        </p:txBody>
      </p:sp>
    </p:spTree>
    <p:extLst>
      <p:ext uri="{BB962C8B-B14F-4D97-AF65-F5344CB8AC3E}">
        <p14:creationId xmlns:p14="http://schemas.microsoft.com/office/powerpoint/2010/main" val="4248651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1" y="0"/>
            <a:ext cx="3076363" cy="511731"/>
          </a:xfrm>
          <a:prstGeom prst="rect">
            <a:avLst/>
          </a:prstGeom>
        </p:spPr>
        <p:txBody>
          <a:bodyPr vert="horz" lIns="94622" tIns="47311" rIns="94622" bIns="47311" rtlCol="0"/>
          <a:lstStyle>
            <a:lvl1pPr algn="l">
              <a:defRPr sz="1200"/>
            </a:lvl1pPr>
          </a:lstStyle>
          <a:p>
            <a:endParaRPr lang="da-DK"/>
          </a:p>
        </p:txBody>
      </p:sp>
      <p:sp>
        <p:nvSpPr>
          <p:cNvPr id="3" name="Pladsholder til dato 2"/>
          <p:cNvSpPr>
            <a:spLocks noGrp="1"/>
          </p:cNvSpPr>
          <p:nvPr>
            <p:ph type="dt" idx="1"/>
          </p:nvPr>
        </p:nvSpPr>
        <p:spPr>
          <a:xfrm>
            <a:off x="4021294" y="0"/>
            <a:ext cx="3076363" cy="511731"/>
          </a:xfrm>
          <a:prstGeom prst="rect">
            <a:avLst/>
          </a:prstGeom>
        </p:spPr>
        <p:txBody>
          <a:bodyPr vert="horz" lIns="94622" tIns="47311" rIns="94622" bIns="47311" rtlCol="0"/>
          <a:lstStyle>
            <a:lvl1pPr algn="r">
              <a:defRPr sz="1200"/>
            </a:lvl1pPr>
          </a:lstStyle>
          <a:p>
            <a:fld id="{B5C1DC36-FCF6-4F65-A8BC-386231DA6558}" type="datetimeFigureOut">
              <a:rPr lang="da-DK" smtClean="0"/>
              <a:t>15-02-2026</a:t>
            </a:fld>
            <a:endParaRPr lang="da-DK"/>
          </a:p>
        </p:txBody>
      </p:sp>
      <p:sp>
        <p:nvSpPr>
          <p:cNvPr id="4" name="Pladsholder til diasbillede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4622" tIns="47311" rIns="94622" bIns="47311" rtlCol="0" anchor="ctr"/>
          <a:lstStyle/>
          <a:p>
            <a:endParaRPr lang="da-DK"/>
          </a:p>
        </p:txBody>
      </p:sp>
      <p:sp>
        <p:nvSpPr>
          <p:cNvPr id="5" name="Pladsholder til noter 4"/>
          <p:cNvSpPr>
            <a:spLocks noGrp="1"/>
          </p:cNvSpPr>
          <p:nvPr>
            <p:ph type="body" sz="quarter" idx="3"/>
          </p:nvPr>
        </p:nvSpPr>
        <p:spPr>
          <a:xfrm>
            <a:off x="709931" y="4861442"/>
            <a:ext cx="5679440" cy="4605576"/>
          </a:xfrm>
          <a:prstGeom prst="rect">
            <a:avLst/>
          </a:prstGeom>
        </p:spPr>
        <p:txBody>
          <a:bodyPr vert="horz" lIns="94622" tIns="47311" rIns="94622" bIns="47311"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1" y="9721106"/>
            <a:ext cx="3076363" cy="511731"/>
          </a:xfrm>
          <a:prstGeom prst="rect">
            <a:avLst/>
          </a:prstGeom>
        </p:spPr>
        <p:txBody>
          <a:bodyPr vert="horz" lIns="94622" tIns="47311" rIns="94622" bIns="47311" rtlCol="0" anchor="b"/>
          <a:lstStyle>
            <a:lvl1pPr algn="l">
              <a:defRPr sz="1200"/>
            </a:lvl1pPr>
          </a:lstStyle>
          <a:p>
            <a:endParaRPr lang="da-DK"/>
          </a:p>
        </p:txBody>
      </p:sp>
      <p:sp>
        <p:nvSpPr>
          <p:cNvPr id="7" name="Pladsholder til diasnummer 6"/>
          <p:cNvSpPr>
            <a:spLocks noGrp="1"/>
          </p:cNvSpPr>
          <p:nvPr>
            <p:ph type="sldNum" sz="quarter" idx="5"/>
          </p:nvPr>
        </p:nvSpPr>
        <p:spPr>
          <a:xfrm>
            <a:off x="4021294" y="9721106"/>
            <a:ext cx="3076363" cy="511731"/>
          </a:xfrm>
          <a:prstGeom prst="rect">
            <a:avLst/>
          </a:prstGeom>
        </p:spPr>
        <p:txBody>
          <a:bodyPr vert="horz" lIns="94622" tIns="47311" rIns="94622" bIns="47311" rtlCol="0" anchor="b"/>
          <a:lstStyle>
            <a:lvl1pPr algn="r">
              <a:defRPr sz="1200"/>
            </a:lvl1pPr>
          </a:lstStyle>
          <a:p>
            <a:fld id="{E59BDDC2-5BFA-453C-A225-5004D8F0E7E2}" type="slidenum">
              <a:rPr lang="da-DK" smtClean="0"/>
              <a:t>‹#›</a:t>
            </a:fld>
            <a:endParaRPr lang="da-DK"/>
          </a:p>
        </p:txBody>
      </p:sp>
    </p:spTree>
    <p:extLst>
      <p:ext uri="{BB962C8B-B14F-4D97-AF65-F5344CB8AC3E}">
        <p14:creationId xmlns:p14="http://schemas.microsoft.com/office/powerpoint/2010/main" val="19168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pic>
        <p:nvPicPr>
          <p:cNvPr id="7" name="Picture 1" descr="akkrediteringer-vandret.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8"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5"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6"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295793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pic>
        <p:nvPicPr>
          <p:cNvPr id="1027" name="Picture 3" descr="C:\Users\aw.it\Desktop\B.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5306093" y="0"/>
            <a:ext cx="3837908" cy="3402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4"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5"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6"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7"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11333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pic>
        <p:nvPicPr>
          <p:cNvPr id="2051" name="Picture 3" descr="C:\Users\aw.it\Desktop\CBS_NET_bold.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97960" y="0"/>
            <a:ext cx="4646040" cy="451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4"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5"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6"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7"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3145027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pic>
        <p:nvPicPr>
          <p:cNvPr id="10" name="Picture 9" descr="BM0128_CBS_Kilen-2731.jpg"/>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426572" y="0"/>
            <a:ext cx="7717428"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8"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9"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20"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21"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1636724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pic>
        <p:nvPicPr>
          <p:cNvPr id="2050" name="Picture 2" descr="C:\Users\aw.it\Desktop\Picture8.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1"/>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7"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8"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9"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20"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425692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pic>
        <p:nvPicPr>
          <p:cNvPr id="2" name="Picture 1" descr="BM0128_CBS_Kilen-2679.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1" descr="akkrediteringer-vandret.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905010" y="4457138"/>
            <a:ext cx="3314700" cy="381000"/>
          </a:xfrm>
          <a:prstGeom prst="rect">
            <a:avLst/>
          </a:prstGeom>
        </p:spPr>
      </p:pic>
      <p:pic>
        <p:nvPicPr>
          <p:cNvPr id="11" name="Picture 4" descr="C:\Users\aw.it\Desktop\logo.png"/>
          <p:cNvPicPr>
            <a:picLocks noChangeAspect="1" noChangeArrowheads="1"/>
          </p:cNvPicPr>
          <p:nvPr userDrawn="1"/>
        </p:nvPicPr>
        <p:blipFill>
          <a:blip r:embed="rId4"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7"/>
          <p:cNvSpPr>
            <a:spLocks noGrp="1"/>
          </p:cNvSpPr>
          <p:nvPr>
            <p:ph type="body" sz="quarter" idx="10" hasCustomPrompt="1"/>
          </p:nvPr>
        </p:nvSpPr>
        <p:spPr>
          <a:xfrm>
            <a:off x="919163" y="304800"/>
            <a:ext cx="7308850" cy="730981"/>
          </a:xfrm>
        </p:spPr>
        <p:txBody>
          <a:bodyPr>
            <a:normAutofit/>
          </a:bodyPr>
          <a:lstStyle>
            <a:lvl1pPr marL="0" indent="0">
              <a:lnSpc>
                <a:spcPct val="90000"/>
              </a:lnSpc>
              <a:buNone/>
              <a:defRPr sz="1300" b="1" baseline="0">
                <a:solidFill>
                  <a:srgbClr val="4967AA"/>
                </a:solidFill>
              </a:defRPr>
            </a:lvl1pPr>
          </a:lstStyle>
          <a:p>
            <a:pPr lvl="0"/>
            <a:r>
              <a:rPr lang="da-DK" dirty="0"/>
              <a:t>Click to add date, time and optional notes</a:t>
            </a:r>
          </a:p>
        </p:txBody>
      </p:sp>
      <p:sp>
        <p:nvSpPr>
          <p:cNvPr id="17" name="Pladsholder til tekst 19"/>
          <p:cNvSpPr>
            <a:spLocks noGrp="1"/>
          </p:cNvSpPr>
          <p:nvPr>
            <p:ph type="body" sz="quarter" idx="11" hasCustomPrompt="1"/>
          </p:nvPr>
        </p:nvSpPr>
        <p:spPr>
          <a:xfrm>
            <a:off x="919163" y="1035782"/>
            <a:ext cx="7308850" cy="1577946"/>
          </a:xfrm>
        </p:spPr>
        <p:txBody>
          <a:bodyPr anchor="b" anchorCtr="0">
            <a:normAutofit/>
          </a:bodyPr>
          <a:lstStyle>
            <a:lvl1pPr marL="0" indent="0">
              <a:lnSpc>
                <a:spcPct val="80000"/>
              </a:lnSpc>
              <a:buNone/>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8" name="Pladsholder til tekst 21"/>
          <p:cNvSpPr>
            <a:spLocks noGrp="1"/>
          </p:cNvSpPr>
          <p:nvPr>
            <p:ph type="body" sz="quarter" idx="12" hasCustomPrompt="1"/>
          </p:nvPr>
        </p:nvSpPr>
        <p:spPr>
          <a:xfrm>
            <a:off x="919163" y="2613728"/>
            <a:ext cx="7308850" cy="1464255"/>
          </a:xfrm>
        </p:spPr>
        <p:txBody>
          <a:bodyPr>
            <a:normAutofit/>
          </a:bodyPr>
          <a:lstStyle>
            <a:lvl1pPr marL="0" indent="0">
              <a:lnSpc>
                <a:spcPct val="90000"/>
              </a:lnSpc>
              <a:buNone/>
              <a:defRPr sz="1600" baseline="0"/>
            </a:lvl1pPr>
          </a:lstStyle>
          <a:p>
            <a:pPr lvl="0"/>
            <a:r>
              <a:rPr lang="da-DK" dirty="0" err="1"/>
              <a:t>Click</a:t>
            </a:r>
            <a:r>
              <a:rPr lang="da-DK" dirty="0"/>
              <a:t> to </a:t>
            </a:r>
            <a:r>
              <a:rPr lang="da-DK" dirty="0" err="1"/>
              <a:t>add</a:t>
            </a:r>
            <a:r>
              <a:rPr lang="da-DK" dirty="0"/>
              <a:t> </a:t>
            </a:r>
            <a:r>
              <a:rPr lang="da-DK" dirty="0" err="1"/>
              <a:t>author</a:t>
            </a:r>
            <a:endParaRPr lang="da-DK" dirty="0"/>
          </a:p>
        </p:txBody>
      </p:sp>
    </p:spTree>
    <p:extLst>
      <p:ext uri="{BB962C8B-B14F-4D97-AF65-F5344CB8AC3E}">
        <p14:creationId xmlns:p14="http://schemas.microsoft.com/office/powerpoint/2010/main" val="985057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A">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74E787AC-B9A2-8B31-A39F-E23F4C7F2073}"/>
              </a:ext>
            </a:extLst>
          </p:cNvPr>
          <p:cNvSpPr txBox="1"/>
          <p:nvPr userDrawn="1"/>
        </p:nvSpPr>
        <p:spPr>
          <a:xfrm>
            <a:off x="4964113" y="4698207"/>
            <a:ext cx="3784600" cy="187615"/>
          </a:xfrm>
          <a:prstGeom prst="rect">
            <a:avLst/>
          </a:prstGeom>
          <a:noFill/>
        </p:spPr>
        <p:txBody>
          <a:bodyPr>
            <a:spAutoFit/>
          </a:bodyPr>
          <a:lstStyle/>
          <a:p>
            <a:pPr algn="r">
              <a:defRPr/>
            </a:pPr>
            <a:fld id="{43C7A1DF-4FCF-4D58-B375-6C43727564E0}" type="slidenum">
              <a:rPr lang="en-US" sz="619" b="1">
                <a:solidFill>
                  <a:srgbClr val="4967AA"/>
                </a:solidFill>
                <a:latin typeface="Arial"/>
                <a:cs typeface="Arial"/>
              </a:rPr>
              <a:pPr algn="r">
                <a:defRPr/>
              </a:pPr>
              <a:t>‹#›</a:t>
            </a:fld>
            <a:endParaRPr lang="en-US" sz="619" b="1" dirty="0">
              <a:solidFill>
                <a:srgbClr val="4967AA"/>
              </a:solidFill>
              <a:latin typeface="Arial"/>
              <a:cs typeface="Arial"/>
            </a:endParaRPr>
          </a:p>
        </p:txBody>
      </p:sp>
      <p:pic>
        <p:nvPicPr>
          <p:cNvPr id="5" name="Picture 7" descr="C:\Users\aw.it\Desktop\logo.png">
            <a:extLst>
              <a:ext uri="{FF2B5EF4-FFF2-40B4-BE49-F238E27FC236}">
                <a16:creationId xmlns:a16="http://schemas.microsoft.com/office/drawing/2014/main" id="{F957881E-FCD4-615A-F8E8-98B9521F59EF}"/>
              </a:ext>
            </a:extLst>
          </p:cNvPr>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6337301" y="247650"/>
            <a:ext cx="2411413" cy="20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0"/>
          </p:nvPr>
        </p:nvSpPr>
        <p:spPr>
          <a:xfrm>
            <a:off x="395291" y="250032"/>
            <a:ext cx="5761037" cy="539354"/>
          </a:xfrm>
        </p:spPr>
        <p:txBody>
          <a:bodyPr>
            <a:normAutofit/>
          </a:bodyPr>
          <a:lstStyle>
            <a:lvl1pPr>
              <a:defRPr sz="1800" b="1">
                <a:solidFill>
                  <a:srgbClr val="4967AA"/>
                </a:solidFill>
              </a:defRPr>
            </a:lvl1pPr>
          </a:lstStyle>
          <a:p>
            <a:pPr lvl="0"/>
            <a:r>
              <a:rPr lang="en-US"/>
              <a:t>Click to edit Master text styles</a:t>
            </a:r>
          </a:p>
        </p:txBody>
      </p:sp>
      <p:sp>
        <p:nvSpPr>
          <p:cNvPr id="10" name="Content Placeholder 9"/>
          <p:cNvSpPr>
            <a:spLocks noGrp="1"/>
          </p:cNvSpPr>
          <p:nvPr>
            <p:ph sz="quarter" idx="11"/>
          </p:nvPr>
        </p:nvSpPr>
        <p:spPr>
          <a:xfrm>
            <a:off x="395289" y="843559"/>
            <a:ext cx="8353424" cy="3854648"/>
          </a:xfrm>
        </p:spPr>
        <p:txBody>
          <a:bodyPr>
            <a:normAutofit/>
          </a:bodyPr>
          <a:lstStyle>
            <a:lvl1pPr>
              <a:defRPr baseline="0"/>
            </a:lvl1pPr>
          </a:lstStyle>
          <a:p>
            <a:pPr lvl="0"/>
            <a:r>
              <a:rPr lang="en-US"/>
              <a:t>Click to edit Master text styles</a:t>
            </a:r>
          </a:p>
        </p:txBody>
      </p:sp>
    </p:spTree>
    <p:extLst>
      <p:ext uri="{BB962C8B-B14F-4D97-AF65-F5344CB8AC3E}">
        <p14:creationId xmlns:p14="http://schemas.microsoft.com/office/powerpoint/2010/main" val="193442093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A">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3B453C8B-FD61-3ECD-D1C6-E4EDFDB4BCC6}"/>
              </a:ext>
            </a:extLst>
          </p:cNvPr>
          <p:cNvSpPr txBox="1"/>
          <p:nvPr userDrawn="1"/>
        </p:nvSpPr>
        <p:spPr>
          <a:xfrm>
            <a:off x="4964113" y="4698207"/>
            <a:ext cx="3784600" cy="187615"/>
          </a:xfrm>
          <a:prstGeom prst="rect">
            <a:avLst/>
          </a:prstGeom>
          <a:noFill/>
        </p:spPr>
        <p:txBody>
          <a:bodyPr>
            <a:spAutoFit/>
          </a:bodyPr>
          <a:lstStyle/>
          <a:p>
            <a:pPr algn="r">
              <a:defRPr/>
            </a:pPr>
            <a:fld id="{618FDF75-8BEF-43E5-B64E-B55722CFE108}" type="slidenum">
              <a:rPr lang="en-US" sz="619" b="1">
                <a:solidFill>
                  <a:srgbClr val="4967AA"/>
                </a:solidFill>
                <a:latin typeface="Arial"/>
                <a:cs typeface="Arial"/>
              </a:rPr>
              <a:pPr algn="r">
                <a:defRPr/>
              </a:pPr>
              <a:t>‹#›</a:t>
            </a:fld>
            <a:endParaRPr lang="en-US" sz="619" b="1" dirty="0">
              <a:solidFill>
                <a:srgbClr val="4967AA"/>
              </a:solidFill>
              <a:latin typeface="Arial"/>
              <a:cs typeface="Arial"/>
            </a:endParaRPr>
          </a:p>
        </p:txBody>
      </p:sp>
      <p:pic>
        <p:nvPicPr>
          <p:cNvPr id="5" name="Picture 7" descr="C:\Users\aw.it\Desktop\logo.png">
            <a:extLst>
              <a:ext uri="{FF2B5EF4-FFF2-40B4-BE49-F238E27FC236}">
                <a16:creationId xmlns:a16="http://schemas.microsoft.com/office/drawing/2014/main" id="{E3D46BD4-113B-02D2-0940-EA52EED3A836}"/>
              </a:ext>
            </a:extLst>
          </p:cNvPr>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6337301" y="247650"/>
            <a:ext cx="2411413" cy="20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0"/>
          </p:nvPr>
        </p:nvSpPr>
        <p:spPr>
          <a:xfrm>
            <a:off x="395291" y="250032"/>
            <a:ext cx="5761037" cy="539354"/>
          </a:xfrm>
        </p:spPr>
        <p:txBody>
          <a:bodyPr>
            <a:normAutofit/>
          </a:bodyPr>
          <a:lstStyle>
            <a:lvl1pPr>
              <a:defRPr sz="1800" b="1">
                <a:solidFill>
                  <a:srgbClr val="4967AA"/>
                </a:solidFill>
              </a:defRPr>
            </a:lvl1pPr>
          </a:lstStyle>
          <a:p>
            <a:pPr lvl="0"/>
            <a:r>
              <a:rPr lang="en-US"/>
              <a:t>Click to edit Master text styles</a:t>
            </a:r>
          </a:p>
        </p:txBody>
      </p:sp>
      <p:sp>
        <p:nvSpPr>
          <p:cNvPr id="10" name="Content Placeholder 9"/>
          <p:cNvSpPr>
            <a:spLocks noGrp="1"/>
          </p:cNvSpPr>
          <p:nvPr>
            <p:ph sz="quarter" idx="11"/>
          </p:nvPr>
        </p:nvSpPr>
        <p:spPr>
          <a:xfrm>
            <a:off x="395289" y="843559"/>
            <a:ext cx="8353424" cy="3854648"/>
          </a:xfrm>
        </p:spPr>
        <p:txBody>
          <a:bodyPr>
            <a:normAutofit/>
          </a:bodyPr>
          <a:lstStyle>
            <a:lvl1pPr>
              <a:defRPr baseline="0"/>
            </a:lvl1pPr>
          </a:lstStyle>
          <a:p>
            <a:pPr lvl="0"/>
            <a:r>
              <a:rPr lang="en-US"/>
              <a:t>Click to edit Master text styles</a:t>
            </a:r>
          </a:p>
        </p:txBody>
      </p:sp>
    </p:spTree>
    <p:extLst>
      <p:ext uri="{BB962C8B-B14F-4D97-AF65-F5344CB8AC3E}">
        <p14:creationId xmlns:p14="http://schemas.microsoft.com/office/powerpoint/2010/main" val="35975078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A">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dirty="0">
              <a:solidFill>
                <a:srgbClr val="4967AA"/>
              </a:solidFill>
              <a:latin typeface="Arial"/>
              <a:cs typeface="Arial"/>
            </a:endParaRPr>
          </a:p>
        </p:txBody>
      </p:sp>
      <p:pic>
        <p:nvPicPr>
          <p:cNvPr id="6"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7"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3942032650"/>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pic>
        <p:nvPicPr>
          <p:cNvPr id="6"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7"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652960329"/>
      </p:ext>
    </p:extLst>
  </p:cSld>
  <p:clrMapOvr>
    <a:masterClrMapping/>
  </p:clrMapOvr>
  <p:extLst>
    <p:ext uri="{DCECCB84-F9BA-43D5-87BE-67443E8EF086}">
      <p15:sldGuideLst xmlns:p15="http://schemas.microsoft.com/office/powerpoint/2012/main">
        <p15:guide id="1" orient="horz" pos="162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4804838"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206829884"/>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sp>
        <p:nvSpPr>
          <p:cNvPr id="9" name="Content Placeholder 2"/>
          <p:cNvSpPr>
            <a:spLocks noGrp="1"/>
          </p:cNvSpPr>
          <p:nvPr>
            <p:ph sz="quarter" idx="12" hasCustomPrompt="1"/>
          </p:nvPr>
        </p:nvSpPr>
        <p:spPr>
          <a:xfrm>
            <a:off x="917575"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4804838"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2" name="Content Placeholder 2"/>
          <p:cNvSpPr>
            <a:spLocks noGrp="1"/>
          </p:cNvSpPr>
          <p:nvPr>
            <p:ph sz="quarter" idx="14" hasCustomPrompt="1"/>
          </p:nvPr>
        </p:nvSpPr>
        <p:spPr>
          <a:xfrm>
            <a:off x="4808013" y="28479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339637002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sp>
        <p:nvSpPr>
          <p:cNvPr id="11" name="TextBox 10"/>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917575"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2" name="Content Placeholder 2"/>
          <p:cNvSpPr>
            <a:spLocks noGrp="1"/>
          </p:cNvSpPr>
          <p:nvPr>
            <p:ph sz="quarter" idx="14" hasCustomPrompt="1"/>
          </p:nvPr>
        </p:nvSpPr>
        <p:spPr>
          <a:xfrm>
            <a:off x="920750" y="28479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8"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
        <p:nvSpPr>
          <p:cNvPr id="10" name="Content Placeholder 2"/>
          <p:cNvSpPr>
            <a:spLocks noGrp="1"/>
          </p:cNvSpPr>
          <p:nvPr>
            <p:ph sz="quarter" idx="12" hasCustomPrompt="1"/>
          </p:nvPr>
        </p:nvSpPr>
        <p:spPr>
          <a:xfrm>
            <a:off x="4808013" y="1019175"/>
            <a:ext cx="3420000" cy="3381375"/>
          </a:xfrm>
          <a:prstGeom prst="rect">
            <a:avLst/>
          </a:prstGeom>
        </p:spPr>
        <p:txBody>
          <a:bodyPr/>
          <a:lstStyle>
            <a:lvl1pPr marL="0" indent="0">
              <a:buNone/>
              <a:defRPr baseline="0"/>
            </a:lvl1pPr>
          </a:lstStyle>
          <a:p>
            <a:pPr lvl="0"/>
            <a:r>
              <a:rPr lang="da-DK" dirty="0"/>
              <a:t>Click to add text – or click an icon to add content</a:t>
            </a:r>
          </a:p>
        </p:txBody>
      </p:sp>
    </p:spTree>
    <p:extLst>
      <p:ext uri="{BB962C8B-B14F-4D97-AF65-F5344CB8AC3E}">
        <p14:creationId xmlns:p14="http://schemas.microsoft.com/office/powerpoint/2010/main" val="59618412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sp>
        <p:nvSpPr>
          <p:cNvPr id="9" name="TextBox 8"/>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7" name="Content Placeholder 2"/>
          <p:cNvSpPr>
            <a:spLocks noGrp="1"/>
          </p:cNvSpPr>
          <p:nvPr>
            <p:ph sz="quarter" idx="13" hasCustomPrompt="1"/>
          </p:nvPr>
        </p:nvSpPr>
        <p:spPr>
          <a:xfrm>
            <a:off x="911071" y="1019175"/>
            <a:ext cx="7305675" cy="1552575"/>
          </a:xfrm>
          <a:prstGeom prst="rect">
            <a:avLst/>
          </a:prstGeom>
        </p:spPr>
        <p:txBody>
          <a:bodyPr/>
          <a:lstStyle>
            <a:lvl1pPr marL="0" indent="0">
              <a:buNone/>
              <a:defRPr baseline="0"/>
            </a:lvl1pPr>
          </a:lstStyle>
          <a:p>
            <a:pPr lvl="0"/>
            <a:r>
              <a:rPr lang="da-DK" dirty="0"/>
              <a:t>Click to </a:t>
            </a:r>
            <a:r>
              <a:rPr lang="da-DK" dirty="0" err="1"/>
              <a:t>add</a:t>
            </a:r>
            <a:r>
              <a:rPr lang="da-DK" dirty="0"/>
              <a:t> text – or click an icon to </a:t>
            </a:r>
            <a:r>
              <a:rPr lang="da-DK" dirty="0" err="1"/>
              <a:t>add</a:t>
            </a:r>
            <a:r>
              <a:rPr lang="da-DK" dirty="0"/>
              <a:t> </a:t>
            </a:r>
            <a:r>
              <a:rPr lang="da-DK" dirty="0" err="1"/>
              <a:t>content</a:t>
            </a:r>
            <a:endParaRPr lang="da-DK" dirty="0"/>
          </a:p>
        </p:txBody>
      </p:sp>
      <p:sp>
        <p:nvSpPr>
          <p:cNvPr id="8" name="Content Placeholder 2"/>
          <p:cNvSpPr>
            <a:spLocks noGrp="1"/>
          </p:cNvSpPr>
          <p:nvPr>
            <p:ph sz="quarter" idx="14" hasCustomPrompt="1"/>
          </p:nvPr>
        </p:nvSpPr>
        <p:spPr>
          <a:xfrm>
            <a:off x="914246" y="2847975"/>
            <a:ext cx="7305675"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11"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1270508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sp>
        <p:nvSpPr>
          <p:cNvPr id="9" name="TextBox 8"/>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8" name="Content Placeholder 2"/>
          <p:cNvSpPr>
            <a:spLocks noGrp="1"/>
          </p:cNvSpPr>
          <p:nvPr>
            <p:ph sz="quarter" idx="14" hasCustomPrompt="1"/>
          </p:nvPr>
        </p:nvSpPr>
        <p:spPr>
          <a:xfrm>
            <a:off x="914246" y="2847975"/>
            <a:ext cx="7305675" cy="1552575"/>
          </a:xfrm>
          <a:prstGeom prst="rect">
            <a:avLst/>
          </a:prstGeom>
        </p:spPr>
        <p:txBody>
          <a:bodyPr/>
          <a:lstStyle>
            <a:lvl1pPr marL="0" indent="0">
              <a:buNone/>
              <a:defRPr baseline="0"/>
            </a:lvl1pPr>
          </a:lstStyle>
          <a:p>
            <a:pPr lvl="0"/>
            <a:r>
              <a:rPr lang="da-DK" dirty="0"/>
              <a:t>Click to add text – or click an icon to add content</a:t>
            </a:r>
          </a:p>
        </p:txBody>
      </p:sp>
      <p:pic>
        <p:nvPicPr>
          <p:cNvPr id="11" name="Picture 4" descr="C:\Users\aw.it\Desktop\logo.png"/>
          <p:cNvPicPr>
            <a:picLocks noChangeAspect="1" noChangeArrowheads="1"/>
          </p:cNvPicPr>
          <p:nvPr userDrawn="1"/>
        </p:nvPicPr>
        <p:blipFill>
          <a:blip r:embed="rId2"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
        <p:nvSpPr>
          <p:cNvPr id="10" name="Content Placeholder 2"/>
          <p:cNvSpPr>
            <a:spLocks noGrp="1"/>
          </p:cNvSpPr>
          <p:nvPr>
            <p:ph sz="quarter" idx="13" hasCustomPrompt="1"/>
          </p:nvPr>
        </p:nvSpPr>
        <p:spPr>
          <a:xfrm>
            <a:off x="917575"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
        <p:nvSpPr>
          <p:cNvPr id="13" name="Content Placeholder 2"/>
          <p:cNvSpPr>
            <a:spLocks noGrp="1"/>
          </p:cNvSpPr>
          <p:nvPr>
            <p:ph sz="quarter" idx="15" hasCustomPrompt="1"/>
          </p:nvPr>
        </p:nvSpPr>
        <p:spPr>
          <a:xfrm>
            <a:off x="4804838" y="1019175"/>
            <a:ext cx="3420000" cy="1552575"/>
          </a:xfrm>
          <a:prstGeom prst="rect">
            <a:avLst/>
          </a:prstGeom>
        </p:spPr>
        <p:txBody>
          <a:bodyPr/>
          <a:lstStyle>
            <a:lvl1pPr marL="0" indent="0">
              <a:buNone/>
              <a:defRPr baseline="0"/>
            </a:lvl1pPr>
          </a:lstStyle>
          <a:p>
            <a:pPr lvl="0"/>
            <a:r>
              <a:rPr lang="da-DK" dirty="0"/>
              <a:t>Click to add text – or click an icon to add content</a:t>
            </a:r>
          </a:p>
        </p:txBody>
      </p:sp>
    </p:spTree>
    <p:extLst>
      <p:ext uri="{BB962C8B-B14F-4D97-AF65-F5344CB8AC3E}">
        <p14:creationId xmlns:p14="http://schemas.microsoft.com/office/powerpoint/2010/main" val="846663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50BCB1C-9833-78B8-B816-C1C2FF40288D}"/>
              </a:ext>
            </a:extLst>
          </p:cNvPr>
          <p:cNvSpPr>
            <a:spLocks noGrp="1" noChangeArrowheads="1"/>
          </p:cNvSpPr>
          <p:nvPr>
            <p:ph type="dt" sz="half" idx="10"/>
          </p:nvPr>
        </p:nvSpPr>
        <p:spPr>
          <a:ln/>
        </p:spPr>
        <p:txBody>
          <a:bodyPr/>
          <a:lstStyle>
            <a:lvl1pPr>
              <a:defRPr/>
            </a:lvl1pPr>
          </a:lstStyle>
          <a:p>
            <a:pPr>
              <a:defRPr/>
            </a:pPr>
            <a:r>
              <a:rPr lang="da-DK"/>
              <a:t>Session 1</a:t>
            </a:r>
          </a:p>
        </p:txBody>
      </p:sp>
      <p:sp>
        <p:nvSpPr>
          <p:cNvPr id="5" name="Rectangle 5">
            <a:extLst>
              <a:ext uri="{FF2B5EF4-FFF2-40B4-BE49-F238E27FC236}">
                <a16:creationId xmlns:a16="http://schemas.microsoft.com/office/drawing/2014/main" id="{9BB881F3-F2ED-07EC-6764-5DC71869949D}"/>
              </a:ext>
            </a:extLst>
          </p:cNvPr>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2828415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544EFCB-0ECF-13B9-13C4-4E5DB12A7F84}"/>
              </a:ext>
            </a:extLst>
          </p:cNvPr>
          <p:cNvSpPr>
            <a:spLocks noGrp="1" noChangeArrowheads="1"/>
          </p:cNvSpPr>
          <p:nvPr>
            <p:ph type="dt" sz="half" idx="10"/>
          </p:nvPr>
        </p:nvSpPr>
        <p:spPr>
          <a:ln/>
        </p:spPr>
        <p:txBody>
          <a:bodyPr/>
          <a:lstStyle>
            <a:lvl1pPr>
              <a:defRPr/>
            </a:lvl1pPr>
          </a:lstStyle>
          <a:p>
            <a:pPr>
              <a:defRPr/>
            </a:pPr>
            <a:r>
              <a:rPr lang="da-DK"/>
              <a:t>Session 1</a:t>
            </a:r>
          </a:p>
        </p:txBody>
      </p:sp>
      <p:sp>
        <p:nvSpPr>
          <p:cNvPr id="4" name="Rectangle 5">
            <a:extLst>
              <a:ext uri="{FF2B5EF4-FFF2-40B4-BE49-F238E27FC236}">
                <a16:creationId xmlns:a16="http://schemas.microsoft.com/office/drawing/2014/main" id="{A917E289-C887-BC13-1585-3D89E4457005}"/>
              </a:ext>
            </a:extLst>
          </p:cNvPr>
          <p:cNvSpPr>
            <a:spLocks noGrp="1" noChangeArrowheads="1"/>
          </p:cNvSpPr>
          <p:nvPr>
            <p:ph type="ftr" sz="quarter" idx="11"/>
          </p:nvPr>
        </p:nvSpPr>
        <p:spPr>
          <a:ln/>
        </p:spPr>
        <p:txBody>
          <a:bodyPr/>
          <a:lstStyle>
            <a:lvl1pPr>
              <a:defRPr/>
            </a:lvl1pPr>
          </a:lstStyle>
          <a:p>
            <a:pPr>
              <a:defRPr/>
            </a:pPr>
            <a:r>
              <a:rPr lang="da-DK"/>
              <a:t>ic.inf@cbs.dk</a:t>
            </a:r>
          </a:p>
        </p:txBody>
      </p:sp>
    </p:spTree>
    <p:extLst>
      <p:ext uri="{BB962C8B-B14F-4D97-AF65-F5344CB8AC3E}">
        <p14:creationId xmlns:p14="http://schemas.microsoft.com/office/powerpoint/2010/main" val="2740925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
    <p:spTree>
      <p:nvGrpSpPr>
        <p:cNvPr id="1" name=""/>
        <p:cNvGrpSpPr/>
        <p:nvPr/>
      </p:nvGrpSpPr>
      <p:grpSpPr>
        <a:xfrm>
          <a:off x="0" y="0"/>
          <a:ext cx="0" cy="0"/>
          <a:chOff x="0" y="0"/>
          <a:chExt cx="0" cy="0"/>
        </a:xfrm>
      </p:grpSpPr>
      <p:pic>
        <p:nvPicPr>
          <p:cNvPr id="10" name="Picture 9" descr="BM0128_CBS_Kilen-2731.jpg"/>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426572" y="0"/>
            <a:ext cx="7717428"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3"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289104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
    <p:spTree>
      <p:nvGrpSpPr>
        <p:cNvPr id="1" name=""/>
        <p:cNvGrpSpPr/>
        <p:nvPr/>
      </p:nvGrpSpPr>
      <p:grpSpPr>
        <a:xfrm>
          <a:off x="0" y="0"/>
          <a:ext cx="0" cy="0"/>
          <a:chOff x="0" y="0"/>
          <a:chExt cx="0" cy="0"/>
        </a:xfrm>
      </p:grpSpPr>
      <p:pic>
        <p:nvPicPr>
          <p:cNvPr id="2050" name="Picture 2" descr="C:\Users\aw.it\Desktop\Picture8.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1"/>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1"/>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0"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3624274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
    <p:spTree>
      <p:nvGrpSpPr>
        <p:cNvPr id="1" name=""/>
        <p:cNvGrpSpPr/>
        <p:nvPr/>
      </p:nvGrpSpPr>
      <p:grpSpPr>
        <a:xfrm>
          <a:off x="0" y="0"/>
          <a:ext cx="0" cy="0"/>
          <a:chOff x="0" y="0"/>
          <a:chExt cx="0" cy="0"/>
        </a:xfrm>
      </p:grpSpPr>
      <p:pic>
        <p:nvPicPr>
          <p:cNvPr id="2" name="Picture 1" descr="BM0128_CBS_Kilen-2679.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bg1">
              <a:alpha val="7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rgbClr val="4967AA"/>
                </a:solidFill>
                <a:latin typeface="Arial"/>
                <a:cs typeface="Arial"/>
              </a:rPr>
              <a:pPr algn="r"/>
              <a:t>‹#›</a:t>
            </a:fld>
            <a:endParaRPr lang="en-US" sz="1300" b="1">
              <a:solidFill>
                <a:srgbClr val="4967AA"/>
              </a:solidFill>
              <a:latin typeface="Arial"/>
              <a:cs typeface="Arial"/>
            </a:endParaRPr>
          </a:p>
        </p:txBody>
      </p:sp>
      <p:sp>
        <p:nvSpPr>
          <p:cNvPr id="11"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lvl1pPr>
          </a:lstStyle>
          <a:p>
            <a:pPr lvl="0"/>
            <a:r>
              <a:rPr lang="da-DK" dirty="0"/>
              <a:t>Click to add text – or click an icon to add content</a:t>
            </a:r>
          </a:p>
        </p:txBody>
      </p:sp>
      <p:pic>
        <p:nvPicPr>
          <p:cNvPr id="10" name="Picture 4" descr="C:\Users\aw.it\Desktop\logo.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25" y="4574149"/>
            <a:ext cx="2412000" cy="268000"/>
          </a:xfrm>
          <a:prstGeom prst="rect">
            <a:avLst/>
          </a:prstGeom>
          <a:noFill/>
          <a:extLst>
            <a:ext uri="{909E8E84-426E-40DD-AFC4-6F175D3DCCD1}">
              <a14:hiddenFill xmlns:a14="http://schemas.microsoft.com/office/drawing/2010/main">
                <a:solidFill>
                  <a:srgbClr val="FFFFFF"/>
                </a:solidFill>
              </a14:hiddenFill>
            </a:ext>
          </a:extLst>
        </p:spPr>
      </p:pic>
      <p:sp>
        <p:nvSpPr>
          <p:cNvPr id="13" name="Pladsholder til tekst 15"/>
          <p:cNvSpPr>
            <a:spLocks noGrp="1"/>
          </p:cNvSpPr>
          <p:nvPr>
            <p:ph type="body" sz="quarter" idx="10" hasCustomPrompt="1"/>
          </p:nvPr>
        </p:nvSpPr>
        <p:spPr>
          <a:xfrm>
            <a:off x="917575" y="304801"/>
            <a:ext cx="7310438" cy="650060"/>
          </a:xfrm>
          <a:prstGeom prst="rect">
            <a:avLst/>
          </a:prstGeom>
        </p:spPr>
        <p:txBody>
          <a:bodyPr>
            <a:normAutofit/>
          </a:bodyPr>
          <a:lstStyle>
            <a:lvl1pPr marL="0" indent="0">
              <a:buNone/>
              <a:defRPr sz="2800" b="1">
                <a:solidFill>
                  <a:srgbClr val="4967AA"/>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2891047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
    <p:spTree>
      <p:nvGrpSpPr>
        <p:cNvPr id="1" name=""/>
        <p:cNvGrpSpPr/>
        <p:nvPr/>
      </p:nvGrpSpPr>
      <p:grpSpPr>
        <a:xfrm>
          <a:off x="0" y="0"/>
          <a:ext cx="0" cy="0"/>
          <a:chOff x="0" y="0"/>
          <a:chExt cx="0" cy="0"/>
        </a:xfrm>
      </p:grpSpPr>
      <p:pic>
        <p:nvPicPr>
          <p:cNvPr id="2" name="Picture 1" descr="BM0128_CBS_DalgasHave-2590.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3" name="TextBox 12"/>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2"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411520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
    <p:spTree>
      <p:nvGrpSpPr>
        <p:cNvPr id="1" name=""/>
        <p:cNvGrpSpPr/>
        <p:nvPr/>
      </p:nvGrpSpPr>
      <p:grpSpPr>
        <a:xfrm>
          <a:off x="0" y="0"/>
          <a:ext cx="0" cy="0"/>
          <a:chOff x="0" y="0"/>
          <a:chExt cx="0" cy="0"/>
        </a:xfrm>
      </p:grpSpPr>
      <p:pic>
        <p:nvPicPr>
          <p:cNvPr id="3" name="Picture 2" descr="BM0128_CBS_SolbjergPlads-2918.jpg"/>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2" name="TextBox 11"/>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3"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27853743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
    <p:spTree>
      <p:nvGrpSpPr>
        <p:cNvPr id="1" name=""/>
        <p:cNvGrpSpPr/>
        <p:nvPr/>
      </p:nvGrpSpPr>
      <p:grpSpPr>
        <a:xfrm>
          <a:off x="0" y="0"/>
          <a:ext cx="0" cy="0"/>
          <a:chOff x="0" y="0"/>
          <a:chExt cx="0" cy="0"/>
        </a:xfrm>
      </p:grpSpPr>
      <p:pic>
        <p:nvPicPr>
          <p:cNvPr id="1026" name="Picture 2" descr="C:\Users\aw.it\Desktop\Picture10.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0"/>
            <a:ext cx="9144000" cy="514349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0" y="0"/>
            <a:ext cx="9144000" cy="5143500"/>
          </a:xfrm>
          <a:prstGeom prst="rect">
            <a:avLst/>
          </a:prstGeom>
          <a:solidFill>
            <a:schemeClr val="tx1">
              <a:lumMod val="75000"/>
              <a:lumOff val="25000"/>
              <a:alpha val="80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a:spLocks noGrp="1"/>
          </p:cNvSpPr>
          <p:nvPr>
            <p:ph sz="quarter" idx="12" hasCustomPrompt="1"/>
          </p:nvPr>
        </p:nvSpPr>
        <p:spPr>
          <a:xfrm>
            <a:off x="917575" y="1019175"/>
            <a:ext cx="7310437" cy="3381375"/>
          </a:xfrm>
          <a:prstGeom prst="rect">
            <a:avLst/>
          </a:prstGeom>
        </p:spPr>
        <p:txBody>
          <a:bodyPr/>
          <a:lstStyle>
            <a:lvl1pPr marL="0" indent="0">
              <a:buNone/>
              <a:defRPr baseline="0">
                <a:solidFill>
                  <a:schemeClr val="bg1"/>
                </a:solidFill>
              </a:defRPr>
            </a:lvl1pPr>
          </a:lstStyle>
          <a:p>
            <a:pPr lvl="0"/>
            <a:r>
              <a:rPr lang="da-DK" dirty="0"/>
              <a:t>Click to add text – or click an icon to add content</a:t>
            </a:r>
          </a:p>
        </p:txBody>
      </p:sp>
      <p:sp>
        <p:nvSpPr>
          <p:cNvPr id="12" name="TextBox 11"/>
          <p:cNvSpPr txBox="1"/>
          <p:nvPr userDrawn="1"/>
        </p:nvSpPr>
        <p:spPr>
          <a:xfrm>
            <a:off x="4439653" y="4523625"/>
            <a:ext cx="3785185" cy="292388"/>
          </a:xfrm>
          <a:prstGeom prst="rect">
            <a:avLst/>
          </a:prstGeom>
          <a:noFill/>
        </p:spPr>
        <p:txBody>
          <a:bodyPr wrap="square" rtlCol="0">
            <a:spAutoFit/>
          </a:bodyPr>
          <a:lstStyle/>
          <a:p>
            <a:pPr algn="r"/>
            <a:fld id="{6B3992C5-A306-ED46-9DB6-FC571D36BE7A}" type="slidenum">
              <a:rPr lang="en-US" sz="1300" b="1" smtClean="0">
                <a:solidFill>
                  <a:schemeClr val="bg1"/>
                </a:solidFill>
                <a:latin typeface="Arial"/>
                <a:cs typeface="Arial"/>
              </a:rPr>
              <a:pPr algn="r"/>
              <a:t>‹#›</a:t>
            </a:fld>
            <a:endParaRPr lang="en-US" sz="1300" b="1">
              <a:solidFill>
                <a:schemeClr val="bg1"/>
              </a:solidFill>
              <a:latin typeface="Arial"/>
              <a:cs typeface="Arial"/>
            </a:endParaRPr>
          </a:p>
        </p:txBody>
      </p:sp>
      <p:pic>
        <p:nvPicPr>
          <p:cNvPr id="13" name="Picture 2" descr="C:\Users\aw.it\Desktop\logo_w.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915988" y="4572300"/>
            <a:ext cx="2397600" cy="266400"/>
          </a:xfrm>
          <a:prstGeom prst="rect">
            <a:avLst/>
          </a:prstGeom>
          <a:noFill/>
          <a:extLst>
            <a:ext uri="{909E8E84-426E-40DD-AFC4-6F175D3DCCD1}">
              <a14:hiddenFill xmlns:a14="http://schemas.microsoft.com/office/drawing/2010/main">
                <a:solidFill>
                  <a:srgbClr val="FFFFFF"/>
                </a:solidFill>
              </a14:hiddenFill>
            </a:ext>
          </a:extLst>
        </p:spPr>
      </p:pic>
      <p:sp>
        <p:nvSpPr>
          <p:cNvPr id="14" name="Pladsholder til tekst 15"/>
          <p:cNvSpPr>
            <a:spLocks noGrp="1"/>
          </p:cNvSpPr>
          <p:nvPr>
            <p:ph type="body" sz="quarter" idx="10" hasCustomPrompt="1"/>
          </p:nvPr>
        </p:nvSpPr>
        <p:spPr>
          <a:xfrm>
            <a:off x="917575" y="304800"/>
            <a:ext cx="7310438" cy="651600"/>
          </a:xfrm>
          <a:prstGeom prst="rect">
            <a:avLst/>
          </a:prstGeom>
        </p:spPr>
        <p:txBody>
          <a:bodyPr>
            <a:normAutofit/>
          </a:bodyPr>
          <a:lstStyle>
            <a:lvl1pPr marL="0" indent="0">
              <a:buNone/>
              <a:defRPr sz="2800" b="1">
                <a:solidFill>
                  <a:schemeClr val="bg1"/>
                </a:solidFill>
              </a:defRPr>
            </a:lvl1pPr>
          </a:lstStyle>
          <a:p>
            <a:pPr lvl="0"/>
            <a:r>
              <a:rPr lang="da-DK" sz="2800" dirty="0"/>
              <a:t>Click to add title</a:t>
            </a:r>
            <a:endParaRPr lang="da-DK" dirty="0"/>
          </a:p>
        </p:txBody>
      </p:sp>
    </p:spTree>
    <p:extLst>
      <p:ext uri="{BB962C8B-B14F-4D97-AF65-F5344CB8AC3E}">
        <p14:creationId xmlns:p14="http://schemas.microsoft.com/office/powerpoint/2010/main" val="1350944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dsholder til tekst 2"/>
          <p:cNvSpPr>
            <a:spLocks noGrp="1"/>
          </p:cNvSpPr>
          <p:nvPr>
            <p:ph type="body" idx="1"/>
          </p:nvPr>
        </p:nvSpPr>
        <p:spPr>
          <a:xfrm>
            <a:off x="914400" y="304800"/>
            <a:ext cx="7313613" cy="4533900"/>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243233233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45" r:id="rId7"/>
    <p:sldLayoutId id="2147483746" r:id="rId8"/>
    <p:sldLayoutId id="2147483750" r:id="rId9"/>
  </p:sldLayoutIdLst>
  <p:hf sldNum="0" hdr="0" ftr="0"/>
  <p:txStyles>
    <p:titleStyle>
      <a:lvl1pPr algn="ctr" defTabSz="914400" rtl="0" eaLnBrk="1" latinLnBrk="0" hangingPunct="1">
        <a:spcBef>
          <a:spcPct val="0"/>
        </a:spcBef>
        <a:buNone/>
        <a:defRPr sz="2800" kern="1200">
          <a:solidFill>
            <a:schemeClr val="tx1"/>
          </a:solidFill>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Pladsholder til tekst 2"/>
          <p:cNvSpPr>
            <a:spLocks noGrp="1"/>
          </p:cNvSpPr>
          <p:nvPr>
            <p:ph type="body" idx="1"/>
          </p:nvPr>
        </p:nvSpPr>
        <p:spPr>
          <a:xfrm>
            <a:off x="914400" y="304800"/>
            <a:ext cx="7313613" cy="4533899"/>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28718164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722" r:id="rId4"/>
    <p:sldLayoutId id="2147483688" r:id="rId5"/>
    <p:sldLayoutId id="2147483723" r:id="rId6"/>
    <p:sldLayoutId id="2147483748" r:id="rId7"/>
    <p:sldLayoutId id="2147483749"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Pladsholder til tekst 2"/>
          <p:cNvSpPr>
            <a:spLocks noGrp="1"/>
          </p:cNvSpPr>
          <p:nvPr>
            <p:ph type="body" idx="1"/>
          </p:nvPr>
        </p:nvSpPr>
        <p:spPr>
          <a:xfrm>
            <a:off x="914400" y="304800"/>
            <a:ext cx="7313613" cy="4533899"/>
          </a:xfrm>
          <a:prstGeom prst="rect">
            <a:avLst/>
          </a:prstGeom>
        </p:spPr>
        <p:txBody>
          <a:bodyPr vert="horz" lIns="0" tIns="0" rIns="0" bIns="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1132716952"/>
      </p:ext>
    </p:extLst>
  </p:cSld>
  <p:clrMap bg1="lt1" tx1="dk1" bg2="lt2" tx2="dk2" accent1="accent1" accent2="accent2" accent3="accent3" accent4="accent4" accent5="accent5" accent6="accent6" hlink="hlink" folHlink="folHlink"/>
  <p:sldLayoutIdLst>
    <p:sldLayoutId id="2147483707" r:id="rId1"/>
    <p:sldLayoutId id="2147483690" r:id="rId2"/>
    <p:sldLayoutId id="2147483708" r:id="rId3"/>
    <p:sldLayoutId id="2147483731" r:id="rId4"/>
    <p:sldLayoutId id="2147483732" r:id="rId5"/>
    <p:sldLayoutId id="2147483733" r:id="rId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ic.digi@cbs.dk" TargetMode="Externa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C94BF2D-7D5E-59CF-F4FE-E99C0E597BF7}"/>
              </a:ext>
            </a:extLst>
          </p:cNvPr>
          <p:cNvSpPr>
            <a:spLocks noGrp="1"/>
          </p:cNvSpPr>
          <p:nvPr>
            <p:ph type="body" sz="quarter" idx="11"/>
          </p:nvPr>
        </p:nvSpPr>
        <p:spPr/>
        <p:txBody>
          <a:bodyPr/>
          <a:lstStyle/>
          <a:p>
            <a:r>
              <a:rPr lang="en-US"/>
              <a:t>Data, </a:t>
            </a:r>
            <a:r>
              <a:rPr lang="en-US" dirty="0"/>
              <a:t>Platforms and Digitalization</a:t>
            </a:r>
          </a:p>
          <a:p>
            <a:endParaRPr lang="en-US" dirty="0"/>
          </a:p>
          <a:p>
            <a:endParaRPr lang="en-US" dirty="0"/>
          </a:p>
        </p:txBody>
      </p:sp>
      <p:sp>
        <p:nvSpPr>
          <p:cNvPr id="9" name="Text Placeholder 8">
            <a:extLst>
              <a:ext uri="{FF2B5EF4-FFF2-40B4-BE49-F238E27FC236}">
                <a16:creationId xmlns:a16="http://schemas.microsoft.com/office/drawing/2014/main" id="{F49FE213-EC0C-8D0C-1004-CF6883E904B9}"/>
              </a:ext>
            </a:extLst>
          </p:cNvPr>
          <p:cNvSpPr>
            <a:spLocks noGrp="1"/>
          </p:cNvSpPr>
          <p:nvPr>
            <p:ph type="body" sz="quarter" idx="12"/>
          </p:nvPr>
        </p:nvSpPr>
        <p:spPr>
          <a:xfrm>
            <a:off x="1236663" y="2702628"/>
            <a:ext cx="7308850" cy="1464255"/>
          </a:xfrm>
        </p:spPr>
        <p:txBody>
          <a:bodyPr/>
          <a:lstStyle/>
          <a:p>
            <a:pPr eaLnBrk="1" hangingPunct="1"/>
            <a:r>
              <a:rPr lang="en-US" altLang="en-US" sz="1600" b="1" dirty="0"/>
              <a:t>Ioanna Constantiou, </a:t>
            </a:r>
            <a:r>
              <a:rPr lang="en-US" altLang="en-US" sz="1600" b="1" dirty="0">
                <a:solidFill>
                  <a:schemeClr val="accent2"/>
                </a:solidFill>
                <a:hlinkClick r:id="rId2"/>
              </a:rPr>
              <a:t>ic.digi@cbs.dk</a:t>
            </a:r>
            <a:endParaRPr lang="en-US" altLang="en-US" sz="1600" b="1" dirty="0">
              <a:solidFill>
                <a:schemeClr val="accent2"/>
              </a:solidFill>
            </a:endParaRPr>
          </a:p>
          <a:p>
            <a:pPr eaLnBrk="1" hangingPunct="1"/>
            <a:r>
              <a:rPr lang="en-US" altLang="en-US" sz="1600" b="1" dirty="0"/>
              <a:t>Department of Digitalization</a:t>
            </a:r>
          </a:p>
          <a:p>
            <a:endParaRPr lang="da-DK"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AE39EB4-9500-A5FC-11DE-EBE98FB41C64}"/>
              </a:ext>
            </a:extLst>
          </p:cNvPr>
          <p:cNvSpPr>
            <a:spLocks noGrp="1"/>
          </p:cNvSpPr>
          <p:nvPr>
            <p:ph sz="quarter" idx="12"/>
          </p:nvPr>
        </p:nvSpPr>
        <p:spPr/>
        <p:txBody>
          <a:bodyPr>
            <a:normAutofit/>
          </a:bodyPr>
          <a:lstStyle/>
          <a:p>
            <a:pPr marL="457200" indent="-457200">
              <a:buFont typeface="Arial" panose="020B0604020202020204" pitchFamily="34" charset="0"/>
              <a:buChar char="•"/>
            </a:pPr>
            <a:r>
              <a:rPr lang="en-US" sz="3200" dirty="0"/>
              <a:t>Consider you favorite social media platform, how easy would be to switch to a new European version of it?</a:t>
            </a:r>
            <a:r>
              <a:rPr lang="da-DK" sz="3200" dirty="0"/>
              <a:t> </a:t>
            </a:r>
            <a:r>
              <a:rPr lang="da-DK" sz="3200" dirty="0" err="1"/>
              <a:t>Why</a:t>
            </a:r>
            <a:r>
              <a:rPr lang="da-DK" sz="3200" dirty="0"/>
              <a:t>?</a:t>
            </a:r>
            <a:endParaRPr lang="en-US" sz="3200"/>
          </a:p>
        </p:txBody>
      </p:sp>
      <p:sp>
        <p:nvSpPr>
          <p:cNvPr id="5" name="Text Placeholder 4">
            <a:extLst>
              <a:ext uri="{FF2B5EF4-FFF2-40B4-BE49-F238E27FC236}">
                <a16:creationId xmlns:a16="http://schemas.microsoft.com/office/drawing/2014/main" id="{1753DA5F-6C9B-3DAF-CDA7-AECBDD81BF1D}"/>
              </a:ext>
            </a:extLst>
          </p:cNvPr>
          <p:cNvSpPr>
            <a:spLocks noGrp="1"/>
          </p:cNvSpPr>
          <p:nvPr>
            <p:ph type="body" sz="quarter" idx="10"/>
          </p:nvPr>
        </p:nvSpPr>
        <p:spPr/>
        <p:txBody>
          <a:bodyPr/>
          <a:lstStyle/>
          <a:p>
            <a:r>
              <a:rPr lang="en-US" dirty="0"/>
              <a:t>Conversation starter</a:t>
            </a:r>
            <a:endParaRPr lang="da-DK" dirty="0"/>
          </a:p>
        </p:txBody>
      </p:sp>
    </p:spTree>
    <p:extLst>
      <p:ext uri="{BB962C8B-B14F-4D97-AF65-F5344CB8AC3E}">
        <p14:creationId xmlns:p14="http://schemas.microsoft.com/office/powerpoint/2010/main" val="390975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EBDB28B-1846-4A4B-AD04-5A76DED13F85}"/>
              </a:ext>
            </a:extLst>
          </p:cNvPr>
          <p:cNvSpPr>
            <a:spLocks noGrp="1"/>
          </p:cNvSpPr>
          <p:nvPr>
            <p:ph sz="quarter" idx="12"/>
          </p:nvPr>
        </p:nvSpPr>
        <p:spPr/>
        <p:txBody>
          <a:bodyPr>
            <a:normAutofit/>
          </a:bodyPr>
          <a:lstStyle/>
          <a:p>
            <a:pPr marL="342900" marR="0" lvl="0" indent="-342900">
              <a:spcBef>
                <a:spcPts val="0"/>
              </a:spcBef>
              <a:spcAft>
                <a:spcPts val="0"/>
              </a:spcAft>
              <a:buFont typeface="+mj-lt"/>
              <a:buAutoNum type="arabicPeriod"/>
            </a:pPr>
            <a:r>
              <a:rPr lang="en-GB" sz="2400" b="1" dirty="0">
                <a:effectLst/>
                <a:ea typeface="Times New Roman" panose="02020603050405020304" pitchFamily="18" charset="0"/>
              </a:rPr>
              <a:t>How can firms compete in newly vulnerable markets?</a:t>
            </a:r>
            <a:endParaRPr lang="da-DK" sz="2400" b="1" dirty="0">
              <a:effectLst/>
              <a:ea typeface="Times New Roman" panose="02020603050405020304" pitchFamily="18" charset="0"/>
            </a:endParaRPr>
          </a:p>
          <a:p>
            <a:pPr marL="342900" indent="-342900">
              <a:buFont typeface="+mj-lt"/>
              <a:buAutoNum type="arabicPeriod"/>
            </a:pPr>
            <a:r>
              <a:rPr lang="en-US" sz="2400" dirty="0">
                <a:effectLst/>
                <a:ea typeface="Times New Roman" panose="02020603050405020304" pitchFamily="18" charset="0"/>
              </a:rPr>
              <a:t>How can firms manage network effects and </a:t>
            </a:r>
            <a:r>
              <a:rPr lang="en-US" sz="2400" dirty="0"/>
              <a:t>exploit data network effects?</a:t>
            </a:r>
            <a:endParaRPr lang="en-US" sz="2800" dirty="0"/>
          </a:p>
        </p:txBody>
      </p:sp>
      <p:sp>
        <p:nvSpPr>
          <p:cNvPr id="3" name="Textplatzhalter 2">
            <a:extLst>
              <a:ext uri="{FF2B5EF4-FFF2-40B4-BE49-F238E27FC236}">
                <a16:creationId xmlns:a16="http://schemas.microsoft.com/office/drawing/2014/main" id="{9A896656-B20F-4B49-92E1-63C0187B4B74}"/>
              </a:ext>
            </a:extLst>
          </p:cNvPr>
          <p:cNvSpPr>
            <a:spLocks noGrp="1"/>
          </p:cNvSpPr>
          <p:nvPr>
            <p:ph type="body" sz="quarter" idx="10"/>
          </p:nvPr>
        </p:nvSpPr>
        <p:spPr/>
        <p:txBody>
          <a:bodyPr>
            <a:normAutofit/>
          </a:bodyPr>
          <a:lstStyle/>
          <a:p>
            <a:r>
              <a:rPr lang="en-AU" dirty="0"/>
              <a:t>Questions related to learning objectives</a:t>
            </a:r>
          </a:p>
        </p:txBody>
      </p:sp>
    </p:spTree>
    <p:extLst>
      <p:ext uri="{BB962C8B-B14F-4D97-AF65-F5344CB8AC3E}">
        <p14:creationId xmlns:p14="http://schemas.microsoft.com/office/powerpoint/2010/main" val="46423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E90221A-3489-43E6-F9E1-0D5914ABEEC0}"/>
              </a:ext>
            </a:extLst>
          </p:cNvPr>
          <p:cNvSpPr>
            <a:spLocks noGrp="1"/>
          </p:cNvSpPr>
          <p:nvPr>
            <p:ph sz="quarter" idx="12"/>
          </p:nvPr>
        </p:nvSpPr>
        <p:spPr/>
        <p:txBody>
          <a:bodyPr/>
          <a:lstStyle/>
          <a:p>
            <a:pPr>
              <a:defRPr/>
            </a:pPr>
            <a:r>
              <a:rPr lang="en-US" altLang="en-US" sz="2400" dirty="0"/>
              <a:t>	</a:t>
            </a:r>
          </a:p>
          <a:p>
            <a:pPr marL="457200" indent="-457200">
              <a:buFont typeface="+mj-lt"/>
              <a:buAutoNum type="arabicPeriod"/>
              <a:defRPr/>
            </a:pPr>
            <a:r>
              <a:rPr lang="en-US" sz="2400" b="1" dirty="0"/>
              <a:t>Newly easy to enter</a:t>
            </a:r>
          </a:p>
          <a:p>
            <a:pPr marL="457200" indent="-457200">
              <a:buFont typeface="+mj-lt"/>
              <a:buAutoNum type="arabicPeriod"/>
              <a:defRPr/>
            </a:pPr>
            <a:r>
              <a:rPr lang="en-US" sz="2400" b="1" dirty="0"/>
              <a:t>Attractive to attack</a:t>
            </a:r>
          </a:p>
          <a:p>
            <a:pPr marL="1085850" lvl="1" indent="-342900">
              <a:buFont typeface="Arial" panose="020B0604020202020204" pitchFamily="34" charset="0"/>
              <a:buChar char="•"/>
              <a:defRPr/>
            </a:pPr>
            <a:r>
              <a:rPr lang="en-US" sz="2100" dirty="0"/>
              <a:t>opportunistic pickoff of the best customers</a:t>
            </a:r>
          </a:p>
          <a:p>
            <a:pPr>
              <a:defRPr/>
            </a:pPr>
            <a:r>
              <a:rPr lang="en-US" altLang="en-US" sz="2100" b="1" dirty="0"/>
              <a:t>3.</a:t>
            </a:r>
            <a:r>
              <a:rPr lang="en-US" altLang="en-US" sz="2100" dirty="0"/>
              <a:t>   </a:t>
            </a:r>
            <a:r>
              <a:rPr lang="en-US" altLang="en-US" sz="2400" b="1" dirty="0"/>
              <a:t>Difficult to defend</a:t>
            </a:r>
          </a:p>
          <a:p>
            <a:endParaRPr lang="da-DK" dirty="0"/>
          </a:p>
        </p:txBody>
      </p:sp>
      <p:sp>
        <p:nvSpPr>
          <p:cNvPr id="28677" name="Rectangle 5">
            <a:extLst>
              <a:ext uri="{FF2B5EF4-FFF2-40B4-BE49-F238E27FC236}">
                <a16:creationId xmlns:a16="http://schemas.microsoft.com/office/drawing/2014/main" id="{01459B6E-CD26-6F09-5A91-47AFCA924E54}"/>
              </a:ext>
            </a:extLst>
          </p:cNvPr>
          <p:cNvSpPr>
            <a:spLocks noGrp="1" noChangeArrowheads="1"/>
          </p:cNvSpPr>
          <p:nvPr>
            <p:ph type="body" sz="quarter" idx="10"/>
          </p:nvPr>
        </p:nvSpPr>
        <p:spPr/>
        <p:txBody>
          <a:bodyPr>
            <a:normAutofit/>
          </a:bodyPr>
          <a:lstStyle/>
          <a:p>
            <a:pPr>
              <a:defRPr/>
            </a:pPr>
            <a:r>
              <a:rPr lang="en-US" altLang="en-US" sz="3600" dirty="0"/>
              <a:t>Newly Vulnerable Markets</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EBDB28B-1846-4A4B-AD04-5A76DED13F85}"/>
              </a:ext>
            </a:extLst>
          </p:cNvPr>
          <p:cNvSpPr>
            <a:spLocks noGrp="1"/>
          </p:cNvSpPr>
          <p:nvPr>
            <p:ph sz="quarter" idx="12"/>
          </p:nvPr>
        </p:nvSpPr>
        <p:spPr/>
        <p:txBody>
          <a:bodyPr>
            <a:normAutofit/>
          </a:bodyPr>
          <a:lstStyle/>
          <a:p>
            <a:pPr algn="ctr"/>
            <a:endParaRPr lang="en-US" altLang="en-US" sz="3200" dirty="0"/>
          </a:p>
          <a:p>
            <a:pPr algn="ctr"/>
            <a:r>
              <a:rPr lang="en-US" altLang="en-US" sz="3200" dirty="0"/>
              <a:t>Is the Danish newspapers market a newly vulnerable market?</a:t>
            </a:r>
          </a:p>
          <a:p>
            <a:pPr marL="342900" indent="-342900">
              <a:buFont typeface="Arial" panose="020B0604020202020204" pitchFamily="34" charset="0"/>
              <a:buChar char="•"/>
            </a:pPr>
            <a:endParaRPr lang="en-AU" sz="3600" dirty="0"/>
          </a:p>
        </p:txBody>
      </p:sp>
      <p:sp>
        <p:nvSpPr>
          <p:cNvPr id="3" name="Textplatzhalter 2">
            <a:extLst>
              <a:ext uri="{FF2B5EF4-FFF2-40B4-BE49-F238E27FC236}">
                <a16:creationId xmlns:a16="http://schemas.microsoft.com/office/drawing/2014/main" id="{9A896656-B20F-4B49-92E1-63C0187B4B74}"/>
              </a:ext>
            </a:extLst>
          </p:cNvPr>
          <p:cNvSpPr>
            <a:spLocks noGrp="1"/>
          </p:cNvSpPr>
          <p:nvPr>
            <p:ph type="body" sz="quarter" idx="10"/>
          </p:nvPr>
        </p:nvSpPr>
        <p:spPr/>
        <p:txBody>
          <a:bodyPr>
            <a:normAutofit/>
          </a:bodyPr>
          <a:lstStyle/>
          <a:p>
            <a:r>
              <a:rPr lang="en-AU" dirty="0"/>
              <a:t>OPEN FORUM</a:t>
            </a:r>
          </a:p>
        </p:txBody>
      </p:sp>
    </p:spTree>
    <p:extLst>
      <p:ext uri="{BB962C8B-B14F-4D97-AF65-F5344CB8AC3E}">
        <p14:creationId xmlns:p14="http://schemas.microsoft.com/office/powerpoint/2010/main" val="1153247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EBDB28B-1846-4A4B-AD04-5A76DED13F85}"/>
              </a:ext>
            </a:extLst>
          </p:cNvPr>
          <p:cNvSpPr>
            <a:spLocks noGrp="1"/>
          </p:cNvSpPr>
          <p:nvPr>
            <p:ph sz="quarter" idx="12"/>
          </p:nvPr>
        </p:nvSpPr>
        <p:spPr/>
        <p:txBody>
          <a:bodyPr>
            <a:normAutofit/>
          </a:bodyPr>
          <a:lstStyle/>
          <a:p>
            <a:pPr marL="342900" marR="0" lvl="0" indent="-342900">
              <a:spcBef>
                <a:spcPts val="0"/>
              </a:spcBef>
              <a:spcAft>
                <a:spcPts val="0"/>
              </a:spcAft>
              <a:buFont typeface="+mj-lt"/>
              <a:buAutoNum type="arabicPeriod"/>
            </a:pPr>
            <a:r>
              <a:rPr lang="en-GB" sz="2400" dirty="0">
                <a:effectLst/>
                <a:ea typeface="Times New Roman" panose="02020603050405020304" pitchFamily="18" charset="0"/>
              </a:rPr>
              <a:t>How can firms compete in newly vulnerable markets?</a:t>
            </a:r>
            <a:endParaRPr lang="da-DK" sz="2400" dirty="0">
              <a:effectLst/>
              <a:ea typeface="Times New Roman" panose="02020603050405020304" pitchFamily="18" charset="0"/>
            </a:endParaRPr>
          </a:p>
          <a:p>
            <a:pPr marL="342900" indent="-342900">
              <a:buFont typeface="+mj-lt"/>
              <a:buAutoNum type="arabicPeriod"/>
            </a:pPr>
            <a:r>
              <a:rPr lang="en-US" sz="2400" b="1" dirty="0">
                <a:effectLst/>
                <a:ea typeface="Times New Roman" panose="02020603050405020304" pitchFamily="18" charset="0"/>
              </a:rPr>
              <a:t>How can firms manage network effects and </a:t>
            </a:r>
            <a:r>
              <a:rPr lang="en-US" sz="2400" b="1" dirty="0"/>
              <a:t>exploit data network effects?</a:t>
            </a:r>
            <a:endParaRPr lang="en-US" sz="2800" b="1" dirty="0"/>
          </a:p>
        </p:txBody>
      </p:sp>
      <p:sp>
        <p:nvSpPr>
          <p:cNvPr id="3" name="Textplatzhalter 2">
            <a:extLst>
              <a:ext uri="{FF2B5EF4-FFF2-40B4-BE49-F238E27FC236}">
                <a16:creationId xmlns:a16="http://schemas.microsoft.com/office/drawing/2014/main" id="{9A896656-B20F-4B49-92E1-63C0187B4B74}"/>
              </a:ext>
            </a:extLst>
          </p:cNvPr>
          <p:cNvSpPr>
            <a:spLocks noGrp="1"/>
          </p:cNvSpPr>
          <p:nvPr>
            <p:ph type="body" sz="quarter" idx="10"/>
          </p:nvPr>
        </p:nvSpPr>
        <p:spPr/>
        <p:txBody>
          <a:bodyPr>
            <a:normAutofit/>
          </a:bodyPr>
          <a:lstStyle/>
          <a:p>
            <a:r>
              <a:rPr lang="en-AU" dirty="0"/>
              <a:t>Questions related to learning objectives</a:t>
            </a:r>
          </a:p>
        </p:txBody>
      </p:sp>
    </p:spTree>
    <p:extLst>
      <p:ext uri="{BB962C8B-B14F-4D97-AF65-F5344CB8AC3E}">
        <p14:creationId xmlns:p14="http://schemas.microsoft.com/office/powerpoint/2010/main" val="1991246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02724D-D535-DBC6-F6CA-57213F95C8B4}"/>
              </a:ext>
            </a:extLst>
          </p:cNvPr>
          <p:cNvSpPr>
            <a:spLocks noGrp="1"/>
          </p:cNvSpPr>
          <p:nvPr>
            <p:ph type="body" sz="quarter" idx="10"/>
          </p:nvPr>
        </p:nvSpPr>
        <p:spPr/>
        <p:txBody>
          <a:bodyPr>
            <a:normAutofit/>
          </a:bodyPr>
          <a:lstStyle/>
          <a:p>
            <a:r>
              <a:rPr lang="en-US" altLang="sv-SE" sz="2800" dirty="0"/>
              <a:t>Network Effects</a:t>
            </a:r>
            <a:endParaRPr lang="da-DK" dirty="0"/>
          </a:p>
        </p:txBody>
      </p:sp>
      <p:sp>
        <p:nvSpPr>
          <p:cNvPr id="14" name="Oval 13">
            <a:extLst>
              <a:ext uri="{FF2B5EF4-FFF2-40B4-BE49-F238E27FC236}">
                <a16:creationId xmlns:a16="http://schemas.microsoft.com/office/drawing/2014/main" id="{E5A1D38E-0A73-B035-0E62-C2716CF101DC}"/>
              </a:ext>
            </a:extLst>
          </p:cNvPr>
          <p:cNvSpPr/>
          <p:nvPr/>
        </p:nvSpPr>
        <p:spPr>
          <a:xfrm>
            <a:off x="3323035" y="1944291"/>
            <a:ext cx="632222" cy="842963"/>
          </a:xfrm>
          <a:prstGeom prst="ellipse">
            <a:avLst/>
          </a:prstGeom>
          <a:solidFill>
            <a:srgbClr val="0092D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6149" name="Rectangle 14">
            <a:extLst>
              <a:ext uri="{FF2B5EF4-FFF2-40B4-BE49-F238E27FC236}">
                <a16:creationId xmlns:a16="http://schemas.microsoft.com/office/drawing/2014/main" id="{B0EE71E5-009D-A458-FCF9-DF6D01A83036}"/>
              </a:ext>
            </a:extLst>
          </p:cNvPr>
          <p:cNvSpPr>
            <a:spLocks noChangeArrowheads="1"/>
          </p:cNvSpPr>
          <p:nvPr/>
        </p:nvSpPr>
        <p:spPr bwMode="auto">
          <a:xfrm>
            <a:off x="3397641" y="2147887"/>
            <a:ext cx="502061" cy="38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Side</a:t>
            </a:r>
          </a:p>
          <a:p>
            <a:pPr algn="ctr">
              <a:lnSpc>
                <a:spcPct val="70000"/>
              </a:lnSpc>
              <a:spcBef>
                <a:spcPct val="0"/>
              </a:spcBef>
            </a:pPr>
            <a:r>
              <a:rPr lang="en-US" altLang="sv-SE" sz="1350" b="1">
                <a:solidFill>
                  <a:srgbClr val="000000"/>
                </a:solidFill>
                <a:latin typeface="Times New Roman" panose="02020603050405020304" pitchFamily="18" charset="0"/>
              </a:rPr>
              <a:t>2</a:t>
            </a:r>
          </a:p>
        </p:txBody>
      </p:sp>
      <p:sp>
        <p:nvSpPr>
          <p:cNvPr id="16" name="Oval 15">
            <a:extLst>
              <a:ext uri="{FF2B5EF4-FFF2-40B4-BE49-F238E27FC236}">
                <a16:creationId xmlns:a16="http://schemas.microsoft.com/office/drawing/2014/main" id="{998F8A21-F613-DE04-ED10-EA8E0A018AA7}"/>
              </a:ext>
            </a:extLst>
          </p:cNvPr>
          <p:cNvSpPr/>
          <p:nvPr/>
        </p:nvSpPr>
        <p:spPr>
          <a:xfrm>
            <a:off x="2240757" y="1944291"/>
            <a:ext cx="632222" cy="842963"/>
          </a:xfrm>
          <a:prstGeom prst="ellipse">
            <a:avLst/>
          </a:prstGeom>
          <a:solidFill>
            <a:srgbClr val="F2DE3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6151" name="Rectangle 16">
            <a:extLst>
              <a:ext uri="{FF2B5EF4-FFF2-40B4-BE49-F238E27FC236}">
                <a16:creationId xmlns:a16="http://schemas.microsoft.com/office/drawing/2014/main" id="{DD75B4AA-C415-4D88-1AD5-EF3B292988B3}"/>
              </a:ext>
            </a:extLst>
          </p:cNvPr>
          <p:cNvSpPr>
            <a:spLocks noChangeArrowheads="1"/>
          </p:cNvSpPr>
          <p:nvPr/>
        </p:nvSpPr>
        <p:spPr bwMode="auto">
          <a:xfrm>
            <a:off x="2314767" y="2147887"/>
            <a:ext cx="502061" cy="38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Side</a:t>
            </a:r>
          </a:p>
          <a:p>
            <a:pPr algn="ctr">
              <a:lnSpc>
                <a:spcPct val="70000"/>
              </a:lnSpc>
              <a:spcBef>
                <a:spcPct val="0"/>
              </a:spcBef>
            </a:pPr>
            <a:r>
              <a:rPr lang="en-US" altLang="sv-SE" sz="1350" b="1">
                <a:solidFill>
                  <a:srgbClr val="000000"/>
                </a:solidFill>
                <a:latin typeface="Times New Roman" panose="02020603050405020304" pitchFamily="18" charset="0"/>
              </a:rPr>
              <a:t>1</a:t>
            </a:r>
          </a:p>
        </p:txBody>
      </p:sp>
      <p:sp>
        <p:nvSpPr>
          <p:cNvPr id="19" name="Rounded Rectangle 18">
            <a:extLst>
              <a:ext uri="{FF2B5EF4-FFF2-40B4-BE49-F238E27FC236}">
                <a16:creationId xmlns:a16="http://schemas.microsoft.com/office/drawing/2014/main" id="{CA1A1C9B-9DD0-5550-F418-2EEBB8D10DDD}"/>
              </a:ext>
            </a:extLst>
          </p:cNvPr>
          <p:cNvSpPr/>
          <p:nvPr/>
        </p:nvSpPr>
        <p:spPr>
          <a:xfrm>
            <a:off x="2233613" y="3546872"/>
            <a:ext cx="1769269" cy="598884"/>
          </a:xfrm>
          <a:prstGeom prst="round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6153" name="Rectangle 32">
            <a:extLst>
              <a:ext uri="{FF2B5EF4-FFF2-40B4-BE49-F238E27FC236}">
                <a16:creationId xmlns:a16="http://schemas.microsoft.com/office/drawing/2014/main" id="{9F6CCE3C-D3EB-6690-AB00-E3B816B024A8}"/>
              </a:ext>
            </a:extLst>
          </p:cNvPr>
          <p:cNvSpPr>
            <a:spLocks noChangeArrowheads="1"/>
          </p:cNvSpPr>
          <p:nvPr/>
        </p:nvSpPr>
        <p:spPr bwMode="auto">
          <a:xfrm>
            <a:off x="2542356" y="3686175"/>
            <a:ext cx="1162498" cy="24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PLATFORM</a:t>
            </a:r>
          </a:p>
        </p:txBody>
      </p:sp>
      <p:sp>
        <p:nvSpPr>
          <p:cNvPr id="6154" name="Rectangle 3">
            <a:extLst>
              <a:ext uri="{FF2B5EF4-FFF2-40B4-BE49-F238E27FC236}">
                <a16:creationId xmlns:a16="http://schemas.microsoft.com/office/drawing/2014/main" id="{A741C10C-3AD1-5A78-0D6F-ABA3F669DE44}"/>
              </a:ext>
            </a:extLst>
          </p:cNvPr>
          <p:cNvSpPr txBox="1">
            <a:spLocks noChangeArrowheads="1"/>
          </p:cNvSpPr>
          <p:nvPr/>
        </p:nvSpPr>
        <p:spPr bwMode="auto">
          <a:xfrm>
            <a:off x="4784095" y="1781166"/>
            <a:ext cx="309681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ct val="20000"/>
              </a:spcBef>
              <a:defRPr>
                <a:solidFill>
                  <a:schemeClr val="tx1"/>
                </a:solidFill>
                <a:latin typeface="Arial" panose="020B0604020202020204" pitchFamily="34" charset="0"/>
              </a:defRPr>
            </a:lvl1pPr>
            <a:lvl2pPr marL="742950" indent="-285750" defTabSz="457200">
              <a:spcBef>
                <a:spcPct val="20000"/>
              </a:spcBef>
              <a:defRPr>
                <a:solidFill>
                  <a:schemeClr val="tx1"/>
                </a:solidFill>
                <a:latin typeface="Arial" panose="020B0604020202020204" pitchFamily="34" charset="0"/>
              </a:defRPr>
            </a:lvl2pPr>
            <a:lvl3pPr marL="1143000" indent="-228600" defTabSz="457200">
              <a:spcBef>
                <a:spcPct val="20000"/>
              </a:spcBef>
              <a:defRPr>
                <a:solidFill>
                  <a:schemeClr val="tx1"/>
                </a:solidFill>
                <a:latin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defRPr>
            </a:lvl9pPr>
          </a:lstStyle>
          <a:p>
            <a:pPr eaLnBrk="1" hangingPunct="1">
              <a:lnSpc>
                <a:spcPct val="90000"/>
              </a:lnSpc>
              <a:buFontTx/>
              <a:buChar char="•"/>
            </a:pPr>
            <a:r>
              <a:rPr lang="en-US" altLang="sv-SE" sz="1350" dirty="0">
                <a:ea typeface="ＭＳ Ｐゴシック" panose="020B0600070205080204" pitchFamily="34" charset="-128"/>
              </a:rPr>
              <a:t> A</a:t>
            </a:r>
            <a:r>
              <a:rPr lang="en-US" altLang="sv-SE" sz="1350" b="1" i="1" dirty="0">
                <a:ea typeface="ＭＳ Ｐゴシック" panose="020B0600070205080204" pitchFamily="34" charset="-128"/>
              </a:rPr>
              <a:t> </a:t>
            </a:r>
            <a:r>
              <a:rPr lang="en-US" altLang="sv-SE" sz="1350" b="1" i="1" dirty="0">
                <a:solidFill>
                  <a:srgbClr val="008000"/>
                </a:solidFill>
                <a:ea typeface="ＭＳ Ｐゴシック" panose="020B0600070205080204" pitchFamily="34" charset="-128"/>
              </a:rPr>
              <a:t>same-side</a:t>
            </a:r>
            <a:r>
              <a:rPr lang="en-US" altLang="sv-SE" sz="1350" dirty="0">
                <a:solidFill>
                  <a:srgbClr val="008000"/>
                </a:solidFill>
                <a:ea typeface="ＭＳ Ｐゴシック" panose="020B0600070205080204" pitchFamily="34" charset="-128"/>
              </a:rPr>
              <a:t> </a:t>
            </a:r>
            <a:r>
              <a:rPr lang="en-US" altLang="sv-SE" sz="1350" dirty="0">
                <a:ea typeface="ＭＳ Ｐゴシック" panose="020B0600070205080204" pitchFamily="34" charset="-128"/>
              </a:rPr>
              <a:t>effect for each side, i.e., preference regarding number of other users on </a:t>
            </a:r>
            <a:r>
              <a:rPr lang="en-US" altLang="sv-SE" sz="1350" i="1" dirty="0">
                <a:ea typeface="ＭＳ Ｐゴシック" panose="020B0600070205080204" pitchFamily="34" charset="-128"/>
              </a:rPr>
              <a:t>own</a:t>
            </a:r>
            <a:r>
              <a:rPr lang="en-US" altLang="sv-SE" sz="1350" dirty="0">
                <a:ea typeface="ＭＳ Ｐゴシック" panose="020B0600070205080204" pitchFamily="34" charset="-128"/>
              </a:rPr>
              <a:t> side</a:t>
            </a:r>
          </a:p>
          <a:p>
            <a:pPr eaLnBrk="1" hangingPunct="1">
              <a:lnSpc>
                <a:spcPct val="90000"/>
              </a:lnSpc>
              <a:buFontTx/>
              <a:buChar char="•"/>
            </a:pPr>
            <a:r>
              <a:rPr lang="en-US" altLang="sv-SE" sz="1350" dirty="0">
                <a:ea typeface="ＭＳ Ｐゴシック" panose="020B0600070205080204" pitchFamily="34" charset="-128"/>
              </a:rPr>
              <a:t> A</a:t>
            </a:r>
            <a:r>
              <a:rPr lang="en-US" altLang="sv-SE" sz="1350" b="1" i="1" dirty="0">
                <a:ea typeface="ＭＳ Ｐゴシック" panose="020B0600070205080204" pitchFamily="34" charset="-128"/>
              </a:rPr>
              <a:t> </a:t>
            </a:r>
            <a:r>
              <a:rPr lang="en-US" altLang="sv-SE" sz="1350" b="1" i="1" dirty="0">
                <a:solidFill>
                  <a:srgbClr val="FF0000"/>
                </a:solidFill>
                <a:ea typeface="ＭＳ Ｐゴシック" panose="020B0600070205080204" pitchFamily="34" charset="-128"/>
              </a:rPr>
              <a:t>cross-side</a:t>
            </a:r>
            <a:r>
              <a:rPr lang="en-US" altLang="sv-SE" sz="1350" dirty="0">
                <a:solidFill>
                  <a:srgbClr val="FF0000"/>
                </a:solidFill>
                <a:ea typeface="ＭＳ Ｐゴシック" panose="020B0600070205080204" pitchFamily="34" charset="-128"/>
              </a:rPr>
              <a:t> </a:t>
            </a:r>
            <a:r>
              <a:rPr lang="en-US" altLang="sv-SE" sz="1350" dirty="0">
                <a:ea typeface="ＭＳ Ｐゴシック" panose="020B0600070205080204" pitchFamily="34" charset="-128"/>
              </a:rPr>
              <a:t>effect in each direction, i.e., preference regarding number of users on </a:t>
            </a:r>
            <a:r>
              <a:rPr lang="en-US" altLang="sv-SE" sz="1350" i="1" dirty="0">
                <a:ea typeface="ＭＳ Ｐゴシック" panose="020B0600070205080204" pitchFamily="34" charset="-128"/>
              </a:rPr>
              <a:t>other</a:t>
            </a:r>
            <a:r>
              <a:rPr lang="en-US" altLang="sv-SE" sz="1350" dirty="0">
                <a:ea typeface="ＭＳ Ｐゴシック" panose="020B0600070205080204" pitchFamily="34" charset="-128"/>
              </a:rPr>
              <a:t> side</a:t>
            </a:r>
          </a:p>
          <a:p>
            <a:pPr eaLnBrk="1" hangingPunct="1">
              <a:lnSpc>
                <a:spcPct val="90000"/>
              </a:lnSpc>
            </a:pPr>
            <a:endParaRPr lang="en-US" altLang="sv-SE" sz="1350" dirty="0">
              <a:ea typeface="ＭＳ Ｐゴシック" panose="020B0600070205080204" pitchFamily="34" charset="-128"/>
            </a:endParaRPr>
          </a:p>
        </p:txBody>
      </p:sp>
      <p:grpSp>
        <p:nvGrpSpPr>
          <p:cNvPr id="6155" name="Group 27">
            <a:extLst>
              <a:ext uri="{FF2B5EF4-FFF2-40B4-BE49-F238E27FC236}">
                <a16:creationId xmlns:a16="http://schemas.microsoft.com/office/drawing/2014/main" id="{51266A2A-2CA6-D6A1-8C54-C679CFA07A1C}"/>
              </a:ext>
            </a:extLst>
          </p:cNvPr>
          <p:cNvGrpSpPr>
            <a:grpSpLocks/>
          </p:cNvGrpSpPr>
          <p:nvPr/>
        </p:nvGrpSpPr>
        <p:grpSpPr bwMode="auto">
          <a:xfrm>
            <a:off x="8001000" y="1265635"/>
            <a:ext cx="2961085" cy="2118122"/>
            <a:chOff x="629454" y="1265284"/>
            <a:chExt cx="3948256" cy="2118278"/>
          </a:xfrm>
        </p:grpSpPr>
        <p:pic>
          <p:nvPicPr>
            <p:cNvPr id="6164" name="Picture 33" descr="element 2-05.png">
              <a:extLst>
                <a:ext uri="{FF2B5EF4-FFF2-40B4-BE49-F238E27FC236}">
                  <a16:creationId xmlns:a16="http://schemas.microsoft.com/office/drawing/2014/main" id="{E697BB52-CF3A-311B-0FC9-5FD41A822672}"/>
                </a:ext>
              </a:extLst>
            </p:cNvPr>
            <p:cNvPicPr>
              <a:picLocks noChangeAspect="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629454" y="1782106"/>
              <a:ext cx="857258" cy="98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5" name="Picture 35" descr="element 2-05.png">
              <a:extLst>
                <a:ext uri="{FF2B5EF4-FFF2-40B4-BE49-F238E27FC236}">
                  <a16:creationId xmlns:a16="http://schemas.microsoft.com/office/drawing/2014/main" id="{52460889-8ADD-5DE3-DBA3-5CEF8FEE9474}"/>
                </a:ext>
              </a:extLst>
            </p:cNvPr>
            <p:cNvPicPr>
              <a:picLocks noChangeAspect="1"/>
            </p:cNvPicPr>
            <p:nvPr/>
          </p:nvPicPr>
          <p:blipFill>
            <a:blip r:embed="rId2" cstate="screen">
              <a:extLst>
                <a:ext uri="{28A0092B-C50C-407E-A947-70E740481C1C}">
                  <a14:useLocalDpi xmlns:a14="http://schemas.microsoft.com/office/drawing/2010/main" val="0"/>
                </a:ext>
              </a:extLst>
            </a:blip>
            <a:srcRect/>
            <a:stretch>
              <a:fillRect/>
            </a:stretch>
          </p:blipFill>
          <p:spPr bwMode="auto">
            <a:xfrm flipH="1">
              <a:off x="3711455" y="1782106"/>
              <a:ext cx="866255" cy="98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6" name="Picture 36" descr="element 2-06.png">
              <a:extLst>
                <a:ext uri="{FF2B5EF4-FFF2-40B4-BE49-F238E27FC236}">
                  <a16:creationId xmlns:a16="http://schemas.microsoft.com/office/drawing/2014/main" id="{82F82FE1-1C5F-2864-27ED-1AB64D21A3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0056" y="1265284"/>
              <a:ext cx="1368902" cy="73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7" name="Picture 37" descr="element 2-06.png">
              <a:extLst>
                <a:ext uri="{FF2B5EF4-FFF2-40B4-BE49-F238E27FC236}">
                  <a16:creationId xmlns:a16="http://schemas.microsoft.com/office/drawing/2014/main" id="{3BCA1C64-023F-6753-748E-88514F7360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1958790" y="2653008"/>
              <a:ext cx="1368902" cy="73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156" name="Picture 41" descr="element 25-05.png">
            <a:extLst>
              <a:ext uri="{FF2B5EF4-FFF2-40B4-BE49-F238E27FC236}">
                <a16:creationId xmlns:a16="http://schemas.microsoft.com/office/drawing/2014/main" id="{03AF38C6-77D7-2264-B6D1-9B495881C869}"/>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1512094" y="2076450"/>
            <a:ext cx="634604" cy="710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7" name="Picture 7" descr="element 26-05.png">
            <a:extLst>
              <a:ext uri="{FF2B5EF4-FFF2-40B4-BE49-F238E27FC236}">
                <a16:creationId xmlns:a16="http://schemas.microsoft.com/office/drawing/2014/main" id="{A7723D33-C838-7275-1EFA-ADF2929D6AFB}"/>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3955257" y="2118122"/>
            <a:ext cx="645319" cy="65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8" name="Picture 23" descr="element 27-06.png">
            <a:extLst>
              <a:ext uri="{FF2B5EF4-FFF2-40B4-BE49-F238E27FC236}">
                <a16:creationId xmlns:a16="http://schemas.microsoft.com/office/drawing/2014/main" id="{04FB6AC4-CA2F-9E91-C6F5-050F628EE71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582466" y="1265635"/>
            <a:ext cx="1026319" cy="729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Picture 25" descr="element 27-06.png">
            <a:extLst>
              <a:ext uri="{FF2B5EF4-FFF2-40B4-BE49-F238E27FC236}">
                <a16:creationId xmlns:a16="http://schemas.microsoft.com/office/drawing/2014/main" id="{FC663E93-11D7-D11A-D75E-5878409CB70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618185" y="2687241"/>
            <a:ext cx="1026319" cy="729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0" name="TextBox 38">
            <a:extLst>
              <a:ext uri="{FF2B5EF4-FFF2-40B4-BE49-F238E27FC236}">
                <a16:creationId xmlns:a16="http://schemas.microsoft.com/office/drawing/2014/main" id="{889EF3FF-4E5E-AA2B-9BE2-2E224026953B}"/>
              </a:ext>
            </a:extLst>
          </p:cNvPr>
          <p:cNvSpPr txBox="1">
            <a:spLocks noChangeArrowheads="1"/>
          </p:cNvSpPr>
          <p:nvPr/>
        </p:nvSpPr>
        <p:spPr bwMode="auto">
          <a:xfrm>
            <a:off x="6047185" y="4299348"/>
            <a:ext cx="1953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sv-SE" sz="600">
                <a:latin typeface="Times New Roman" panose="02020603050405020304" pitchFamily="18" charset="0"/>
              </a:rPr>
              <a:t>Source: Eisenmann, Parker, Van Alstyne, 2006. “Strategies for Two Sided Markets.” </a:t>
            </a:r>
            <a:r>
              <a:rPr lang="en-US" altLang="sv-SE" sz="600" i="1">
                <a:latin typeface="Times New Roman" panose="02020603050405020304" pitchFamily="18" charset="0"/>
              </a:rPr>
              <a:t>Harvard Business Review</a:t>
            </a:r>
            <a:r>
              <a:rPr lang="en-US" altLang="sv-SE" sz="600">
                <a:latin typeface="Times New Roman" panose="02020603050405020304" pitchFamily="18" charset="0"/>
              </a:rPr>
              <a:t>.</a:t>
            </a:r>
          </a:p>
        </p:txBody>
      </p:sp>
      <p:grpSp>
        <p:nvGrpSpPr>
          <p:cNvPr id="6161" name="Group 24">
            <a:extLst>
              <a:ext uri="{FF2B5EF4-FFF2-40B4-BE49-F238E27FC236}">
                <a16:creationId xmlns:a16="http://schemas.microsoft.com/office/drawing/2014/main" id="{493A2484-A744-B075-A2D6-82D98A73A570}"/>
              </a:ext>
            </a:extLst>
          </p:cNvPr>
          <p:cNvGrpSpPr>
            <a:grpSpLocks/>
          </p:cNvGrpSpPr>
          <p:nvPr/>
        </p:nvGrpSpPr>
        <p:grpSpPr bwMode="auto">
          <a:xfrm>
            <a:off x="3158729" y="4810117"/>
            <a:ext cx="2331244" cy="190309"/>
            <a:chOff x="827584" y="6412784"/>
            <a:chExt cx="3108164" cy="255153"/>
          </a:xfrm>
        </p:grpSpPr>
        <p:pic>
          <p:nvPicPr>
            <p:cNvPr id="6162" name="Picture 2" descr="CC-BY-SA icon">
              <a:extLst>
                <a:ext uri="{FF2B5EF4-FFF2-40B4-BE49-F238E27FC236}">
                  <a16:creationId xmlns:a16="http://schemas.microsoft.com/office/drawing/2014/main" id="{2455439C-AE81-5E32-0180-866D749E5E6D}"/>
                </a:ext>
              </a:extLst>
            </p:cNvPr>
            <p:cNvPicPr>
              <a:picLocks noChangeAspect="1" noChangeArrowheads="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827584" y="6453336"/>
              <a:ext cx="409855" cy="19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3" name="TextBox 1">
              <a:extLst>
                <a:ext uri="{FF2B5EF4-FFF2-40B4-BE49-F238E27FC236}">
                  <a16:creationId xmlns:a16="http://schemas.microsoft.com/office/drawing/2014/main" id="{5F1F2D7E-23C2-9D05-45CF-7C2602198D18}"/>
                </a:ext>
              </a:extLst>
            </p:cNvPr>
            <p:cNvSpPr txBox="1">
              <a:spLocks noChangeArrowheads="1"/>
            </p:cNvSpPr>
            <p:nvPr/>
          </p:nvSpPr>
          <p:spPr bwMode="auto">
            <a:xfrm>
              <a:off x="1251527" y="6412784"/>
              <a:ext cx="2684221" cy="25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eaLnBrk="1" hangingPunct="1">
                <a:lnSpc>
                  <a:spcPct val="70000"/>
                </a:lnSpc>
                <a:spcBef>
                  <a:spcPct val="0"/>
                </a:spcBef>
              </a:pPr>
              <a:r>
                <a:rPr lang="de-DE" altLang="en-US" sz="450">
                  <a:ea typeface="ＭＳ Ｐゴシック" panose="020B0600070205080204" pitchFamily="34" charset="-128"/>
                </a:rPr>
                <a:t> 2016  </a:t>
              </a:r>
              <a:r>
                <a:rPr lang="en-US" altLang="en-US" sz="450">
                  <a:ea typeface="ＭＳ Ｐゴシック" panose="020B0600070205080204" pitchFamily="34" charset="-128"/>
                </a:rPr>
                <a:t>Parker &amp; Van Alstyne, with Choudary – licensed under Creative Commons Attribution-ShareAlike 4.0 International (CC BY-SA 4.0).</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2F92371-6A24-73C9-9A33-8CD913983835}"/>
              </a:ext>
            </a:extLst>
          </p:cNvPr>
          <p:cNvGrpSpPr>
            <a:grpSpLocks/>
          </p:cNvGrpSpPr>
          <p:nvPr/>
        </p:nvGrpSpPr>
        <p:grpSpPr bwMode="auto">
          <a:xfrm>
            <a:off x="1756173" y="1596629"/>
            <a:ext cx="2945606" cy="1955006"/>
            <a:chOff x="741195" y="1689460"/>
            <a:chExt cx="3927669" cy="1955240"/>
          </a:xfrm>
        </p:grpSpPr>
        <p:pic>
          <p:nvPicPr>
            <p:cNvPr id="8215" name="Picture 29" descr="element 2555-05.png">
              <a:extLst>
                <a:ext uri="{FF2B5EF4-FFF2-40B4-BE49-F238E27FC236}">
                  <a16:creationId xmlns:a16="http://schemas.microsoft.com/office/drawing/2014/main" id="{0AA12EEB-221E-ED6D-A43E-E5DE4FC6EEEA}"/>
                </a:ext>
              </a:extLst>
            </p:cNvPr>
            <p:cNvPicPr>
              <a:picLocks noChangeAspect="1"/>
            </p:cNvPicPr>
            <p:nvPr/>
          </p:nvPicPr>
          <p:blipFill>
            <a:blip r:embed="rId2" cstate="screen">
              <a:extLst>
                <a:ext uri="{28A0092B-C50C-407E-A947-70E740481C1C}">
                  <a14:useLocalDpi xmlns:a14="http://schemas.microsoft.com/office/drawing/2010/main" val="0"/>
                </a:ext>
              </a:extLst>
            </a:blip>
            <a:srcRect/>
            <a:stretch>
              <a:fillRect/>
            </a:stretch>
          </p:blipFill>
          <p:spPr bwMode="auto">
            <a:xfrm flipV="1">
              <a:off x="741195" y="2440247"/>
              <a:ext cx="847792" cy="665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6" name="Picture 20" descr="element 2-06.png">
              <a:extLst>
                <a:ext uri="{FF2B5EF4-FFF2-40B4-BE49-F238E27FC236}">
                  <a16:creationId xmlns:a16="http://schemas.microsoft.com/office/drawing/2014/main" id="{CD9A026B-7213-52DD-111C-3C065692E75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flipH="1">
              <a:off x="2091577" y="1689460"/>
              <a:ext cx="1200713" cy="640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7" name="Picture 21" descr="element 2-06.png">
              <a:extLst>
                <a:ext uri="{FF2B5EF4-FFF2-40B4-BE49-F238E27FC236}">
                  <a16:creationId xmlns:a16="http://schemas.microsoft.com/office/drawing/2014/main" id="{74CC5778-6F17-C7CA-E3F1-168741F5BA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a:off x="2047733" y="3011851"/>
              <a:ext cx="1185824" cy="632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8" name="Picture 30" descr="element 2555-05.png">
              <a:extLst>
                <a:ext uri="{FF2B5EF4-FFF2-40B4-BE49-F238E27FC236}">
                  <a16:creationId xmlns:a16="http://schemas.microsoft.com/office/drawing/2014/main" id="{8EF055B9-F0FC-F746-5218-46E2DF5A264F}"/>
                </a:ext>
              </a:extLst>
            </p:cNvPr>
            <p:cNvPicPr>
              <a:picLocks noChangeAspect="1"/>
            </p:cNvPicPr>
            <p:nvPr/>
          </p:nvPicPr>
          <p:blipFill>
            <a:blip r:embed="rId2" cstate="screen">
              <a:extLst>
                <a:ext uri="{28A0092B-C50C-407E-A947-70E740481C1C}">
                  <a14:useLocalDpi xmlns:a14="http://schemas.microsoft.com/office/drawing/2010/main" val="0"/>
                </a:ext>
              </a:extLst>
            </a:blip>
            <a:srcRect/>
            <a:stretch>
              <a:fillRect/>
            </a:stretch>
          </p:blipFill>
          <p:spPr bwMode="auto">
            <a:xfrm flipH="1" flipV="1">
              <a:off x="3821072" y="2440247"/>
              <a:ext cx="847792" cy="665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 name="Group 14">
            <a:extLst>
              <a:ext uri="{FF2B5EF4-FFF2-40B4-BE49-F238E27FC236}">
                <a16:creationId xmlns:a16="http://schemas.microsoft.com/office/drawing/2014/main" id="{77353026-545B-D1F5-B2FE-666717D4848E}"/>
              </a:ext>
            </a:extLst>
          </p:cNvPr>
          <p:cNvGrpSpPr>
            <a:grpSpLocks/>
          </p:cNvGrpSpPr>
          <p:nvPr/>
        </p:nvGrpSpPr>
        <p:grpSpPr bwMode="auto">
          <a:xfrm>
            <a:off x="1699022" y="1553766"/>
            <a:ext cx="2961084" cy="1950244"/>
            <a:chOff x="741195" y="1553989"/>
            <a:chExt cx="3948256" cy="1950237"/>
          </a:xfrm>
        </p:grpSpPr>
        <p:pic>
          <p:nvPicPr>
            <p:cNvPr id="8211" name="Picture 12" descr="element 2-05.png">
              <a:extLst>
                <a:ext uri="{FF2B5EF4-FFF2-40B4-BE49-F238E27FC236}">
                  <a16:creationId xmlns:a16="http://schemas.microsoft.com/office/drawing/2014/main" id="{482EBB91-182C-9A3F-F46C-856FF32A104F}"/>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flipH="1">
              <a:off x="3823196" y="1989194"/>
              <a:ext cx="866255" cy="98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2" name="Picture 24" descr="element 233-03-06.png">
              <a:extLst>
                <a:ext uri="{FF2B5EF4-FFF2-40B4-BE49-F238E27FC236}">
                  <a16:creationId xmlns:a16="http://schemas.microsoft.com/office/drawing/2014/main" id="{ED5C6440-22F6-8FA8-0743-27A90630BCBE}"/>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rot="10800000">
              <a:off x="2104560" y="2876380"/>
              <a:ext cx="1176450" cy="62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3" name="Picture 11" descr="element 2-05.png">
              <a:extLst>
                <a:ext uri="{FF2B5EF4-FFF2-40B4-BE49-F238E27FC236}">
                  <a16:creationId xmlns:a16="http://schemas.microsoft.com/office/drawing/2014/main" id="{5863A312-A75A-EE84-DFD1-E4B4FAF0AD0E}"/>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741195" y="1989194"/>
              <a:ext cx="857258" cy="98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4" name="Picture 2" descr="element 233-03-06.png">
              <a:extLst>
                <a:ext uri="{FF2B5EF4-FFF2-40B4-BE49-F238E27FC236}">
                  <a16:creationId xmlns:a16="http://schemas.microsoft.com/office/drawing/2014/main" id="{F0B01ED9-FC10-AEF4-BFF4-AA7F3967B1AD}"/>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2057491" y="1553989"/>
              <a:ext cx="1176450" cy="62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Title 1">
            <a:extLst>
              <a:ext uri="{FF2B5EF4-FFF2-40B4-BE49-F238E27FC236}">
                <a16:creationId xmlns:a16="http://schemas.microsoft.com/office/drawing/2014/main" id="{54ADC68B-F1FA-4DAB-8C15-571853F06809}"/>
              </a:ext>
            </a:extLst>
          </p:cNvPr>
          <p:cNvSpPr txBox="1">
            <a:spLocks/>
          </p:cNvSpPr>
          <p:nvPr/>
        </p:nvSpPr>
        <p:spPr>
          <a:xfrm>
            <a:off x="1362076" y="1059656"/>
            <a:ext cx="6366272" cy="447675"/>
          </a:xfrm>
          <a:prstGeom prst="rect">
            <a:avLst/>
          </a:prstGeom>
        </p:spPr>
        <p:txBody>
          <a:bodyPr/>
          <a:lstStyle>
            <a:lvl1pPr algn="l" defTabSz="457200" rtl="0" eaLnBrk="1" latinLnBrk="0" hangingPunct="1">
              <a:spcBef>
                <a:spcPct val="0"/>
              </a:spcBef>
              <a:buNone/>
              <a:defRPr sz="3300" b="1" kern="1200">
                <a:solidFill>
                  <a:schemeClr val="tx1"/>
                </a:solidFill>
                <a:latin typeface="+mj-lt"/>
                <a:ea typeface="+mj-ea"/>
                <a:cs typeface="+mj-cs"/>
              </a:defRPr>
            </a:lvl1pPr>
          </a:lstStyle>
          <a:p>
            <a:pPr>
              <a:defRPr/>
            </a:pPr>
            <a:r>
              <a:rPr lang="en-US" sz="2100" dirty="0">
                <a:solidFill>
                  <a:schemeClr val="bg1">
                    <a:lumMod val="50000"/>
                  </a:schemeClr>
                </a:solidFill>
              </a:rPr>
              <a:t>THESE CAN BE </a:t>
            </a:r>
            <a:r>
              <a:rPr lang="en-US" sz="2100" i="1" dirty="0">
                <a:solidFill>
                  <a:schemeClr val="bg1">
                    <a:lumMod val="50000"/>
                  </a:schemeClr>
                </a:solidFill>
              </a:rPr>
              <a:t>POSITIVE</a:t>
            </a:r>
            <a:r>
              <a:rPr lang="en-US" sz="2100" dirty="0">
                <a:solidFill>
                  <a:schemeClr val="bg1">
                    <a:lumMod val="50000"/>
                  </a:schemeClr>
                </a:solidFill>
              </a:rPr>
              <a:t> OR </a:t>
            </a:r>
            <a:r>
              <a:rPr lang="en-US" sz="2100" i="1" dirty="0">
                <a:solidFill>
                  <a:schemeClr val="bg1">
                    <a:lumMod val="50000"/>
                  </a:schemeClr>
                </a:solidFill>
              </a:rPr>
              <a:t>NEGATIVE</a:t>
            </a:r>
            <a:r>
              <a:rPr lang="en-US" sz="2100" dirty="0">
                <a:solidFill>
                  <a:schemeClr val="bg1">
                    <a:lumMod val="50000"/>
                  </a:schemeClr>
                </a:solidFill>
              </a:rPr>
              <a:t>.</a:t>
            </a:r>
          </a:p>
        </p:txBody>
      </p:sp>
      <p:sp>
        <p:nvSpPr>
          <p:cNvPr id="7" name="Oval 6">
            <a:extLst>
              <a:ext uri="{FF2B5EF4-FFF2-40B4-BE49-F238E27FC236}">
                <a16:creationId xmlns:a16="http://schemas.microsoft.com/office/drawing/2014/main" id="{DD1B61D4-9402-2883-95E4-60AF6AA8F5A4}"/>
              </a:ext>
            </a:extLst>
          </p:cNvPr>
          <p:cNvSpPr/>
          <p:nvPr/>
        </p:nvSpPr>
        <p:spPr>
          <a:xfrm>
            <a:off x="3407569" y="2151460"/>
            <a:ext cx="632222" cy="842963"/>
          </a:xfrm>
          <a:prstGeom prst="ellipse">
            <a:avLst/>
          </a:prstGeom>
          <a:solidFill>
            <a:srgbClr val="0092D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8198" name="Rectangle 7">
            <a:extLst>
              <a:ext uri="{FF2B5EF4-FFF2-40B4-BE49-F238E27FC236}">
                <a16:creationId xmlns:a16="http://schemas.microsoft.com/office/drawing/2014/main" id="{0DDC280E-8B3B-10BC-E763-0DA4F71C7230}"/>
              </a:ext>
            </a:extLst>
          </p:cNvPr>
          <p:cNvSpPr>
            <a:spLocks noChangeArrowheads="1"/>
          </p:cNvSpPr>
          <p:nvPr/>
        </p:nvSpPr>
        <p:spPr bwMode="auto">
          <a:xfrm>
            <a:off x="3481580" y="2355056"/>
            <a:ext cx="502061" cy="38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Side</a:t>
            </a:r>
          </a:p>
          <a:p>
            <a:pPr algn="ctr">
              <a:lnSpc>
                <a:spcPct val="70000"/>
              </a:lnSpc>
              <a:spcBef>
                <a:spcPct val="0"/>
              </a:spcBef>
            </a:pPr>
            <a:r>
              <a:rPr lang="en-US" altLang="sv-SE" sz="1350" b="1">
                <a:solidFill>
                  <a:srgbClr val="000000"/>
                </a:solidFill>
                <a:latin typeface="Times New Roman" panose="02020603050405020304" pitchFamily="18" charset="0"/>
              </a:rPr>
              <a:t>2</a:t>
            </a:r>
          </a:p>
        </p:txBody>
      </p:sp>
      <p:sp>
        <p:nvSpPr>
          <p:cNvPr id="9" name="Oval 8">
            <a:extLst>
              <a:ext uri="{FF2B5EF4-FFF2-40B4-BE49-F238E27FC236}">
                <a16:creationId xmlns:a16="http://schemas.microsoft.com/office/drawing/2014/main" id="{68A23707-95F6-AC79-ED0A-8D4A42C3FDCB}"/>
              </a:ext>
            </a:extLst>
          </p:cNvPr>
          <p:cNvSpPr/>
          <p:nvPr/>
        </p:nvSpPr>
        <p:spPr>
          <a:xfrm>
            <a:off x="2324101" y="2151460"/>
            <a:ext cx="632222" cy="842963"/>
          </a:xfrm>
          <a:prstGeom prst="ellipse">
            <a:avLst/>
          </a:prstGeom>
          <a:solidFill>
            <a:srgbClr val="F2DE3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8200" name="Rectangle 9">
            <a:extLst>
              <a:ext uri="{FF2B5EF4-FFF2-40B4-BE49-F238E27FC236}">
                <a16:creationId xmlns:a16="http://schemas.microsoft.com/office/drawing/2014/main" id="{39B1334D-3807-28CE-7127-ADB5C3C7E82A}"/>
              </a:ext>
            </a:extLst>
          </p:cNvPr>
          <p:cNvSpPr>
            <a:spLocks noChangeArrowheads="1"/>
          </p:cNvSpPr>
          <p:nvPr/>
        </p:nvSpPr>
        <p:spPr bwMode="auto">
          <a:xfrm>
            <a:off x="2398707" y="2355056"/>
            <a:ext cx="502061" cy="38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Side</a:t>
            </a:r>
          </a:p>
          <a:p>
            <a:pPr algn="ctr">
              <a:lnSpc>
                <a:spcPct val="70000"/>
              </a:lnSpc>
              <a:spcBef>
                <a:spcPct val="0"/>
              </a:spcBef>
            </a:pPr>
            <a:r>
              <a:rPr lang="en-US" altLang="sv-SE" sz="1350" b="1">
                <a:solidFill>
                  <a:srgbClr val="000000"/>
                </a:solidFill>
                <a:latin typeface="Times New Roman" panose="02020603050405020304" pitchFamily="18" charset="0"/>
              </a:rPr>
              <a:t>1</a:t>
            </a:r>
          </a:p>
        </p:txBody>
      </p:sp>
      <p:sp>
        <p:nvSpPr>
          <p:cNvPr id="11" name="Rounded Rectangle 10">
            <a:extLst>
              <a:ext uri="{FF2B5EF4-FFF2-40B4-BE49-F238E27FC236}">
                <a16:creationId xmlns:a16="http://schemas.microsoft.com/office/drawing/2014/main" id="{981519D6-6FEB-A389-3325-D0A243362945}"/>
              </a:ext>
            </a:extLst>
          </p:cNvPr>
          <p:cNvSpPr/>
          <p:nvPr/>
        </p:nvSpPr>
        <p:spPr>
          <a:xfrm>
            <a:off x="2316957" y="3754041"/>
            <a:ext cx="1769269" cy="598884"/>
          </a:xfrm>
          <a:prstGeom prst="round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p>
        </p:txBody>
      </p:sp>
      <p:sp>
        <p:nvSpPr>
          <p:cNvPr id="8202" name="Rectangle 17">
            <a:extLst>
              <a:ext uri="{FF2B5EF4-FFF2-40B4-BE49-F238E27FC236}">
                <a16:creationId xmlns:a16="http://schemas.microsoft.com/office/drawing/2014/main" id="{BD8DBADB-2E84-FE70-5EA4-99A71D57AE88}"/>
              </a:ext>
            </a:extLst>
          </p:cNvPr>
          <p:cNvSpPr>
            <a:spLocks noChangeArrowheads="1"/>
          </p:cNvSpPr>
          <p:nvPr/>
        </p:nvSpPr>
        <p:spPr bwMode="auto">
          <a:xfrm>
            <a:off x="2626295" y="3893344"/>
            <a:ext cx="1162498" cy="24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defRPr>
                <a:solidFill>
                  <a:schemeClr val="tx1"/>
                </a:solidFill>
                <a:latin typeface="Arial" panose="020B0604020202020204" pitchFamily="34" charset="0"/>
              </a:defRPr>
            </a:lvl1pPr>
            <a:lvl2pPr marL="742950" indent="-285750" defTabSz="685800">
              <a:spcBef>
                <a:spcPct val="20000"/>
              </a:spcBef>
              <a:defRPr>
                <a:solidFill>
                  <a:schemeClr val="tx1"/>
                </a:solidFill>
                <a:latin typeface="Arial" panose="020B0604020202020204" pitchFamily="34" charset="0"/>
              </a:defRPr>
            </a:lvl2pPr>
            <a:lvl3pPr marL="1143000" indent="-228600" defTabSz="685800">
              <a:spcBef>
                <a:spcPct val="20000"/>
              </a:spcBef>
              <a:defRPr>
                <a:solidFill>
                  <a:schemeClr val="tx1"/>
                </a:solidFill>
                <a:latin typeface="Arial" panose="020B0604020202020204" pitchFamily="34" charset="0"/>
              </a:defRPr>
            </a:lvl3pPr>
            <a:lvl4pPr marL="1600200" indent="-228600" defTabSz="685800">
              <a:spcBef>
                <a:spcPct val="20000"/>
              </a:spcBef>
              <a:defRPr>
                <a:solidFill>
                  <a:schemeClr val="tx1"/>
                </a:solidFill>
                <a:latin typeface="Arial" panose="020B0604020202020204" pitchFamily="34" charset="0"/>
              </a:defRPr>
            </a:lvl4pPr>
            <a:lvl5pPr marL="2057400" indent="-228600" defTabSz="685800">
              <a:spcBef>
                <a:spcPct val="20000"/>
              </a:spcBef>
              <a:defRPr>
                <a:solidFill>
                  <a:schemeClr val="tx1"/>
                </a:solidFill>
                <a:latin typeface="Arial" panose="020B0604020202020204" pitchFamily="34" charset="0"/>
              </a:defRPr>
            </a:lvl5pPr>
            <a:lvl6pPr marL="2514600" indent="-228600" defTabSz="685800" eaLnBrk="0" fontAlgn="base" hangingPunct="0">
              <a:spcBef>
                <a:spcPct val="20000"/>
              </a:spcBef>
              <a:spcAft>
                <a:spcPct val="0"/>
              </a:spcAft>
              <a:defRPr>
                <a:solidFill>
                  <a:schemeClr val="tx1"/>
                </a:solidFill>
                <a:latin typeface="Arial" panose="020B0604020202020204" pitchFamily="34" charset="0"/>
              </a:defRPr>
            </a:lvl6pPr>
            <a:lvl7pPr marL="2971800" indent="-228600" defTabSz="685800" eaLnBrk="0" fontAlgn="base" hangingPunct="0">
              <a:spcBef>
                <a:spcPct val="20000"/>
              </a:spcBef>
              <a:spcAft>
                <a:spcPct val="0"/>
              </a:spcAft>
              <a:defRPr>
                <a:solidFill>
                  <a:schemeClr val="tx1"/>
                </a:solidFill>
                <a:latin typeface="Arial" panose="020B0604020202020204" pitchFamily="34" charset="0"/>
              </a:defRPr>
            </a:lvl7pPr>
            <a:lvl8pPr marL="3429000" indent="-228600" defTabSz="685800" eaLnBrk="0" fontAlgn="base" hangingPunct="0">
              <a:spcBef>
                <a:spcPct val="20000"/>
              </a:spcBef>
              <a:spcAft>
                <a:spcPct val="0"/>
              </a:spcAft>
              <a:defRPr>
                <a:solidFill>
                  <a:schemeClr val="tx1"/>
                </a:solidFill>
                <a:latin typeface="Arial" panose="020B0604020202020204" pitchFamily="34" charset="0"/>
              </a:defRPr>
            </a:lvl8pPr>
            <a:lvl9pPr marL="3886200" indent="-228600" defTabSz="685800" eaLnBrk="0" fontAlgn="base" hangingPunct="0">
              <a:spcBef>
                <a:spcPct val="20000"/>
              </a:spcBef>
              <a:spcAft>
                <a:spcPct val="0"/>
              </a:spcAft>
              <a:defRPr>
                <a:solidFill>
                  <a:schemeClr val="tx1"/>
                </a:solidFill>
                <a:latin typeface="Arial" panose="020B0604020202020204" pitchFamily="34" charset="0"/>
              </a:defRPr>
            </a:lvl9pPr>
          </a:lstStyle>
          <a:p>
            <a:pPr algn="ctr">
              <a:lnSpc>
                <a:spcPct val="70000"/>
              </a:lnSpc>
              <a:spcBef>
                <a:spcPct val="0"/>
              </a:spcBef>
            </a:pPr>
            <a:r>
              <a:rPr lang="en-US" altLang="sv-SE" sz="1350" b="1">
                <a:solidFill>
                  <a:srgbClr val="000000"/>
                </a:solidFill>
                <a:latin typeface="Times New Roman" panose="02020603050405020304" pitchFamily="18" charset="0"/>
              </a:rPr>
              <a:t>PLATFORM</a:t>
            </a:r>
          </a:p>
        </p:txBody>
      </p:sp>
      <p:sp>
        <p:nvSpPr>
          <p:cNvPr id="6" name="Rectangle 3">
            <a:extLst>
              <a:ext uri="{FF2B5EF4-FFF2-40B4-BE49-F238E27FC236}">
                <a16:creationId xmlns:a16="http://schemas.microsoft.com/office/drawing/2014/main" id="{DA9298CF-ED67-A7ED-9058-4B87516D031A}"/>
              </a:ext>
            </a:extLst>
          </p:cNvPr>
          <p:cNvSpPr txBox="1">
            <a:spLocks noChangeArrowheads="1"/>
          </p:cNvSpPr>
          <p:nvPr/>
        </p:nvSpPr>
        <p:spPr bwMode="auto">
          <a:xfrm>
            <a:off x="5019676" y="1663304"/>
            <a:ext cx="2708672" cy="1152525"/>
          </a:xfrm>
          <a:prstGeom prst="rect">
            <a:avLst/>
          </a:prstGeom>
          <a:noFill/>
          <a:ln w="9525">
            <a:noFill/>
            <a:miter lim="800000"/>
            <a:headEnd/>
            <a:tailEnd/>
          </a:ln>
        </p:spPr>
        <p:txBody>
          <a:bodyPr lIns="51435" tIns="25718" rIns="51435" bIns="25718"/>
          <a:lstStyle/>
          <a:p>
            <a:pPr marL="192881" indent="-192881" defTabSz="514350">
              <a:lnSpc>
                <a:spcPct val="80000"/>
              </a:lnSpc>
              <a:spcBef>
                <a:spcPct val="20000"/>
              </a:spcBef>
              <a:defRPr/>
            </a:pPr>
            <a:r>
              <a:rPr lang="en-US" sz="1050" b="1" kern="0" dirty="0">
                <a:solidFill>
                  <a:srgbClr val="234D23"/>
                </a:solidFill>
                <a:latin typeface="Calibri"/>
                <a:ea typeface="ＭＳ Ｐゴシック" charset="-128"/>
                <a:cs typeface="Calibri"/>
              </a:rPr>
              <a:t>+ same-side </a:t>
            </a:r>
            <a:r>
              <a:rPr lang="en-US" sz="1050" kern="0" dirty="0">
                <a:latin typeface="Calibri"/>
                <a:ea typeface="ＭＳ Ｐゴシック" charset="-128"/>
                <a:cs typeface="Calibri"/>
              </a:rPr>
              <a:t>: </a:t>
            </a:r>
            <a:r>
              <a:rPr lang="en-US" sz="1050" kern="0" dirty="0">
                <a:solidFill>
                  <a:srgbClr val="000000"/>
                </a:solidFill>
                <a:latin typeface="Calibri"/>
                <a:ea typeface="ＭＳ Ｐゴシック" charset="-128"/>
                <a:cs typeface="Calibri"/>
              </a:rPr>
              <a:t>Player-to-player contact in Xbox MMOG, end-user PDF sharing.</a:t>
            </a:r>
          </a:p>
          <a:p>
            <a:pPr marL="192881" indent="-192881" defTabSz="514350">
              <a:lnSpc>
                <a:spcPct val="80000"/>
              </a:lnSpc>
              <a:spcBef>
                <a:spcPct val="20000"/>
              </a:spcBef>
              <a:defRPr/>
            </a:pPr>
            <a:endParaRPr lang="en-US" sz="1050" kern="0" dirty="0">
              <a:solidFill>
                <a:srgbClr val="000000"/>
              </a:solidFill>
              <a:latin typeface="Calibri"/>
              <a:ea typeface="ＭＳ Ｐゴシック" charset="-128"/>
              <a:cs typeface="Calibri"/>
            </a:endParaRPr>
          </a:p>
          <a:p>
            <a:pPr marL="192881" indent="-192881" defTabSz="514350">
              <a:lnSpc>
                <a:spcPct val="80000"/>
              </a:lnSpc>
              <a:spcBef>
                <a:spcPct val="20000"/>
              </a:spcBef>
              <a:defRPr/>
            </a:pPr>
            <a:r>
              <a:rPr lang="en-US" sz="1050" b="1" kern="0" dirty="0">
                <a:solidFill>
                  <a:srgbClr val="234D23"/>
                </a:solidFill>
                <a:ea typeface="ＭＳ Ｐゴシック" charset="-128"/>
                <a:cs typeface="Calibri"/>
              </a:rPr>
              <a:t>+ cross-side </a:t>
            </a:r>
            <a:r>
              <a:rPr lang="en-US" sz="1050" b="1" kern="0" dirty="0">
                <a:solidFill>
                  <a:srgbClr val="000000"/>
                </a:solidFill>
                <a:ea typeface="ＭＳ Ｐゴシック" charset="-128"/>
                <a:cs typeface="Calibri"/>
              </a:rPr>
              <a:t>: </a:t>
            </a:r>
            <a:r>
              <a:rPr lang="en-US" sz="1050" kern="0" dirty="0">
                <a:solidFill>
                  <a:srgbClr val="000000"/>
                </a:solidFill>
                <a:ea typeface="ＭＳ Ｐゴシック" charset="-128"/>
                <a:cs typeface="Calibri"/>
              </a:rPr>
              <a:t>merchants &amp; consumers for Visa, developers &amp; end-users for Windows</a:t>
            </a:r>
          </a:p>
        </p:txBody>
      </p:sp>
      <p:sp>
        <p:nvSpPr>
          <p:cNvPr id="24" name="Rectangle 3">
            <a:extLst>
              <a:ext uri="{FF2B5EF4-FFF2-40B4-BE49-F238E27FC236}">
                <a16:creationId xmlns:a16="http://schemas.microsoft.com/office/drawing/2014/main" id="{BD363FA7-5DDD-5D0E-5113-01E390CEE34F}"/>
              </a:ext>
            </a:extLst>
          </p:cNvPr>
          <p:cNvSpPr txBox="1">
            <a:spLocks noChangeArrowheads="1"/>
          </p:cNvSpPr>
          <p:nvPr/>
        </p:nvSpPr>
        <p:spPr bwMode="auto">
          <a:xfrm>
            <a:off x="5019676" y="2909888"/>
            <a:ext cx="2708672" cy="1153716"/>
          </a:xfrm>
          <a:prstGeom prst="rect">
            <a:avLst/>
          </a:prstGeom>
          <a:noFill/>
          <a:ln w="9525">
            <a:noFill/>
            <a:miter lim="800000"/>
            <a:headEnd/>
            <a:tailEnd/>
          </a:ln>
        </p:spPr>
        <p:txBody>
          <a:bodyPr lIns="51435" tIns="25718" rIns="51435" bIns="25718"/>
          <a:lstStyle/>
          <a:p>
            <a:pPr marL="192881" indent="-192881" defTabSz="514350">
              <a:lnSpc>
                <a:spcPct val="80000"/>
              </a:lnSpc>
              <a:spcBef>
                <a:spcPct val="20000"/>
              </a:spcBef>
              <a:defRPr/>
            </a:pPr>
            <a:r>
              <a:rPr lang="en-US" sz="1050" b="1" kern="0" dirty="0">
                <a:solidFill>
                  <a:srgbClr val="E12836"/>
                </a:solidFill>
                <a:ea typeface="ＭＳ Ｐゴシック" charset="-128"/>
                <a:cs typeface="Calibri"/>
              </a:rPr>
              <a:t>- same-side </a:t>
            </a:r>
            <a:r>
              <a:rPr lang="en-US" sz="1050" b="1" kern="0" dirty="0">
                <a:solidFill>
                  <a:srgbClr val="000000"/>
                </a:solidFill>
                <a:ea typeface="ＭＳ Ｐゴシック" charset="-128"/>
                <a:cs typeface="Calibri"/>
              </a:rPr>
              <a:t>: </a:t>
            </a:r>
            <a:r>
              <a:rPr lang="en-US" sz="1050" kern="0" dirty="0">
                <a:solidFill>
                  <a:srgbClr val="000000"/>
                </a:solidFill>
                <a:ea typeface="ＭＳ Ｐゴシック" charset="-128"/>
                <a:cs typeface="Calibri"/>
              </a:rPr>
              <a:t>competing suppliers in auction, competing dates on Match.com</a:t>
            </a:r>
          </a:p>
          <a:p>
            <a:pPr marL="192881" indent="-192881" defTabSz="514350">
              <a:lnSpc>
                <a:spcPct val="80000"/>
              </a:lnSpc>
              <a:spcBef>
                <a:spcPct val="20000"/>
              </a:spcBef>
              <a:defRPr/>
            </a:pPr>
            <a:endParaRPr lang="en-US" sz="1050" kern="0" dirty="0">
              <a:solidFill>
                <a:srgbClr val="000000"/>
              </a:solidFill>
              <a:ea typeface="ＭＳ Ｐゴシック" charset="-128"/>
              <a:cs typeface="Calibri"/>
            </a:endParaRPr>
          </a:p>
          <a:p>
            <a:pPr marL="192881" indent="-192881" defTabSz="514350">
              <a:lnSpc>
                <a:spcPct val="80000"/>
              </a:lnSpc>
              <a:spcBef>
                <a:spcPct val="20000"/>
              </a:spcBef>
              <a:defRPr/>
            </a:pPr>
            <a:r>
              <a:rPr lang="en-US" sz="1050" b="1" kern="0" dirty="0">
                <a:solidFill>
                  <a:srgbClr val="FF0000"/>
                </a:solidFill>
                <a:ea typeface="ＭＳ Ｐゴシック" charset="-128"/>
                <a:cs typeface="Calibri"/>
              </a:rPr>
              <a:t>- cross-side </a:t>
            </a:r>
            <a:r>
              <a:rPr lang="en-US" sz="1050" b="1" kern="0" dirty="0">
                <a:solidFill>
                  <a:srgbClr val="000000"/>
                </a:solidFill>
                <a:ea typeface="ＭＳ Ｐゴシック" charset="-128"/>
                <a:cs typeface="Calibri"/>
              </a:rPr>
              <a:t>: </a:t>
            </a:r>
            <a:r>
              <a:rPr lang="en-US" sz="1050" kern="0" dirty="0">
                <a:solidFill>
                  <a:srgbClr val="000000"/>
                </a:solidFill>
                <a:ea typeface="ＭＳ Ｐゴシック" charset="-128"/>
                <a:cs typeface="Calibri"/>
              </a:rPr>
              <a:t>Advertising clutter to viewers.</a:t>
            </a:r>
          </a:p>
          <a:p>
            <a:pPr marL="192881" indent="-192881" defTabSz="514350">
              <a:lnSpc>
                <a:spcPct val="80000"/>
              </a:lnSpc>
              <a:spcBef>
                <a:spcPct val="20000"/>
              </a:spcBef>
              <a:defRPr/>
            </a:pPr>
            <a:endParaRPr lang="en-US" sz="1050" kern="0" dirty="0">
              <a:solidFill>
                <a:srgbClr val="000000"/>
              </a:solidFill>
              <a:ea typeface="ＭＳ Ｐゴシック" charset="-128"/>
              <a:cs typeface="Calibri"/>
            </a:endParaRPr>
          </a:p>
          <a:p>
            <a:pPr marL="192881" indent="-192881" defTabSz="514350">
              <a:lnSpc>
                <a:spcPct val="80000"/>
              </a:lnSpc>
              <a:spcBef>
                <a:spcPct val="20000"/>
              </a:spcBef>
              <a:defRPr/>
            </a:pPr>
            <a:endParaRPr lang="en-US" sz="1050" kern="0" dirty="0">
              <a:solidFill>
                <a:srgbClr val="000000"/>
              </a:solidFill>
              <a:ea typeface="ＭＳ Ｐゴシック" charset="-128"/>
              <a:cs typeface="Calibri"/>
            </a:endParaRPr>
          </a:p>
        </p:txBody>
      </p:sp>
      <p:sp>
        <p:nvSpPr>
          <p:cNvPr id="8205" name="TextBox 26">
            <a:extLst>
              <a:ext uri="{FF2B5EF4-FFF2-40B4-BE49-F238E27FC236}">
                <a16:creationId xmlns:a16="http://schemas.microsoft.com/office/drawing/2014/main" id="{F83224C7-8217-94E2-12DC-BA53402A6581}"/>
              </a:ext>
            </a:extLst>
          </p:cNvPr>
          <p:cNvSpPr txBox="1">
            <a:spLocks noChangeArrowheads="1"/>
          </p:cNvSpPr>
          <p:nvPr/>
        </p:nvSpPr>
        <p:spPr bwMode="auto">
          <a:xfrm>
            <a:off x="5922169" y="4407694"/>
            <a:ext cx="19538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sv-SE" sz="600">
                <a:latin typeface="Times New Roman" panose="02020603050405020304" pitchFamily="18" charset="0"/>
              </a:rPr>
              <a:t>Source: Eisenmann, Parker, Van Alstyne, 2006. “Strategies for Two Sided Markets.” </a:t>
            </a:r>
            <a:r>
              <a:rPr lang="en-US" altLang="sv-SE" sz="600" i="1">
                <a:latin typeface="Times New Roman" panose="02020603050405020304" pitchFamily="18" charset="0"/>
              </a:rPr>
              <a:t>Harvard Business Review</a:t>
            </a:r>
            <a:r>
              <a:rPr lang="en-US" altLang="sv-SE" sz="600">
                <a:latin typeface="Times New Roman" panose="02020603050405020304" pitchFamily="18" charset="0"/>
              </a:rPr>
              <a:t>.</a:t>
            </a:r>
          </a:p>
        </p:txBody>
      </p:sp>
      <p:sp>
        <p:nvSpPr>
          <p:cNvPr id="2" name="Text Placeholder 1">
            <a:extLst>
              <a:ext uri="{FF2B5EF4-FFF2-40B4-BE49-F238E27FC236}">
                <a16:creationId xmlns:a16="http://schemas.microsoft.com/office/drawing/2014/main" id="{8C6FB4A9-1566-CBE1-B11C-4A9ECC166458}"/>
              </a:ext>
            </a:extLst>
          </p:cNvPr>
          <p:cNvSpPr>
            <a:spLocks noGrp="1"/>
          </p:cNvSpPr>
          <p:nvPr>
            <p:ph type="body" sz="quarter" idx="10"/>
          </p:nvPr>
        </p:nvSpPr>
        <p:spPr/>
        <p:txBody>
          <a:bodyPr>
            <a:normAutofit fontScale="92500"/>
          </a:bodyPr>
          <a:lstStyle/>
          <a:p>
            <a:r>
              <a:rPr lang="en-US" altLang="sv-SE" sz="2800" dirty="0"/>
              <a:t>A two-sided network has four network effects </a:t>
            </a:r>
            <a:endParaRPr lang="da-DK" dirty="0"/>
          </a:p>
        </p:txBody>
      </p:sp>
      <p:grpSp>
        <p:nvGrpSpPr>
          <p:cNvPr id="8207" name="Group 31">
            <a:extLst>
              <a:ext uri="{FF2B5EF4-FFF2-40B4-BE49-F238E27FC236}">
                <a16:creationId xmlns:a16="http://schemas.microsoft.com/office/drawing/2014/main" id="{206848D5-041C-D442-1DE1-C8CDB0C51EAB}"/>
              </a:ext>
            </a:extLst>
          </p:cNvPr>
          <p:cNvGrpSpPr>
            <a:grpSpLocks/>
          </p:cNvGrpSpPr>
          <p:nvPr/>
        </p:nvGrpSpPr>
        <p:grpSpPr bwMode="auto">
          <a:xfrm>
            <a:off x="3158729" y="4810117"/>
            <a:ext cx="2331244" cy="190309"/>
            <a:chOff x="827584" y="6412784"/>
            <a:chExt cx="3108164" cy="255153"/>
          </a:xfrm>
        </p:grpSpPr>
        <p:pic>
          <p:nvPicPr>
            <p:cNvPr id="8209" name="Picture 2" descr="CC-BY-SA icon">
              <a:extLst>
                <a:ext uri="{FF2B5EF4-FFF2-40B4-BE49-F238E27FC236}">
                  <a16:creationId xmlns:a16="http://schemas.microsoft.com/office/drawing/2014/main" id="{EB349602-7F71-5DB9-4016-F9F1D2EA8929}"/>
                </a:ext>
              </a:extLst>
            </p:cNvPr>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827584" y="6453336"/>
              <a:ext cx="409855" cy="19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0" name="TextBox 1">
              <a:extLst>
                <a:ext uri="{FF2B5EF4-FFF2-40B4-BE49-F238E27FC236}">
                  <a16:creationId xmlns:a16="http://schemas.microsoft.com/office/drawing/2014/main" id="{4E74BF58-7E11-58A6-773E-B8FC54B9BCF0}"/>
                </a:ext>
              </a:extLst>
            </p:cNvPr>
            <p:cNvSpPr txBox="1">
              <a:spLocks noChangeArrowheads="1"/>
            </p:cNvSpPr>
            <p:nvPr/>
          </p:nvSpPr>
          <p:spPr bwMode="auto">
            <a:xfrm>
              <a:off x="1251527" y="6412784"/>
              <a:ext cx="2684221" cy="25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eaLnBrk="1" hangingPunct="1">
                <a:lnSpc>
                  <a:spcPct val="70000"/>
                </a:lnSpc>
                <a:spcBef>
                  <a:spcPct val="0"/>
                </a:spcBef>
              </a:pPr>
              <a:r>
                <a:rPr lang="de-DE" altLang="en-US" sz="450">
                  <a:ea typeface="ＭＳ Ｐゴシック" panose="020B0600070205080204" pitchFamily="34" charset="-128"/>
                </a:rPr>
                <a:t> 2016  </a:t>
              </a:r>
              <a:r>
                <a:rPr lang="en-US" altLang="en-US" sz="450">
                  <a:ea typeface="ＭＳ Ｐゴシック" panose="020B0600070205080204" pitchFamily="34" charset="-128"/>
                </a:rPr>
                <a:t>Parker &amp; Van Alstyne, with Choudary – licensed under Creative Commons Attribution-ShareAlike 4.0 International (CC BY-SA 4.0).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dissolve">
                                      <p:cBhvr>
                                        <p:cTn id="14" dur="500"/>
                                        <p:tgtEl>
                                          <p:spTgt spid="24"/>
                                        </p:tgtEl>
                                      </p:cBhvr>
                                    </p:animEffect>
                                  </p:childTnLst>
                                </p:cTn>
                              </p:par>
                              <p:par>
                                <p:cTn id="15" presetID="9"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par>
                                <p:cTn id="23" presetID="9"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DC571-5898-557E-5C1F-6EAFC04963D6}"/>
              </a:ext>
            </a:extLst>
          </p:cNvPr>
          <p:cNvSpPr>
            <a:spLocks noGrp="1"/>
          </p:cNvSpPr>
          <p:nvPr>
            <p:ph type="body" sz="quarter" idx="10"/>
          </p:nvPr>
        </p:nvSpPr>
        <p:spPr/>
        <p:txBody>
          <a:bodyPr/>
          <a:lstStyle/>
          <a:p>
            <a:r>
              <a:rPr lang="en-US" altLang="en-US" sz="2800" dirty="0"/>
              <a:t>Positive Feedback</a:t>
            </a:r>
            <a:endParaRPr lang="da-DK" dirty="0"/>
          </a:p>
        </p:txBody>
      </p:sp>
      <p:grpSp>
        <p:nvGrpSpPr>
          <p:cNvPr id="10243" name="Group 4">
            <a:extLst>
              <a:ext uri="{FF2B5EF4-FFF2-40B4-BE49-F238E27FC236}">
                <a16:creationId xmlns:a16="http://schemas.microsoft.com/office/drawing/2014/main" id="{29936547-8B53-BA91-F061-B1474E63B7B4}"/>
              </a:ext>
            </a:extLst>
          </p:cNvPr>
          <p:cNvGrpSpPr>
            <a:grpSpLocks/>
          </p:cNvGrpSpPr>
          <p:nvPr/>
        </p:nvGrpSpPr>
        <p:grpSpPr bwMode="auto">
          <a:xfrm>
            <a:off x="2257261" y="1545431"/>
            <a:ext cx="4636457" cy="2874777"/>
            <a:chOff x="1328" y="1344"/>
            <a:chExt cx="3321" cy="1905"/>
          </a:xfrm>
        </p:grpSpPr>
        <p:sp>
          <p:nvSpPr>
            <p:cNvPr id="10246" name="Text Box 5">
              <a:extLst>
                <a:ext uri="{FF2B5EF4-FFF2-40B4-BE49-F238E27FC236}">
                  <a16:creationId xmlns:a16="http://schemas.microsoft.com/office/drawing/2014/main" id="{AF85A32D-1C4C-FF21-1CF5-C13C790D4EDA}"/>
                </a:ext>
              </a:extLst>
            </p:cNvPr>
            <p:cNvSpPr txBox="1">
              <a:spLocks noChangeArrowheads="1"/>
            </p:cNvSpPr>
            <p:nvPr/>
          </p:nvSpPr>
          <p:spPr bwMode="auto">
            <a:xfrm>
              <a:off x="2830" y="3065"/>
              <a:ext cx="43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200" b="1">
                  <a:latin typeface="Tahoma" panose="020B0604030504040204" pitchFamily="34" charset="0"/>
                </a:rPr>
                <a:t>Time </a:t>
              </a:r>
            </a:p>
          </p:txBody>
        </p:sp>
        <p:sp>
          <p:nvSpPr>
            <p:cNvPr id="10247" name="Line 6">
              <a:extLst>
                <a:ext uri="{FF2B5EF4-FFF2-40B4-BE49-F238E27FC236}">
                  <a16:creationId xmlns:a16="http://schemas.microsoft.com/office/drawing/2014/main" id="{8C8FDD66-E671-5AA7-11C7-00BB6DC47555}"/>
                </a:ext>
              </a:extLst>
            </p:cNvPr>
            <p:cNvSpPr>
              <a:spLocks noChangeShapeType="1"/>
            </p:cNvSpPr>
            <p:nvPr/>
          </p:nvSpPr>
          <p:spPr bwMode="auto">
            <a:xfrm>
              <a:off x="1856" y="1344"/>
              <a:ext cx="0" cy="1695"/>
            </a:xfrm>
            <a:prstGeom prst="line">
              <a:avLst/>
            </a:prstGeom>
            <a:noFill/>
            <a:ln w="19050">
              <a:solidFill>
                <a:schemeClr val="bg2"/>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da-DK" sz="1350"/>
            </a:p>
          </p:txBody>
        </p:sp>
        <p:sp>
          <p:nvSpPr>
            <p:cNvPr id="10248" name="Line 7">
              <a:extLst>
                <a:ext uri="{FF2B5EF4-FFF2-40B4-BE49-F238E27FC236}">
                  <a16:creationId xmlns:a16="http://schemas.microsoft.com/office/drawing/2014/main" id="{855E1320-72EE-CF45-9690-51AB1378874E}"/>
                </a:ext>
              </a:extLst>
            </p:cNvPr>
            <p:cNvSpPr>
              <a:spLocks noChangeShapeType="1"/>
            </p:cNvSpPr>
            <p:nvPr/>
          </p:nvSpPr>
          <p:spPr bwMode="auto">
            <a:xfrm>
              <a:off x="1856" y="3040"/>
              <a:ext cx="2793" cy="0"/>
            </a:xfrm>
            <a:prstGeom prst="line">
              <a:avLst/>
            </a:prstGeom>
            <a:noFill/>
            <a:ln w="19050">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da-DK" sz="1350"/>
            </a:p>
          </p:txBody>
        </p:sp>
        <p:sp>
          <p:nvSpPr>
            <p:cNvPr id="10249" name="Line 8">
              <a:extLst>
                <a:ext uri="{FF2B5EF4-FFF2-40B4-BE49-F238E27FC236}">
                  <a16:creationId xmlns:a16="http://schemas.microsoft.com/office/drawing/2014/main" id="{DF46D3E0-2D78-B7A6-8DAD-6B00D9C68E2E}"/>
                </a:ext>
              </a:extLst>
            </p:cNvPr>
            <p:cNvSpPr>
              <a:spLocks noChangeShapeType="1"/>
            </p:cNvSpPr>
            <p:nvPr/>
          </p:nvSpPr>
          <p:spPr bwMode="auto">
            <a:xfrm>
              <a:off x="1862" y="2020"/>
              <a:ext cx="2783" cy="0"/>
            </a:xfrm>
            <a:prstGeom prst="line">
              <a:avLst/>
            </a:prstGeom>
            <a:noFill/>
            <a:ln w="12700">
              <a:solidFill>
                <a:schemeClr val="bg2"/>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da-DK" sz="1350"/>
            </a:p>
          </p:txBody>
        </p:sp>
        <p:sp>
          <p:nvSpPr>
            <p:cNvPr id="10250" name="Text Box 9">
              <a:extLst>
                <a:ext uri="{FF2B5EF4-FFF2-40B4-BE49-F238E27FC236}">
                  <a16:creationId xmlns:a16="http://schemas.microsoft.com/office/drawing/2014/main" id="{6B6E488B-5895-2042-87C5-CD7E3C7B1967}"/>
                </a:ext>
              </a:extLst>
            </p:cNvPr>
            <p:cNvSpPr txBox="1">
              <a:spLocks noChangeArrowheads="1"/>
            </p:cNvSpPr>
            <p:nvPr/>
          </p:nvSpPr>
          <p:spPr bwMode="auto">
            <a:xfrm rot="16200000">
              <a:off x="808" y="2028"/>
              <a:ext cx="122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050" b="1">
                  <a:latin typeface="Tahoma" panose="020B0604030504040204" pitchFamily="34" charset="0"/>
                </a:rPr>
                <a:t>Market Share (%)</a:t>
              </a:r>
            </a:p>
          </p:txBody>
        </p:sp>
        <p:sp>
          <p:nvSpPr>
            <p:cNvPr id="10251" name="Text Box 10">
              <a:extLst>
                <a:ext uri="{FF2B5EF4-FFF2-40B4-BE49-F238E27FC236}">
                  <a16:creationId xmlns:a16="http://schemas.microsoft.com/office/drawing/2014/main" id="{5B4068F7-2EDF-2DFD-E28D-83EE9E5747F1}"/>
                </a:ext>
              </a:extLst>
            </p:cNvPr>
            <p:cNvSpPr txBox="1">
              <a:spLocks noChangeArrowheads="1"/>
            </p:cNvSpPr>
            <p:nvPr/>
          </p:nvSpPr>
          <p:spPr bwMode="auto">
            <a:xfrm>
              <a:off x="1651" y="2914"/>
              <a:ext cx="27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050" b="1">
                  <a:latin typeface="Tahoma" panose="020B0604030504040204" pitchFamily="34" charset="0"/>
                </a:rPr>
                <a:t>0</a:t>
              </a:r>
            </a:p>
          </p:txBody>
        </p:sp>
        <p:sp>
          <p:nvSpPr>
            <p:cNvPr id="10252" name="Text Box 11">
              <a:extLst>
                <a:ext uri="{FF2B5EF4-FFF2-40B4-BE49-F238E27FC236}">
                  <a16:creationId xmlns:a16="http://schemas.microsoft.com/office/drawing/2014/main" id="{F5AA5CC5-A0EC-FAB1-BFD0-9E24250BD63C}"/>
                </a:ext>
              </a:extLst>
            </p:cNvPr>
            <p:cNvSpPr txBox="1">
              <a:spLocks noChangeArrowheads="1"/>
            </p:cNvSpPr>
            <p:nvPr/>
          </p:nvSpPr>
          <p:spPr bwMode="auto">
            <a:xfrm>
              <a:off x="1560" y="1553"/>
              <a:ext cx="36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050" b="1" dirty="0">
                  <a:latin typeface="Tahoma" panose="020B0604030504040204" pitchFamily="34" charset="0"/>
                </a:rPr>
                <a:t>100</a:t>
              </a:r>
            </a:p>
          </p:txBody>
        </p:sp>
        <p:sp>
          <p:nvSpPr>
            <p:cNvPr id="10253" name="Text Box 12">
              <a:extLst>
                <a:ext uri="{FF2B5EF4-FFF2-40B4-BE49-F238E27FC236}">
                  <a16:creationId xmlns:a16="http://schemas.microsoft.com/office/drawing/2014/main" id="{9884FDED-AC41-86B7-C622-7D6DC2A68546}"/>
                </a:ext>
              </a:extLst>
            </p:cNvPr>
            <p:cNvSpPr txBox="1">
              <a:spLocks noChangeArrowheads="1"/>
            </p:cNvSpPr>
            <p:nvPr/>
          </p:nvSpPr>
          <p:spPr bwMode="auto">
            <a:xfrm>
              <a:off x="1605" y="2234"/>
              <a:ext cx="36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050" b="1">
                  <a:latin typeface="Tahoma" panose="020B0604030504040204" pitchFamily="34" charset="0"/>
                </a:rPr>
                <a:t>50</a:t>
              </a:r>
            </a:p>
          </p:txBody>
        </p:sp>
        <p:sp>
          <p:nvSpPr>
            <p:cNvPr id="10254" name="Line 13">
              <a:extLst>
                <a:ext uri="{FF2B5EF4-FFF2-40B4-BE49-F238E27FC236}">
                  <a16:creationId xmlns:a16="http://schemas.microsoft.com/office/drawing/2014/main" id="{EAFB1293-48DF-0E6F-B238-AE956F364592}"/>
                </a:ext>
              </a:extLst>
            </p:cNvPr>
            <p:cNvSpPr>
              <a:spLocks noChangeShapeType="1"/>
            </p:cNvSpPr>
            <p:nvPr/>
          </p:nvSpPr>
          <p:spPr bwMode="auto">
            <a:xfrm>
              <a:off x="1832" y="2642"/>
              <a:ext cx="2783" cy="0"/>
            </a:xfrm>
            <a:prstGeom prst="line">
              <a:avLst/>
            </a:prstGeom>
            <a:noFill/>
            <a:ln w="12700">
              <a:solidFill>
                <a:schemeClr val="bg2"/>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da-DK" sz="1350"/>
            </a:p>
          </p:txBody>
        </p:sp>
        <p:sp>
          <p:nvSpPr>
            <p:cNvPr id="10255" name="Text Box 14">
              <a:extLst>
                <a:ext uri="{FF2B5EF4-FFF2-40B4-BE49-F238E27FC236}">
                  <a16:creationId xmlns:a16="http://schemas.microsoft.com/office/drawing/2014/main" id="{7D1A3D8E-3BE6-5AFF-9EE5-0C05AF847FA6}"/>
                </a:ext>
              </a:extLst>
            </p:cNvPr>
            <p:cNvSpPr txBox="1">
              <a:spLocks noChangeArrowheads="1"/>
            </p:cNvSpPr>
            <p:nvPr/>
          </p:nvSpPr>
          <p:spPr bwMode="auto">
            <a:xfrm>
              <a:off x="3789" y="1568"/>
              <a:ext cx="5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200" b="1">
                  <a:latin typeface="Tahoma" panose="020B0604030504040204" pitchFamily="34" charset="0"/>
                </a:rPr>
                <a:t>Winner</a:t>
              </a:r>
            </a:p>
          </p:txBody>
        </p:sp>
        <p:sp>
          <p:nvSpPr>
            <p:cNvPr id="10256" name="Text Box 15">
              <a:extLst>
                <a:ext uri="{FF2B5EF4-FFF2-40B4-BE49-F238E27FC236}">
                  <a16:creationId xmlns:a16="http://schemas.microsoft.com/office/drawing/2014/main" id="{F7912217-69C3-AEA9-9373-C862186E87D3}"/>
                </a:ext>
              </a:extLst>
            </p:cNvPr>
            <p:cNvSpPr txBox="1">
              <a:spLocks noChangeArrowheads="1"/>
            </p:cNvSpPr>
            <p:nvPr/>
          </p:nvSpPr>
          <p:spPr bwMode="auto">
            <a:xfrm>
              <a:off x="3828" y="2778"/>
              <a:ext cx="43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200" b="1">
                  <a:latin typeface="Tahoma" panose="020B0604030504040204" pitchFamily="34" charset="0"/>
                </a:rPr>
                <a:t>Loser</a:t>
              </a:r>
            </a:p>
          </p:txBody>
        </p:sp>
        <p:sp>
          <p:nvSpPr>
            <p:cNvPr id="10257" name="Text Box 16">
              <a:extLst>
                <a:ext uri="{FF2B5EF4-FFF2-40B4-BE49-F238E27FC236}">
                  <a16:creationId xmlns:a16="http://schemas.microsoft.com/office/drawing/2014/main" id="{595EA518-AD88-7CC9-3246-A553771CF730}"/>
                </a:ext>
              </a:extLst>
            </p:cNvPr>
            <p:cNvSpPr txBox="1">
              <a:spLocks noChangeArrowheads="1"/>
            </p:cNvSpPr>
            <p:nvPr/>
          </p:nvSpPr>
          <p:spPr bwMode="auto">
            <a:xfrm>
              <a:off x="3783" y="2205"/>
              <a:ext cx="681"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en-US" sz="1050" b="1">
                  <a:latin typeface="Tahoma" panose="020B0604030504040204" pitchFamily="34" charset="0"/>
                </a:rPr>
                <a:t>Battle zone</a:t>
              </a:r>
            </a:p>
          </p:txBody>
        </p:sp>
        <p:sp>
          <p:nvSpPr>
            <p:cNvPr id="10258" name="Freeform 17">
              <a:extLst>
                <a:ext uri="{FF2B5EF4-FFF2-40B4-BE49-F238E27FC236}">
                  <a16:creationId xmlns:a16="http://schemas.microsoft.com/office/drawing/2014/main" id="{562B5B2F-CF99-E175-FAED-885B8DD6A683}"/>
                </a:ext>
              </a:extLst>
            </p:cNvPr>
            <p:cNvSpPr>
              <a:spLocks/>
            </p:cNvSpPr>
            <p:nvPr/>
          </p:nvSpPr>
          <p:spPr bwMode="auto">
            <a:xfrm>
              <a:off x="2242" y="2406"/>
              <a:ext cx="1564" cy="512"/>
            </a:xfrm>
            <a:custGeom>
              <a:avLst/>
              <a:gdLst>
                <a:gd name="T0" fmla="*/ 0 w 1564"/>
                <a:gd name="T1" fmla="*/ 0 h 512"/>
                <a:gd name="T2" fmla="*/ 156 w 1564"/>
                <a:gd name="T3" fmla="*/ 91 h 512"/>
                <a:gd name="T4" fmla="*/ 265 w 1564"/>
                <a:gd name="T5" fmla="*/ 119 h 512"/>
                <a:gd name="T6" fmla="*/ 421 w 1564"/>
                <a:gd name="T7" fmla="*/ 174 h 512"/>
                <a:gd name="T8" fmla="*/ 668 w 1564"/>
                <a:gd name="T9" fmla="*/ 274 h 512"/>
                <a:gd name="T10" fmla="*/ 914 w 1564"/>
                <a:gd name="T11" fmla="*/ 366 h 512"/>
                <a:gd name="T12" fmla="*/ 1070 w 1564"/>
                <a:gd name="T13" fmla="*/ 411 h 512"/>
                <a:gd name="T14" fmla="*/ 1244 w 1564"/>
                <a:gd name="T15" fmla="*/ 475 h 512"/>
                <a:gd name="T16" fmla="*/ 1564 w 1564"/>
                <a:gd name="T17" fmla="*/ 484 h 5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64"/>
                <a:gd name="T28" fmla="*/ 0 h 512"/>
                <a:gd name="T29" fmla="*/ 1564 w 1564"/>
                <a:gd name="T30" fmla="*/ 512 h 5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64" h="512">
                  <a:moveTo>
                    <a:pt x="0" y="0"/>
                  </a:moveTo>
                  <a:cubicBezTo>
                    <a:pt x="58" y="19"/>
                    <a:pt x="102" y="65"/>
                    <a:pt x="156" y="91"/>
                  </a:cubicBezTo>
                  <a:cubicBezTo>
                    <a:pt x="189" y="107"/>
                    <a:pt x="230" y="108"/>
                    <a:pt x="265" y="119"/>
                  </a:cubicBezTo>
                  <a:cubicBezTo>
                    <a:pt x="318" y="135"/>
                    <a:pt x="368" y="160"/>
                    <a:pt x="421" y="174"/>
                  </a:cubicBezTo>
                  <a:cubicBezTo>
                    <a:pt x="493" y="222"/>
                    <a:pt x="586" y="247"/>
                    <a:pt x="668" y="274"/>
                  </a:cubicBezTo>
                  <a:cubicBezTo>
                    <a:pt x="752" y="301"/>
                    <a:pt x="831" y="335"/>
                    <a:pt x="914" y="366"/>
                  </a:cubicBezTo>
                  <a:cubicBezTo>
                    <a:pt x="951" y="401"/>
                    <a:pt x="1021" y="403"/>
                    <a:pt x="1070" y="411"/>
                  </a:cubicBezTo>
                  <a:cubicBezTo>
                    <a:pt x="1122" y="438"/>
                    <a:pt x="1187" y="461"/>
                    <a:pt x="1244" y="475"/>
                  </a:cubicBezTo>
                  <a:cubicBezTo>
                    <a:pt x="1314" y="512"/>
                    <a:pt x="1482" y="484"/>
                    <a:pt x="1564" y="4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da-DK" sz="1350"/>
            </a:p>
          </p:txBody>
        </p:sp>
        <p:sp>
          <p:nvSpPr>
            <p:cNvPr id="10259" name="Freeform 18">
              <a:extLst>
                <a:ext uri="{FF2B5EF4-FFF2-40B4-BE49-F238E27FC236}">
                  <a16:creationId xmlns:a16="http://schemas.microsoft.com/office/drawing/2014/main" id="{B0615062-8710-9E0D-9DAB-20B6952A7C19}"/>
                </a:ext>
              </a:extLst>
            </p:cNvPr>
            <p:cNvSpPr>
              <a:spLocks/>
            </p:cNvSpPr>
            <p:nvPr/>
          </p:nvSpPr>
          <p:spPr bwMode="auto">
            <a:xfrm>
              <a:off x="2242" y="1698"/>
              <a:ext cx="1591" cy="598"/>
            </a:xfrm>
            <a:custGeom>
              <a:avLst/>
              <a:gdLst>
                <a:gd name="T0" fmla="*/ 0 w 1591"/>
                <a:gd name="T1" fmla="*/ 598 h 598"/>
                <a:gd name="T2" fmla="*/ 64 w 1591"/>
                <a:gd name="T3" fmla="*/ 580 h 598"/>
                <a:gd name="T4" fmla="*/ 110 w 1591"/>
                <a:gd name="T5" fmla="*/ 543 h 598"/>
                <a:gd name="T6" fmla="*/ 156 w 1591"/>
                <a:gd name="T7" fmla="*/ 498 h 598"/>
                <a:gd name="T8" fmla="*/ 210 w 1591"/>
                <a:gd name="T9" fmla="*/ 479 h 598"/>
                <a:gd name="T10" fmla="*/ 302 w 1591"/>
                <a:gd name="T11" fmla="*/ 452 h 598"/>
                <a:gd name="T12" fmla="*/ 357 w 1591"/>
                <a:gd name="T13" fmla="*/ 424 h 598"/>
                <a:gd name="T14" fmla="*/ 384 w 1591"/>
                <a:gd name="T15" fmla="*/ 397 h 598"/>
                <a:gd name="T16" fmla="*/ 439 w 1591"/>
                <a:gd name="T17" fmla="*/ 379 h 598"/>
                <a:gd name="T18" fmla="*/ 466 w 1591"/>
                <a:gd name="T19" fmla="*/ 370 h 598"/>
                <a:gd name="T20" fmla="*/ 540 w 1591"/>
                <a:gd name="T21" fmla="*/ 324 h 598"/>
                <a:gd name="T22" fmla="*/ 640 w 1591"/>
                <a:gd name="T23" fmla="*/ 251 h 598"/>
                <a:gd name="T24" fmla="*/ 677 w 1591"/>
                <a:gd name="T25" fmla="*/ 214 h 598"/>
                <a:gd name="T26" fmla="*/ 732 w 1591"/>
                <a:gd name="T27" fmla="*/ 196 h 598"/>
                <a:gd name="T28" fmla="*/ 1033 w 1591"/>
                <a:gd name="T29" fmla="*/ 104 h 598"/>
                <a:gd name="T30" fmla="*/ 1298 w 1591"/>
                <a:gd name="T31" fmla="*/ 59 h 598"/>
                <a:gd name="T32" fmla="*/ 1481 w 1591"/>
                <a:gd name="T33" fmla="*/ 22 h 598"/>
                <a:gd name="T34" fmla="*/ 1591 w 1591"/>
                <a:gd name="T35" fmla="*/ 50 h 5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1"/>
                <a:gd name="T55" fmla="*/ 0 h 598"/>
                <a:gd name="T56" fmla="*/ 1591 w 1591"/>
                <a:gd name="T57" fmla="*/ 598 h 5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1" h="598">
                  <a:moveTo>
                    <a:pt x="0" y="598"/>
                  </a:moveTo>
                  <a:cubicBezTo>
                    <a:pt x="2" y="597"/>
                    <a:pt x="58" y="585"/>
                    <a:pt x="64" y="580"/>
                  </a:cubicBezTo>
                  <a:cubicBezTo>
                    <a:pt x="121" y="533"/>
                    <a:pt x="41" y="565"/>
                    <a:pt x="110" y="543"/>
                  </a:cubicBezTo>
                  <a:cubicBezTo>
                    <a:pt x="125" y="528"/>
                    <a:pt x="141" y="513"/>
                    <a:pt x="156" y="498"/>
                  </a:cubicBezTo>
                  <a:cubicBezTo>
                    <a:pt x="170" y="485"/>
                    <a:pt x="192" y="485"/>
                    <a:pt x="210" y="479"/>
                  </a:cubicBezTo>
                  <a:cubicBezTo>
                    <a:pt x="241" y="469"/>
                    <a:pt x="271" y="460"/>
                    <a:pt x="302" y="452"/>
                  </a:cubicBezTo>
                  <a:cubicBezTo>
                    <a:pt x="319" y="441"/>
                    <a:pt x="340" y="435"/>
                    <a:pt x="357" y="424"/>
                  </a:cubicBezTo>
                  <a:cubicBezTo>
                    <a:pt x="368" y="417"/>
                    <a:pt x="373" y="403"/>
                    <a:pt x="384" y="397"/>
                  </a:cubicBezTo>
                  <a:cubicBezTo>
                    <a:pt x="401" y="388"/>
                    <a:pt x="421" y="385"/>
                    <a:pt x="439" y="379"/>
                  </a:cubicBezTo>
                  <a:cubicBezTo>
                    <a:pt x="448" y="376"/>
                    <a:pt x="466" y="370"/>
                    <a:pt x="466" y="370"/>
                  </a:cubicBezTo>
                  <a:cubicBezTo>
                    <a:pt x="489" y="347"/>
                    <a:pt x="508" y="334"/>
                    <a:pt x="540" y="324"/>
                  </a:cubicBezTo>
                  <a:cubicBezTo>
                    <a:pt x="576" y="300"/>
                    <a:pt x="603" y="275"/>
                    <a:pt x="640" y="251"/>
                  </a:cubicBezTo>
                  <a:cubicBezTo>
                    <a:pt x="652" y="243"/>
                    <a:pt x="664" y="220"/>
                    <a:pt x="677" y="214"/>
                  </a:cubicBezTo>
                  <a:cubicBezTo>
                    <a:pt x="694" y="206"/>
                    <a:pt x="732" y="196"/>
                    <a:pt x="732" y="196"/>
                  </a:cubicBezTo>
                  <a:cubicBezTo>
                    <a:pt x="818" y="139"/>
                    <a:pt x="937" y="140"/>
                    <a:pt x="1033" y="104"/>
                  </a:cubicBezTo>
                  <a:cubicBezTo>
                    <a:pt x="1098" y="42"/>
                    <a:pt x="1226" y="62"/>
                    <a:pt x="1298" y="59"/>
                  </a:cubicBezTo>
                  <a:cubicBezTo>
                    <a:pt x="1362" y="49"/>
                    <a:pt x="1417" y="30"/>
                    <a:pt x="1481" y="22"/>
                  </a:cubicBezTo>
                  <a:cubicBezTo>
                    <a:pt x="1589" y="32"/>
                    <a:pt x="1568" y="0"/>
                    <a:pt x="1591" y="5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da-DK" sz="1350"/>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bar chart&#10;&#10;Description automatically generated">
            <a:extLst>
              <a:ext uri="{FF2B5EF4-FFF2-40B4-BE49-F238E27FC236}">
                <a16:creationId xmlns:a16="http://schemas.microsoft.com/office/drawing/2014/main" id="{3DA6E8FC-3BCA-0304-D311-E63D51CDF48B}"/>
              </a:ext>
            </a:extLst>
          </p:cNvPr>
          <p:cNvPicPr>
            <a:picLocks noGrp="1" noChangeAspect="1"/>
          </p:cNvPicPr>
          <p:nvPr>
            <p:ph sz="quarter" idx="12"/>
          </p:nvPr>
        </p:nvPicPr>
        <p:blipFill>
          <a:blip r:embed="rId2" cstate="screen">
            <a:extLst>
              <a:ext uri="{28A0092B-C50C-407E-A947-70E740481C1C}">
                <a14:useLocalDpi xmlns:a14="http://schemas.microsoft.com/office/drawing/2010/main" val="0"/>
              </a:ext>
            </a:extLst>
          </a:blip>
          <a:stretch>
            <a:fillRect/>
          </a:stretch>
        </p:blipFill>
        <p:spPr>
          <a:xfrm>
            <a:off x="2297306" y="1019175"/>
            <a:ext cx="4550975" cy="3381375"/>
          </a:xfrm>
        </p:spPr>
      </p:pic>
      <p:sp>
        <p:nvSpPr>
          <p:cNvPr id="2" name="Text Placeholder 1">
            <a:extLst>
              <a:ext uri="{FF2B5EF4-FFF2-40B4-BE49-F238E27FC236}">
                <a16:creationId xmlns:a16="http://schemas.microsoft.com/office/drawing/2014/main" id="{9E13E06E-FD0A-70B2-DA5C-2AF3BB92BFB4}"/>
              </a:ext>
            </a:extLst>
          </p:cNvPr>
          <p:cNvSpPr>
            <a:spLocks noGrp="1"/>
          </p:cNvSpPr>
          <p:nvPr>
            <p:ph type="body" sz="quarter" idx="10"/>
          </p:nvPr>
        </p:nvSpPr>
        <p:spPr/>
        <p:txBody>
          <a:bodyPr/>
          <a:lstStyle/>
          <a:p>
            <a:r>
              <a:rPr lang="en-US" altLang="en-US" sz="2800" dirty="0"/>
              <a:t>Is this a winner-take-all market? </a:t>
            </a:r>
            <a:endParaRPr lang="da-DK"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AB14A6-EE34-B1F0-620D-C416EDD1D236}"/>
              </a:ext>
            </a:extLst>
          </p:cNvPr>
          <p:cNvSpPr>
            <a:spLocks noGrp="1"/>
          </p:cNvSpPr>
          <p:nvPr>
            <p:ph type="body" sz="quarter" idx="10"/>
          </p:nvPr>
        </p:nvSpPr>
        <p:spPr/>
        <p:txBody>
          <a:bodyPr/>
          <a:lstStyle/>
          <a:p>
            <a:r>
              <a:rPr lang="en-US" altLang="en-US" sz="2800" dirty="0"/>
              <a:t>Is this a winner-take-all market? </a:t>
            </a:r>
            <a:endParaRPr lang="da-DK" dirty="0"/>
          </a:p>
        </p:txBody>
      </p:sp>
      <p:pic>
        <p:nvPicPr>
          <p:cNvPr id="8" name="Content Placeholder 7" descr="Chart&#10;&#10;Description automatically generated">
            <a:extLst>
              <a:ext uri="{FF2B5EF4-FFF2-40B4-BE49-F238E27FC236}">
                <a16:creationId xmlns:a16="http://schemas.microsoft.com/office/drawing/2014/main" id="{33CD7FD3-D790-16CA-21AB-72499DF26651}"/>
              </a:ext>
            </a:extLst>
          </p:cNvPr>
          <p:cNvPicPr>
            <a:picLocks noGrp="1" noChangeAspect="1"/>
          </p:cNvPicPr>
          <p:nvPr>
            <p:ph sz="quarter" idx="12"/>
          </p:nvPr>
        </p:nvPicPr>
        <p:blipFill>
          <a:blip r:embed="rId2" cstate="screen">
            <a:extLst>
              <a:ext uri="{28A0092B-C50C-407E-A947-70E740481C1C}">
                <a14:useLocalDpi xmlns:a14="http://schemas.microsoft.com/office/drawing/2010/main" val="0"/>
              </a:ext>
            </a:extLst>
          </a:blip>
          <a:stretch>
            <a:fillRect/>
          </a:stretch>
        </p:blipFill>
        <p:spPr>
          <a:xfrm>
            <a:off x="2297306" y="1019175"/>
            <a:ext cx="4550975" cy="3381375"/>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756" name="Group 4">
            <a:extLst>
              <a:ext uri="{FF2B5EF4-FFF2-40B4-BE49-F238E27FC236}">
                <a16:creationId xmlns:a16="http://schemas.microsoft.com/office/drawing/2014/main" id="{C24D5298-6F38-A661-8187-B232B9E35231}"/>
              </a:ext>
            </a:extLst>
          </p:cNvPr>
          <p:cNvGraphicFramePr>
            <a:graphicFrameLocks noGrp="1"/>
          </p:cNvGraphicFramePr>
          <p:nvPr>
            <p:ph sz="quarter" idx="12"/>
            <p:extLst>
              <p:ext uri="{D42A27DB-BD31-4B8C-83A1-F6EECF244321}">
                <p14:modId xmlns:p14="http://schemas.microsoft.com/office/powerpoint/2010/main" val="3358506247"/>
              </p:ext>
            </p:extLst>
          </p:nvPr>
        </p:nvGraphicFramePr>
        <p:xfrm>
          <a:off x="917575" y="1019175"/>
          <a:ext cx="7310437" cy="1269207"/>
        </p:xfrm>
        <a:graphic>
          <a:graphicData uri="http://schemas.openxmlformats.org/drawingml/2006/table">
            <a:tbl>
              <a:tblPr/>
              <a:tblGrid>
                <a:gridCol w="3102256">
                  <a:extLst>
                    <a:ext uri="{9D8B030D-6E8A-4147-A177-3AD203B41FA5}">
                      <a16:colId xmlns:a16="http://schemas.microsoft.com/office/drawing/2014/main" val="20000"/>
                    </a:ext>
                  </a:extLst>
                </a:gridCol>
                <a:gridCol w="1782381">
                  <a:extLst>
                    <a:ext uri="{9D8B030D-6E8A-4147-A177-3AD203B41FA5}">
                      <a16:colId xmlns:a16="http://schemas.microsoft.com/office/drawing/2014/main" val="20001"/>
                    </a:ext>
                  </a:extLst>
                </a:gridCol>
                <a:gridCol w="2425800">
                  <a:extLst>
                    <a:ext uri="{9D8B030D-6E8A-4147-A177-3AD203B41FA5}">
                      <a16:colId xmlns:a16="http://schemas.microsoft.com/office/drawing/2014/main" val="20002"/>
                    </a:ext>
                  </a:extLst>
                </a:gridCol>
              </a:tblGrid>
              <a:tr h="5512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a:ln>
                            <a:noFill/>
                          </a:ln>
                          <a:solidFill>
                            <a:schemeClr val="tx1"/>
                          </a:solidFill>
                          <a:effectLst/>
                          <a:latin typeface="Arial" charset="0"/>
                        </a:rPr>
                        <a:t>Low economies of scale</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a:ln>
                            <a:noFill/>
                          </a:ln>
                          <a:solidFill>
                            <a:schemeClr val="tx1"/>
                          </a:solidFill>
                          <a:effectLst/>
                          <a:latin typeface="Arial" charset="0"/>
                        </a:rPr>
                        <a:t>High economies of scale</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4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a:ln>
                            <a:noFill/>
                          </a:ln>
                          <a:solidFill>
                            <a:schemeClr val="tx1"/>
                          </a:solidFill>
                          <a:effectLst/>
                          <a:latin typeface="Arial" charset="0"/>
                        </a:rPr>
                        <a:t>Low demand for Variety</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Unlikely</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High</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6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a:ln>
                            <a:noFill/>
                          </a:ln>
                          <a:solidFill>
                            <a:schemeClr val="tx1"/>
                          </a:solidFill>
                          <a:effectLst/>
                          <a:latin typeface="Arial" charset="0"/>
                        </a:rPr>
                        <a:t>High demand for variety</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Low</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rPr>
                        <a:t>Depends</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315" name="Rectangle 3">
            <a:extLst>
              <a:ext uri="{FF2B5EF4-FFF2-40B4-BE49-F238E27FC236}">
                <a16:creationId xmlns:a16="http://schemas.microsoft.com/office/drawing/2014/main" id="{1E09E295-8BEB-268F-4AED-143026A7F4EC}"/>
              </a:ext>
            </a:extLst>
          </p:cNvPr>
          <p:cNvSpPr>
            <a:spLocks noGrp="1" noChangeArrowheads="1"/>
          </p:cNvSpPr>
          <p:nvPr>
            <p:ph type="body" sz="quarter" idx="10"/>
          </p:nvPr>
        </p:nvSpPr>
        <p:spPr/>
        <p:txBody>
          <a:bodyPr>
            <a:normAutofit/>
          </a:bodyPr>
          <a:lstStyle/>
          <a:p>
            <a:pPr marL="264319" indent="-264319">
              <a:spcBef>
                <a:spcPct val="50000"/>
              </a:spcBef>
            </a:pPr>
            <a:r>
              <a:rPr lang="en-US" altLang="en-US" sz="2600" dirty="0"/>
              <a:t>Positive feedback (Shapiro and Varian 1998)</a:t>
            </a:r>
          </a:p>
          <a:p>
            <a:pPr marL="264319" indent="-264319">
              <a:spcBef>
                <a:spcPct val="50000"/>
              </a:spcBef>
            </a:pPr>
            <a:endParaRPr lang="en-US" altLang="en-US" sz="1500" dirty="0"/>
          </a:p>
        </p:txBody>
      </p:sp>
      <p:sp>
        <p:nvSpPr>
          <p:cNvPr id="13334" name="Rectangle 22">
            <a:extLst>
              <a:ext uri="{FF2B5EF4-FFF2-40B4-BE49-F238E27FC236}">
                <a16:creationId xmlns:a16="http://schemas.microsoft.com/office/drawing/2014/main" id="{40FA1691-CBAF-9109-B72D-3609DB05C784}"/>
              </a:ext>
            </a:extLst>
          </p:cNvPr>
          <p:cNvSpPr>
            <a:spLocks noChangeArrowheads="1"/>
          </p:cNvSpPr>
          <p:nvPr/>
        </p:nvSpPr>
        <p:spPr bwMode="auto">
          <a:xfrm>
            <a:off x="1547813" y="3436144"/>
            <a:ext cx="62103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575"/>
              <a:t>It is the sum of all scale economies (supply and demand side) that may drive a market towards tipping</a:t>
            </a:r>
            <a:endParaRPr lang="en-US" altLang="en-US" sz="1350"/>
          </a:p>
        </p:txBody>
      </p:sp>
      <p:sp>
        <p:nvSpPr>
          <p:cNvPr id="2" name="TextBox 1">
            <a:extLst>
              <a:ext uri="{FF2B5EF4-FFF2-40B4-BE49-F238E27FC236}">
                <a16:creationId xmlns:a16="http://schemas.microsoft.com/office/drawing/2014/main" id="{E93EDA96-50BC-A34E-3FB8-CC50596A182C}"/>
              </a:ext>
            </a:extLst>
          </p:cNvPr>
          <p:cNvSpPr txBox="1"/>
          <p:nvPr/>
        </p:nvSpPr>
        <p:spPr>
          <a:xfrm>
            <a:off x="746235" y="2603198"/>
            <a:ext cx="8397765" cy="784830"/>
          </a:xfrm>
          <a:prstGeom prst="rect">
            <a:avLst/>
          </a:prstGeom>
          <a:noFill/>
        </p:spPr>
        <p:txBody>
          <a:bodyPr wrap="square" rtlCol="0">
            <a:spAutoFit/>
          </a:bodyPr>
          <a:lstStyle/>
          <a:p>
            <a:pPr marL="264319" indent="-264319">
              <a:spcBef>
                <a:spcPct val="50000"/>
              </a:spcBef>
            </a:pPr>
            <a:r>
              <a:rPr lang="en-US" altLang="en-US" sz="1800" dirty="0"/>
              <a:t>Not all markets exhibit network effects!</a:t>
            </a:r>
          </a:p>
          <a:p>
            <a:pPr marL="264319" indent="-264319">
              <a:spcBef>
                <a:spcPct val="50000"/>
              </a:spcBef>
            </a:pPr>
            <a:r>
              <a:rPr lang="en-US" altLang="en-US" sz="1800" dirty="0"/>
              <a:t>Likelihood of </a:t>
            </a:r>
            <a:r>
              <a:rPr lang="en-US" altLang="en-US" sz="1800" dirty="0">
                <a:solidFill>
                  <a:schemeClr val="accent2"/>
                </a:solidFill>
              </a:rPr>
              <a:t>tipping</a:t>
            </a:r>
            <a:r>
              <a:rPr lang="en-US" altLang="en-US" sz="1800" dirty="0"/>
              <a:t> to single technology/product/application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a:extLst>
              <a:ext uri="{FF2B5EF4-FFF2-40B4-BE49-F238E27FC236}">
                <a16:creationId xmlns:a16="http://schemas.microsoft.com/office/drawing/2014/main" id="{EBB20A5A-BE23-CB6D-96DD-5BF0377290C4}"/>
              </a:ext>
            </a:extLst>
          </p:cNvPr>
          <p:cNvSpPr>
            <a:spLocks noGrp="1"/>
          </p:cNvSpPr>
          <p:nvPr>
            <p:ph sz="quarter" idx="12"/>
          </p:nvPr>
        </p:nvSpPr>
        <p:spPr/>
        <p:txBody>
          <a:bodyPr/>
          <a:lstStyle/>
          <a:p>
            <a:pPr marL="285750" indent="-285750">
              <a:buFont typeface="Arial" panose="020B0604020202020204" pitchFamily="34" charset="0"/>
              <a:buChar char="•"/>
            </a:pPr>
            <a:r>
              <a:rPr lang="en-US" altLang="en-US" sz="1800" dirty="0"/>
              <a:t>Increase customer participation </a:t>
            </a:r>
          </a:p>
          <a:p>
            <a:pPr lvl="1"/>
            <a:r>
              <a:rPr lang="en-US" altLang="en-US" sz="1500" dirty="0">
                <a:sym typeface="Wingdings" panose="05000000000000000000" pitchFamily="2" charset="2"/>
              </a:rPr>
              <a:t> </a:t>
            </a:r>
            <a:r>
              <a:rPr lang="en-US" altLang="en-US" sz="1500" dirty="0"/>
              <a:t>Increase time spent with the product and product’s perceived value</a:t>
            </a:r>
          </a:p>
          <a:p>
            <a:pPr marL="285750" indent="-285750">
              <a:buFont typeface="Arial" panose="020B0604020202020204" pitchFamily="34" charset="0"/>
              <a:buChar char="•"/>
            </a:pPr>
            <a:r>
              <a:rPr lang="en-US" altLang="en-US" sz="1800" dirty="0"/>
              <a:t>Increase opportunities of customer interactions</a:t>
            </a:r>
          </a:p>
          <a:p>
            <a:pPr marL="285750" indent="-285750">
              <a:buFont typeface="Arial" panose="020B0604020202020204" pitchFamily="34" charset="0"/>
              <a:buChar char="•"/>
            </a:pPr>
            <a:r>
              <a:rPr lang="en-US" altLang="en-US" sz="1800" dirty="0"/>
              <a:t>Manage complements to the core product</a:t>
            </a:r>
          </a:p>
        </p:txBody>
      </p:sp>
      <p:sp>
        <p:nvSpPr>
          <p:cNvPr id="2" name="Text Placeholder 1">
            <a:extLst>
              <a:ext uri="{FF2B5EF4-FFF2-40B4-BE49-F238E27FC236}">
                <a16:creationId xmlns:a16="http://schemas.microsoft.com/office/drawing/2014/main" id="{80BCC96D-FAFB-CB47-A2AC-A2BC289D825E}"/>
              </a:ext>
            </a:extLst>
          </p:cNvPr>
          <p:cNvSpPr>
            <a:spLocks noGrp="1"/>
          </p:cNvSpPr>
          <p:nvPr>
            <p:ph type="body" sz="quarter" idx="10"/>
          </p:nvPr>
        </p:nvSpPr>
        <p:spPr/>
        <p:txBody>
          <a:bodyPr>
            <a:normAutofit fontScale="92500"/>
          </a:bodyPr>
          <a:lstStyle/>
          <a:p>
            <a:r>
              <a:rPr lang="en-US" altLang="en-US" sz="2800" dirty="0"/>
              <a:t>How to generate and manage network effects?</a:t>
            </a:r>
            <a:endParaRPr lang="da-DK" dirty="0"/>
          </a:p>
        </p:txBody>
      </p:sp>
      <p:pic>
        <p:nvPicPr>
          <p:cNvPr id="3" name="Picture 6">
            <a:extLst>
              <a:ext uri="{FF2B5EF4-FFF2-40B4-BE49-F238E27FC236}">
                <a16:creationId xmlns:a16="http://schemas.microsoft.com/office/drawing/2014/main" id="{B8D6E296-D1DF-5939-2B21-148A8C636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0023" y="2347491"/>
            <a:ext cx="4706540" cy="204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E5554-2D76-5EDA-85AC-11DA3EB1163C}"/>
              </a:ext>
            </a:extLst>
          </p:cNvPr>
          <p:cNvSpPr>
            <a:spLocks noGrp="1"/>
          </p:cNvSpPr>
          <p:nvPr>
            <p:ph type="body" sz="quarter" idx="10"/>
          </p:nvPr>
        </p:nvSpPr>
        <p:spPr>
          <a:xfrm>
            <a:off x="741305" y="150565"/>
            <a:ext cx="7310438" cy="650060"/>
          </a:xfrm>
        </p:spPr>
        <p:txBody>
          <a:bodyPr>
            <a:normAutofit/>
          </a:bodyPr>
          <a:lstStyle/>
          <a:p>
            <a:r>
              <a:rPr lang="en-US" altLang="en-US" sz="2800" dirty="0"/>
              <a:t>Intensity of network effects</a:t>
            </a:r>
            <a:endParaRPr lang="da-DK" dirty="0"/>
          </a:p>
        </p:txBody>
      </p:sp>
      <p:pic>
        <p:nvPicPr>
          <p:cNvPr id="18437" name="Picture 6">
            <a:extLst>
              <a:ext uri="{FF2B5EF4-FFF2-40B4-BE49-F238E27FC236}">
                <a16:creationId xmlns:a16="http://schemas.microsoft.com/office/drawing/2014/main" id="{0F63DBCF-986F-873E-8B7F-6DDEE1F40069}"/>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2168723" y="598289"/>
            <a:ext cx="4806553" cy="3946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F1912D8-33BF-69AB-34D9-348CE025EA13}"/>
              </a:ext>
            </a:extLst>
          </p:cNvPr>
          <p:cNvSpPr>
            <a:spLocks noGrp="1"/>
          </p:cNvSpPr>
          <p:nvPr>
            <p:ph sz="quarter" idx="12"/>
          </p:nvPr>
        </p:nvSpPr>
        <p:spPr/>
        <p:txBody>
          <a:bodyPr/>
          <a:lstStyle/>
          <a:p>
            <a:pPr marL="342900" indent="-342900" eaLnBrk="1" hangingPunct="1">
              <a:buFont typeface="Arial" panose="020B0604020202020204" pitchFamily="34" charset="0"/>
              <a:buChar char="•"/>
              <a:defRPr/>
            </a:pPr>
            <a:r>
              <a:rPr lang="en-US" altLang="en-US" dirty="0"/>
              <a:t>Costs of switching from one product to another</a:t>
            </a:r>
          </a:p>
          <a:p>
            <a:pPr marL="342900" indent="-342900" eaLnBrk="1" hangingPunct="1">
              <a:buFont typeface="Arial" panose="020B0604020202020204" pitchFamily="34" charset="0"/>
              <a:buChar char="•"/>
              <a:defRPr/>
            </a:pPr>
            <a:r>
              <a:rPr lang="en-US" altLang="en-US" dirty="0"/>
              <a:t>Individual switching costs</a:t>
            </a:r>
          </a:p>
          <a:p>
            <a:pPr lvl="1" eaLnBrk="1" hangingPunct="1">
              <a:buFontTx/>
              <a:buChar char="–"/>
              <a:defRPr/>
            </a:pPr>
            <a:r>
              <a:rPr lang="en-US" altLang="en-US" sz="1600" dirty="0"/>
              <a:t>Firms</a:t>
            </a:r>
          </a:p>
          <a:p>
            <a:pPr lvl="1" eaLnBrk="1" hangingPunct="1">
              <a:buFontTx/>
              <a:buChar char="–"/>
              <a:defRPr/>
            </a:pPr>
            <a:r>
              <a:rPr lang="en-US" altLang="en-US" sz="1600" dirty="0"/>
              <a:t>Consumers</a:t>
            </a:r>
          </a:p>
          <a:p>
            <a:pPr marL="342900" indent="-342900" eaLnBrk="1" hangingPunct="1">
              <a:buFont typeface="Arial" panose="020B0604020202020204" pitchFamily="34" charset="0"/>
              <a:buChar char="•"/>
              <a:defRPr/>
            </a:pPr>
            <a:r>
              <a:rPr lang="en-US" altLang="en-US" dirty="0"/>
              <a:t>Accumulated, e.g. group of individual users</a:t>
            </a:r>
          </a:p>
          <a:p>
            <a:pPr marL="342900" indent="-342900" eaLnBrk="1" hangingPunct="1">
              <a:buFont typeface="Arial" panose="020B0604020202020204" pitchFamily="34" charset="0"/>
              <a:buChar char="•"/>
              <a:defRPr/>
            </a:pPr>
            <a:r>
              <a:rPr lang="en-US" altLang="en-US" dirty="0"/>
              <a:t>Firms switching costs: Disruption of operation costs</a:t>
            </a:r>
          </a:p>
          <a:p>
            <a:pPr marL="342900" indent="-342900">
              <a:buFont typeface="Arial" panose="020B0604020202020204" pitchFamily="34" charset="0"/>
              <a:buChar char="•"/>
              <a:defRPr/>
            </a:pPr>
            <a:r>
              <a:rPr lang="en-US" altLang="en-US" dirty="0"/>
              <a:t>Tension: the supplier wants to lock-in the customer, the customer wants to avoid lock-in</a:t>
            </a:r>
          </a:p>
          <a:p>
            <a:endParaRPr lang="da-DK" dirty="0"/>
          </a:p>
        </p:txBody>
      </p:sp>
      <p:sp>
        <p:nvSpPr>
          <p:cNvPr id="5" name="Text Placeholder 4">
            <a:extLst>
              <a:ext uri="{FF2B5EF4-FFF2-40B4-BE49-F238E27FC236}">
                <a16:creationId xmlns:a16="http://schemas.microsoft.com/office/drawing/2014/main" id="{0D7FE167-5447-3075-019D-C5F42F16C40F}"/>
              </a:ext>
            </a:extLst>
          </p:cNvPr>
          <p:cNvSpPr>
            <a:spLocks noGrp="1"/>
          </p:cNvSpPr>
          <p:nvPr>
            <p:ph type="body" sz="quarter" idx="10"/>
          </p:nvPr>
        </p:nvSpPr>
        <p:spPr/>
        <p:txBody>
          <a:bodyPr/>
          <a:lstStyle/>
          <a:p>
            <a:r>
              <a:rPr lang="en-US" altLang="en-US" sz="2800" dirty="0"/>
              <a:t>Switching Costs</a:t>
            </a:r>
            <a:endParaRPr lang="da-DK" dirty="0"/>
          </a:p>
        </p:txBody>
      </p:sp>
    </p:spTree>
    <p:extLst>
      <p:ext uri="{BB962C8B-B14F-4D97-AF65-F5344CB8AC3E}">
        <p14:creationId xmlns:p14="http://schemas.microsoft.com/office/powerpoint/2010/main" val="4180899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8" name="Group 1">
            <a:extLst>
              <a:ext uri="{FF2B5EF4-FFF2-40B4-BE49-F238E27FC236}">
                <a16:creationId xmlns:a16="http://schemas.microsoft.com/office/drawing/2014/main" id="{74925C44-AABD-74B4-43D0-687753D44CCF}"/>
              </a:ext>
            </a:extLst>
          </p:cNvPr>
          <p:cNvGrpSpPr>
            <a:grpSpLocks/>
          </p:cNvGrpSpPr>
          <p:nvPr/>
        </p:nvGrpSpPr>
        <p:grpSpPr bwMode="auto">
          <a:xfrm>
            <a:off x="2000250" y="1657351"/>
            <a:ext cx="5434013" cy="2250281"/>
            <a:chOff x="1143000" y="2209800"/>
            <a:chExt cx="7245350" cy="3000375"/>
          </a:xfrm>
        </p:grpSpPr>
        <p:sp>
          <p:nvSpPr>
            <p:cNvPr id="16390" name="Text Box 3">
              <a:extLst>
                <a:ext uri="{FF2B5EF4-FFF2-40B4-BE49-F238E27FC236}">
                  <a16:creationId xmlns:a16="http://schemas.microsoft.com/office/drawing/2014/main" id="{87D646A1-F7B2-1D1D-ED22-56F04FFB85A1}"/>
                </a:ext>
              </a:extLst>
            </p:cNvPr>
            <p:cNvSpPr txBox="1">
              <a:spLocks noChangeArrowheads="1"/>
            </p:cNvSpPr>
            <p:nvPr/>
          </p:nvSpPr>
          <p:spPr bwMode="auto">
            <a:xfrm>
              <a:off x="3200400" y="2209800"/>
              <a:ext cx="27432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lgn="ctr">
                <a:spcBef>
                  <a:spcPct val="50000"/>
                </a:spcBef>
              </a:pPr>
              <a:r>
                <a:rPr lang="en-US" altLang="en-US" sz="1350">
                  <a:latin typeface="Times New Roman" panose="02020603050405020304" pitchFamily="18" charset="0"/>
                </a:rPr>
                <a:t>Brand Selection</a:t>
              </a:r>
            </a:p>
          </p:txBody>
        </p:sp>
        <p:sp>
          <p:nvSpPr>
            <p:cNvPr id="16391" name="Text Box 4">
              <a:extLst>
                <a:ext uri="{FF2B5EF4-FFF2-40B4-BE49-F238E27FC236}">
                  <a16:creationId xmlns:a16="http://schemas.microsoft.com/office/drawing/2014/main" id="{24291E38-0718-F366-C6E9-DC49F1C3C7DF}"/>
                </a:ext>
              </a:extLst>
            </p:cNvPr>
            <p:cNvSpPr txBox="1">
              <a:spLocks noChangeArrowheads="1"/>
            </p:cNvSpPr>
            <p:nvPr/>
          </p:nvSpPr>
          <p:spPr bwMode="auto">
            <a:xfrm>
              <a:off x="6178550" y="3386137"/>
              <a:ext cx="22098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50000"/>
                </a:spcBef>
              </a:pPr>
              <a:r>
                <a:rPr lang="en-US" altLang="en-US" sz="1350">
                  <a:latin typeface="Times New Roman" panose="02020603050405020304" pitchFamily="18" charset="0"/>
                </a:rPr>
                <a:t>Sampling</a:t>
              </a:r>
            </a:p>
          </p:txBody>
        </p:sp>
        <p:sp>
          <p:nvSpPr>
            <p:cNvPr id="16392" name="Text Box 5">
              <a:extLst>
                <a:ext uri="{FF2B5EF4-FFF2-40B4-BE49-F238E27FC236}">
                  <a16:creationId xmlns:a16="http://schemas.microsoft.com/office/drawing/2014/main" id="{4383EC64-19DC-8ECF-8138-116981C8E264}"/>
                </a:ext>
              </a:extLst>
            </p:cNvPr>
            <p:cNvSpPr txBox="1">
              <a:spLocks noChangeArrowheads="1"/>
            </p:cNvSpPr>
            <p:nvPr/>
          </p:nvSpPr>
          <p:spPr bwMode="auto">
            <a:xfrm>
              <a:off x="1143000" y="3429000"/>
              <a:ext cx="22098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lgn="ctr">
                <a:spcBef>
                  <a:spcPct val="50000"/>
                </a:spcBef>
              </a:pPr>
              <a:r>
                <a:rPr lang="en-US" altLang="en-US" sz="1350" dirty="0">
                  <a:latin typeface="Times New Roman" panose="02020603050405020304" pitchFamily="18" charset="0"/>
                </a:rPr>
                <a:t>Lock-In</a:t>
              </a:r>
            </a:p>
          </p:txBody>
        </p:sp>
        <p:sp>
          <p:nvSpPr>
            <p:cNvPr id="16393" name="Text Box 6">
              <a:extLst>
                <a:ext uri="{FF2B5EF4-FFF2-40B4-BE49-F238E27FC236}">
                  <a16:creationId xmlns:a16="http://schemas.microsoft.com/office/drawing/2014/main" id="{A0C42964-D07E-4D9F-4429-3381AB9F3443}"/>
                </a:ext>
              </a:extLst>
            </p:cNvPr>
            <p:cNvSpPr txBox="1">
              <a:spLocks noChangeArrowheads="1"/>
            </p:cNvSpPr>
            <p:nvPr/>
          </p:nvSpPr>
          <p:spPr bwMode="auto">
            <a:xfrm>
              <a:off x="3200400" y="4800600"/>
              <a:ext cx="274320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lgn="ctr">
                <a:spcBef>
                  <a:spcPct val="50000"/>
                </a:spcBef>
              </a:pPr>
              <a:r>
                <a:rPr lang="en-US" altLang="en-US" sz="1350">
                  <a:latin typeface="Times New Roman" panose="02020603050405020304" pitchFamily="18" charset="0"/>
                </a:rPr>
                <a:t>Entrenchment</a:t>
              </a:r>
            </a:p>
          </p:txBody>
        </p:sp>
        <p:sp>
          <p:nvSpPr>
            <p:cNvPr id="16394" name="AutoShape 7">
              <a:extLst>
                <a:ext uri="{FF2B5EF4-FFF2-40B4-BE49-F238E27FC236}">
                  <a16:creationId xmlns:a16="http://schemas.microsoft.com/office/drawing/2014/main" id="{C6094794-68D5-7CF1-497C-8E1D3ADCD6A7}"/>
                </a:ext>
              </a:extLst>
            </p:cNvPr>
            <p:cNvSpPr>
              <a:spLocks noChangeArrowheads="1"/>
            </p:cNvSpPr>
            <p:nvPr/>
          </p:nvSpPr>
          <p:spPr bwMode="auto">
            <a:xfrm rot="-5400000">
              <a:off x="2007394" y="4317206"/>
              <a:ext cx="814388" cy="86677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da-DK" sz="1350"/>
            </a:p>
          </p:txBody>
        </p:sp>
        <p:sp>
          <p:nvSpPr>
            <p:cNvPr id="16395" name="AutoShape 8">
              <a:extLst>
                <a:ext uri="{FF2B5EF4-FFF2-40B4-BE49-F238E27FC236}">
                  <a16:creationId xmlns:a16="http://schemas.microsoft.com/office/drawing/2014/main" id="{DCC338B0-60AC-C32E-B6F2-7CD8739FD305}"/>
                </a:ext>
              </a:extLst>
            </p:cNvPr>
            <p:cNvSpPr>
              <a:spLocks noChangeArrowheads="1"/>
            </p:cNvSpPr>
            <p:nvPr/>
          </p:nvSpPr>
          <p:spPr bwMode="auto">
            <a:xfrm rot="-5400000" flipH="1" flipV="1">
              <a:off x="6350794" y="2412206"/>
              <a:ext cx="814388" cy="86677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da-DK" sz="1350"/>
            </a:p>
          </p:txBody>
        </p:sp>
        <p:sp>
          <p:nvSpPr>
            <p:cNvPr id="16396" name="AutoShape 9">
              <a:extLst>
                <a:ext uri="{FF2B5EF4-FFF2-40B4-BE49-F238E27FC236}">
                  <a16:creationId xmlns:a16="http://schemas.microsoft.com/office/drawing/2014/main" id="{E3EBA5FC-DDB3-D906-6FA1-8E25B38A0433}"/>
                </a:ext>
              </a:extLst>
            </p:cNvPr>
            <p:cNvSpPr>
              <a:spLocks noChangeArrowheads="1"/>
            </p:cNvSpPr>
            <p:nvPr/>
          </p:nvSpPr>
          <p:spPr bwMode="auto">
            <a:xfrm flipH="1" flipV="1">
              <a:off x="6248400" y="4343400"/>
              <a:ext cx="814388" cy="86677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da-DK" sz="1350"/>
            </a:p>
          </p:txBody>
        </p:sp>
        <p:sp>
          <p:nvSpPr>
            <p:cNvPr id="16397" name="AutoShape 10">
              <a:extLst>
                <a:ext uri="{FF2B5EF4-FFF2-40B4-BE49-F238E27FC236}">
                  <a16:creationId xmlns:a16="http://schemas.microsoft.com/office/drawing/2014/main" id="{5126EF53-7F5D-5CD9-C5D4-F095FF03A890}"/>
                </a:ext>
              </a:extLst>
            </p:cNvPr>
            <p:cNvSpPr>
              <a:spLocks noChangeArrowheads="1"/>
            </p:cNvSpPr>
            <p:nvPr/>
          </p:nvSpPr>
          <p:spPr bwMode="auto">
            <a:xfrm rot="10800000" flipH="1" flipV="1">
              <a:off x="2133600" y="2362200"/>
              <a:ext cx="814388" cy="86677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da-DK" sz="1350"/>
            </a:p>
          </p:txBody>
        </p:sp>
      </p:grpSp>
      <p:sp>
        <p:nvSpPr>
          <p:cNvPr id="2" name="Text Placeholder 1">
            <a:extLst>
              <a:ext uri="{FF2B5EF4-FFF2-40B4-BE49-F238E27FC236}">
                <a16:creationId xmlns:a16="http://schemas.microsoft.com/office/drawing/2014/main" id="{609F2C51-41B7-C0BD-0771-AE025219227F}"/>
              </a:ext>
            </a:extLst>
          </p:cNvPr>
          <p:cNvSpPr>
            <a:spLocks noGrp="1"/>
          </p:cNvSpPr>
          <p:nvPr>
            <p:ph type="body" sz="quarter" idx="10"/>
          </p:nvPr>
        </p:nvSpPr>
        <p:spPr/>
        <p:txBody>
          <a:bodyPr/>
          <a:lstStyle/>
          <a:p>
            <a:r>
              <a:rPr lang="en-US" altLang="en-US" sz="2800" dirty="0"/>
              <a:t>The Lock-in cycle</a:t>
            </a:r>
            <a:endParaRPr lang="da-DK" dirty="0"/>
          </a:p>
        </p:txBody>
      </p:sp>
      <p:sp>
        <p:nvSpPr>
          <p:cNvPr id="4" name="TextBox 3">
            <a:extLst>
              <a:ext uri="{FF2B5EF4-FFF2-40B4-BE49-F238E27FC236}">
                <a16:creationId xmlns:a16="http://schemas.microsoft.com/office/drawing/2014/main" id="{D88BF7AA-4B26-15F2-F135-FA9EC9704F82}"/>
              </a:ext>
            </a:extLst>
          </p:cNvPr>
          <p:cNvSpPr txBox="1"/>
          <p:nvPr/>
        </p:nvSpPr>
        <p:spPr>
          <a:xfrm>
            <a:off x="1148079" y="866587"/>
            <a:ext cx="5957147" cy="646331"/>
          </a:xfrm>
          <a:prstGeom prst="rect">
            <a:avLst/>
          </a:prstGeom>
          <a:noFill/>
        </p:spPr>
        <p:txBody>
          <a:bodyPr wrap="square">
            <a:spAutoFit/>
          </a:bodyPr>
          <a:lstStyle/>
          <a:p>
            <a:pPr>
              <a:buFontTx/>
              <a:buChar char="•"/>
            </a:pPr>
            <a:r>
              <a:rPr lang="en-US" altLang="en-US" dirty="0"/>
              <a:t>High market shares don't imply high switching costs</a:t>
            </a:r>
          </a:p>
          <a:p>
            <a:pPr>
              <a:buFontTx/>
              <a:buChar char="•"/>
            </a:pPr>
            <a:r>
              <a:rPr lang="en-US" altLang="en-US" sz="1800" dirty="0"/>
              <a:t>Low market share can still mean large lock-in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a:extLst>
              <a:ext uri="{FF2B5EF4-FFF2-40B4-BE49-F238E27FC236}">
                <a16:creationId xmlns:a16="http://schemas.microsoft.com/office/drawing/2014/main" id="{B07D3C41-1D57-22D7-9A3F-268B835FB516}"/>
              </a:ext>
            </a:extLst>
          </p:cNvPr>
          <p:cNvSpPr>
            <a:spLocks noGrp="1"/>
          </p:cNvSpPr>
          <p:nvPr>
            <p:ph sz="quarter" idx="12"/>
          </p:nvPr>
        </p:nvSpPr>
        <p:spPr/>
        <p:txBody>
          <a:bodyPr>
            <a:normAutofit/>
          </a:bodyPr>
          <a:lstStyle/>
          <a:p>
            <a:r>
              <a:rPr lang="en-US" altLang="da-DK" dirty="0">
                <a:sym typeface="Wingdings" panose="05000000000000000000" pitchFamily="2" charset="2"/>
              </a:rPr>
              <a:t>Shift from </a:t>
            </a:r>
            <a:r>
              <a:rPr lang="en-US" altLang="da-DK" dirty="0"/>
              <a:t>industry analysis to network analysis</a:t>
            </a:r>
          </a:p>
          <a:p>
            <a:pPr marL="285750" indent="-285750">
              <a:buFont typeface="Arial" panose="020B0604020202020204" pitchFamily="34" charset="0"/>
              <a:buChar char="•"/>
            </a:pPr>
            <a:r>
              <a:rPr lang="en-US" altLang="da-DK" sz="1800" dirty="0"/>
              <a:t>Value Creation Dynamics</a:t>
            </a:r>
          </a:p>
          <a:p>
            <a:pPr lvl="1">
              <a:buFont typeface="Arial" panose="020B0604020202020204" pitchFamily="34" charset="0"/>
              <a:buChar char="+"/>
            </a:pPr>
            <a:r>
              <a:rPr lang="en-US" altLang="da-DK" sz="1600" dirty="0"/>
              <a:t>Network effects and Learning effects</a:t>
            </a:r>
          </a:p>
          <a:p>
            <a:pPr lvl="1">
              <a:buFont typeface="Arial" panose="020B0604020202020204" pitchFamily="34" charset="0"/>
              <a:buChar char="‒"/>
            </a:pPr>
            <a:r>
              <a:rPr lang="en-US" altLang="da-DK" sz="1600" dirty="0"/>
              <a:t>Clusters</a:t>
            </a:r>
          </a:p>
          <a:p>
            <a:pPr lvl="1">
              <a:buFont typeface="Arial" panose="020B0604020202020204" pitchFamily="34" charset="0"/>
              <a:buChar char="+"/>
            </a:pPr>
            <a:r>
              <a:rPr lang="en-US" altLang="da-DK" sz="1600" dirty="0"/>
              <a:t>Synergies with other networks</a:t>
            </a:r>
          </a:p>
          <a:p>
            <a:pPr marL="285750" indent="-285750">
              <a:buFont typeface="Arial" panose="020B0604020202020204" pitchFamily="34" charset="0"/>
              <a:buChar char="•"/>
            </a:pPr>
            <a:r>
              <a:rPr lang="en-US" altLang="da-DK" sz="1800" dirty="0"/>
              <a:t>Value Capture Dynamics</a:t>
            </a:r>
          </a:p>
          <a:p>
            <a:pPr lvl="1">
              <a:buFont typeface="Arial" panose="020B0604020202020204" pitchFamily="34" charset="0"/>
              <a:buChar char="+"/>
            </a:pPr>
            <a:r>
              <a:rPr lang="en-US" altLang="da-DK" sz="1600" dirty="0"/>
              <a:t>Pricing</a:t>
            </a:r>
          </a:p>
          <a:p>
            <a:pPr lvl="1">
              <a:buFont typeface="Arial" panose="020B0604020202020204" pitchFamily="34" charset="0"/>
              <a:buChar char="‒"/>
            </a:pPr>
            <a:r>
              <a:rPr lang="en-US" altLang="da-DK" sz="1600" dirty="0"/>
              <a:t>Multi-homing</a:t>
            </a:r>
          </a:p>
          <a:p>
            <a:pPr lvl="1">
              <a:buFont typeface="Arial" panose="020B0604020202020204" pitchFamily="34" charset="0"/>
              <a:buChar char="‒"/>
            </a:pPr>
            <a:r>
              <a:rPr lang="en-US" altLang="da-DK" sz="1600" dirty="0"/>
              <a:t>Disintermediation</a:t>
            </a:r>
          </a:p>
          <a:p>
            <a:pPr lvl="1">
              <a:buFont typeface="Arial" panose="020B0604020202020204" pitchFamily="34" charset="0"/>
              <a:buChar char="+"/>
            </a:pPr>
            <a:r>
              <a:rPr lang="en-US" altLang="da-DK" sz="1600" dirty="0"/>
              <a:t>Network Bridging</a:t>
            </a:r>
            <a:endParaRPr lang="da-DK" altLang="da-DK" sz="1600" dirty="0"/>
          </a:p>
        </p:txBody>
      </p:sp>
      <p:sp>
        <p:nvSpPr>
          <p:cNvPr id="2" name="Text Placeholder 1">
            <a:extLst>
              <a:ext uri="{FF2B5EF4-FFF2-40B4-BE49-F238E27FC236}">
                <a16:creationId xmlns:a16="http://schemas.microsoft.com/office/drawing/2014/main" id="{58551BA2-3001-5759-3C05-3FF56A5CE0D9}"/>
              </a:ext>
            </a:extLst>
          </p:cNvPr>
          <p:cNvSpPr>
            <a:spLocks noGrp="1"/>
          </p:cNvSpPr>
          <p:nvPr>
            <p:ph type="body" sz="quarter" idx="10"/>
          </p:nvPr>
        </p:nvSpPr>
        <p:spPr/>
        <p:txBody>
          <a:bodyPr/>
          <a:lstStyle/>
          <a:p>
            <a:r>
              <a:rPr lang="en-US" altLang="da-DK" sz="2800" dirty="0"/>
              <a:t>Some reflections for strategy making</a:t>
            </a:r>
            <a:endParaRPr lang="da-DK"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a:extLst>
              <a:ext uri="{FF2B5EF4-FFF2-40B4-BE49-F238E27FC236}">
                <a16:creationId xmlns:a16="http://schemas.microsoft.com/office/drawing/2014/main" id="{CF4E7AD2-DFEE-F7EF-0AEA-68D6787A76DE}"/>
              </a:ext>
            </a:extLst>
          </p:cNvPr>
          <p:cNvSpPr>
            <a:spLocks noGrp="1"/>
          </p:cNvSpPr>
          <p:nvPr>
            <p:ph sz="quarter" idx="12"/>
          </p:nvPr>
        </p:nvSpPr>
        <p:spPr>
          <a:xfrm>
            <a:off x="917575" y="1019175"/>
            <a:ext cx="7310437" cy="3731501"/>
          </a:xfrm>
        </p:spPr>
        <p:txBody>
          <a:bodyPr>
            <a:normAutofit fontScale="92500"/>
          </a:bodyPr>
          <a:lstStyle/>
          <a:p>
            <a:r>
              <a:rPr lang="en-US" altLang="da-DK" sz="2200" dirty="0"/>
              <a:t>How is value for each user of a platform created from data?</a:t>
            </a:r>
          </a:p>
          <a:p>
            <a:pPr lvl="1">
              <a:buFont typeface="Arial" panose="020B0604020202020204" pitchFamily="34" charset="0"/>
              <a:buChar char="•"/>
            </a:pPr>
            <a:r>
              <a:rPr lang="en-US" altLang="da-DK" sz="1900" dirty="0"/>
              <a:t>The more the platform learns from the data it collects on users, the more valuable the platform becomes to </a:t>
            </a:r>
            <a:r>
              <a:rPr lang="en-US" altLang="da-DK" sz="1900" i="1" dirty="0"/>
              <a:t>each</a:t>
            </a:r>
            <a:r>
              <a:rPr lang="en-US" altLang="da-DK" sz="1900" dirty="0"/>
              <a:t> user</a:t>
            </a:r>
          </a:p>
          <a:p>
            <a:pPr lvl="2">
              <a:buFontTx/>
              <a:buChar char="•"/>
            </a:pPr>
            <a:r>
              <a:rPr lang="en-US" altLang="da-DK" sz="1700" dirty="0"/>
              <a:t>learning from one user should translate into a better product or experience for other users,</a:t>
            </a:r>
          </a:p>
          <a:p>
            <a:pPr lvl="2">
              <a:buFontTx/>
              <a:buChar char="•"/>
            </a:pPr>
            <a:r>
              <a:rPr lang="en-US" altLang="da-DK" sz="1700" dirty="0"/>
              <a:t>product experience enhancement from learning should happen fast enough to affect the current value of the product. </a:t>
            </a:r>
          </a:p>
          <a:p>
            <a:pPr lvl="1">
              <a:buFont typeface="Arial" panose="020B0604020202020204" pitchFamily="34" charset="0"/>
              <a:buChar char="•"/>
            </a:pPr>
            <a:r>
              <a:rPr lang="en-US" altLang="da-DK" sz="1900" dirty="0"/>
              <a:t>data-driven learning and improvements on a platform contributes to user value through data network effects</a:t>
            </a:r>
            <a:endParaRPr lang="en-US" altLang="da-DK" sz="2200" dirty="0"/>
          </a:p>
          <a:p>
            <a:pPr>
              <a:buFontTx/>
              <a:buChar char="•"/>
            </a:pPr>
            <a:r>
              <a:rPr lang="en-US" altLang="da-DK" sz="2200" dirty="0"/>
              <a:t>AI capability: Data-driven Learning</a:t>
            </a:r>
            <a:r>
              <a:rPr lang="en-US" altLang="da-DK" sz="2200" dirty="0">
                <a:sym typeface="Wingdings" panose="05000000000000000000" pitchFamily="2" charset="2"/>
              </a:rPr>
              <a:t> Machine Learning</a:t>
            </a:r>
            <a:endParaRPr lang="en-US" altLang="da-DK" sz="2200" dirty="0"/>
          </a:p>
          <a:p>
            <a:pPr lvl="1">
              <a:buFont typeface="Arial" panose="020B0604020202020204" pitchFamily="34" charset="0"/>
              <a:buChar char="•"/>
            </a:pPr>
            <a:r>
              <a:rPr lang="en-US" altLang="da-DK" sz="1900" dirty="0"/>
              <a:t>The ability of a platform to </a:t>
            </a:r>
            <a:r>
              <a:rPr lang="en-US" altLang="da-DK" sz="1900" i="1" dirty="0"/>
              <a:t>learn</a:t>
            </a:r>
            <a:r>
              <a:rPr lang="en-US" altLang="da-DK" sz="1900" dirty="0"/>
              <a:t> from data to improve its products or services</a:t>
            </a:r>
          </a:p>
          <a:p>
            <a:pPr>
              <a:buFontTx/>
              <a:buChar char="•"/>
            </a:pPr>
            <a:endParaRPr lang="en-US" altLang="da-DK" sz="1700" dirty="0"/>
          </a:p>
          <a:p>
            <a:endParaRPr lang="da-DK" altLang="da-DK" sz="1800" dirty="0"/>
          </a:p>
          <a:p>
            <a:pPr lvl="1"/>
            <a:endParaRPr lang="en-US" altLang="da-DK" sz="1500" dirty="0"/>
          </a:p>
          <a:p>
            <a:endParaRPr lang="da-DK" altLang="da-DK" dirty="0"/>
          </a:p>
        </p:txBody>
      </p:sp>
      <p:sp>
        <p:nvSpPr>
          <p:cNvPr id="2" name="Text Placeholder 1">
            <a:extLst>
              <a:ext uri="{FF2B5EF4-FFF2-40B4-BE49-F238E27FC236}">
                <a16:creationId xmlns:a16="http://schemas.microsoft.com/office/drawing/2014/main" id="{61F2E8FD-D181-F763-3AD1-5CCA645CB2B2}"/>
              </a:ext>
            </a:extLst>
          </p:cNvPr>
          <p:cNvSpPr>
            <a:spLocks noGrp="1"/>
          </p:cNvSpPr>
          <p:nvPr>
            <p:ph type="body" sz="quarter" idx="10"/>
          </p:nvPr>
        </p:nvSpPr>
        <p:spPr/>
        <p:txBody>
          <a:bodyPr/>
          <a:lstStyle/>
          <a:p>
            <a:r>
              <a:rPr lang="en-US" altLang="da-DK" sz="2800" dirty="0"/>
              <a:t>Data Network Effects</a:t>
            </a:r>
            <a:endParaRPr lang="da-DK"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CBA9DD2-52AA-80F0-2862-976C60D95D7A}"/>
              </a:ext>
            </a:extLst>
          </p:cNvPr>
          <p:cNvSpPr>
            <a:spLocks noGrp="1"/>
          </p:cNvSpPr>
          <p:nvPr>
            <p:ph sz="quarter" idx="12"/>
          </p:nvPr>
        </p:nvSpPr>
        <p:spPr>
          <a:xfrm>
            <a:off x="1002354" y="1019175"/>
            <a:ext cx="7310437" cy="3381375"/>
          </a:xfrm>
        </p:spPr>
        <p:txBody>
          <a:bodyPr>
            <a:normAutofit/>
          </a:bodyPr>
          <a:lstStyle/>
          <a:p>
            <a:r>
              <a:rPr lang="en-US" sz="2800" dirty="0"/>
              <a:t>If a digital platform develops an AI solution to automate the provision of some services currently offered by one side of the market (service providers), then what happens to those providers? </a:t>
            </a:r>
          </a:p>
        </p:txBody>
      </p:sp>
      <p:sp>
        <p:nvSpPr>
          <p:cNvPr id="5" name="Text Placeholder 4">
            <a:extLst>
              <a:ext uri="{FF2B5EF4-FFF2-40B4-BE49-F238E27FC236}">
                <a16:creationId xmlns:a16="http://schemas.microsoft.com/office/drawing/2014/main" id="{8F63A2ED-5265-DE60-6E61-00BA692CF486}"/>
              </a:ext>
            </a:extLst>
          </p:cNvPr>
          <p:cNvSpPr>
            <a:spLocks noGrp="1"/>
          </p:cNvSpPr>
          <p:nvPr>
            <p:ph type="body" sz="quarter" idx="10"/>
          </p:nvPr>
        </p:nvSpPr>
        <p:spPr/>
        <p:txBody>
          <a:bodyPr/>
          <a:lstStyle/>
          <a:p>
            <a:r>
              <a:rPr lang="en-US" dirty="0"/>
              <a:t>But…</a:t>
            </a:r>
            <a:endParaRPr lang="da-DK" dirty="0"/>
          </a:p>
        </p:txBody>
      </p:sp>
    </p:spTree>
    <p:extLst>
      <p:ext uri="{BB962C8B-B14F-4D97-AF65-F5344CB8AC3E}">
        <p14:creationId xmlns:p14="http://schemas.microsoft.com/office/powerpoint/2010/main" val="894485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Content Placeholder 5">
            <a:extLst>
              <a:ext uri="{FF2B5EF4-FFF2-40B4-BE49-F238E27FC236}">
                <a16:creationId xmlns:a16="http://schemas.microsoft.com/office/drawing/2014/main" id="{BB08EC5D-F444-6EDA-8DEE-8338196623FA}"/>
              </a:ext>
            </a:extLst>
          </p:cNvPr>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068637" y="1201158"/>
            <a:ext cx="7139840" cy="3195581"/>
          </a:xfrm>
        </p:spPr>
      </p:pic>
      <p:sp>
        <p:nvSpPr>
          <p:cNvPr id="2" name="Text Placeholder 1">
            <a:extLst>
              <a:ext uri="{FF2B5EF4-FFF2-40B4-BE49-F238E27FC236}">
                <a16:creationId xmlns:a16="http://schemas.microsoft.com/office/drawing/2014/main" id="{BBB94C23-C934-174A-84F9-D461227651BC}"/>
              </a:ext>
            </a:extLst>
          </p:cNvPr>
          <p:cNvSpPr>
            <a:spLocks noGrp="1"/>
          </p:cNvSpPr>
          <p:nvPr>
            <p:ph type="body" sz="quarter" idx="10"/>
          </p:nvPr>
        </p:nvSpPr>
        <p:spPr/>
        <p:txBody>
          <a:bodyPr/>
          <a:lstStyle/>
          <a:p>
            <a:r>
              <a:rPr lang="en-US" altLang="da-DK" sz="2800" dirty="0"/>
              <a:t>The model of Data Network Effects</a:t>
            </a:r>
            <a:endParaRPr lang="da-DK" dirty="0"/>
          </a:p>
        </p:txBody>
      </p:sp>
      <p:sp>
        <p:nvSpPr>
          <p:cNvPr id="14342" name="TextBox 6">
            <a:extLst>
              <a:ext uri="{FF2B5EF4-FFF2-40B4-BE49-F238E27FC236}">
                <a16:creationId xmlns:a16="http://schemas.microsoft.com/office/drawing/2014/main" id="{A1A68564-6CA8-FBEF-A6EF-6707FAC793B2}"/>
              </a:ext>
            </a:extLst>
          </p:cNvPr>
          <p:cNvSpPr txBox="1">
            <a:spLocks noChangeArrowheads="1"/>
          </p:cNvSpPr>
          <p:nvPr/>
        </p:nvSpPr>
        <p:spPr bwMode="auto">
          <a:xfrm>
            <a:off x="3869531" y="4569619"/>
            <a:ext cx="28622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a:spcBef>
                <a:spcPct val="0"/>
              </a:spcBef>
            </a:pPr>
            <a:r>
              <a:rPr lang="en-US" altLang="da-DK" sz="1350" i="1">
                <a:latin typeface="Times New Roman" panose="02020603050405020304" pitchFamily="18" charset="0"/>
              </a:rPr>
              <a:t>Source: Gregory et al., 2021</a:t>
            </a:r>
            <a:endParaRPr lang="da-DK" altLang="da-DK" sz="1350" i="1">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204C823-1F56-5F31-9BFB-A21CBD3F8666}"/>
              </a:ext>
            </a:extLst>
          </p:cNvPr>
          <p:cNvSpPr>
            <a:spLocks noGrp="1"/>
          </p:cNvSpPr>
          <p:nvPr>
            <p:ph sz="quarter" idx="12"/>
          </p:nvPr>
        </p:nvSpPr>
        <p:spPr/>
        <p:txBody>
          <a:bodyPr>
            <a:normAutofit lnSpcReduction="10000"/>
          </a:bodyPr>
          <a:lstStyle/>
          <a:p>
            <a:pPr eaLnBrk="1" hangingPunct="1">
              <a:spcBef>
                <a:spcPct val="0"/>
              </a:spcBef>
              <a:defRPr/>
            </a:pPr>
            <a:r>
              <a:rPr lang="en-GB" sz="1800" kern="0" dirty="0">
                <a:effectLst/>
                <a:latin typeface="Aptos" panose="020B0004020202020204" pitchFamily="34" charset="0"/>
                <a:ea typeface="Aptos" panose="020B0004020202020204" pitchFamily="34" charset="0"/>
                <a:cs typeface="Times New Roman" panose="02020603050405020304" pitchFamily="18" charset="0"/>
              </a:rPr>
              <a:t>The Digital Markets Act (DMA) became  applicable on May 2, 2023. The regulation focuses on companies providing  one or more ‘core platform services’ and designates them as “gatekeepers” for their economic significance as intermediaries between businesses and users. </a:t>
            </a:r>
          </a:p>
          <a:p>
            <a:pPr algn="l"/>
            <a:r>
              <a:rPr lang="en-US" sz="1600" b="0" i="0" dirty="0">
                <a:solidFill>
                  <a:srgbClr val="242424"/>
                </a:solidFill>
                <a:effectLst/>
                <a:latin typeface="Segoe UI" panose="020B0502040204020203" pitchFamily="34" charset="0"/>
              </a:rPr>
              <a:t>Here are some key provisions related to data:</a:t>
            </a:r>
          </a:p>
          <a:p>
            <a:pPr algn="l">
              <a:buFont typeface="+mj-lt"/>
              <a:buAutoNum type="arabicPeriod"/>
            </a:pPr>
            <a:r>
              <a:rPr lang="en-US" sz="1600" b="1" i="0" dirty="0">
                <a:solidFill>
                  <a:srgbClr val="242424"/>
                </a:solidFill>
                <a:effectLst/>
                <a:latin typeface="Segoe UI" panose="020B0502040204020203" pitchFamily="34" charset="0"/>
              </a:rPr>
              <a:t>Data Sharing</a:t>
            </a:r>
            <a:r>
              <a:rPr lang="en-US" sz="1600" b="0" i="0" dirty="0">
                <a:solidFill>
                  <a:srgbClr val="242424"/>
                </a:solidFill>
                <a:effectLst/>
                <a:latin typeface="Segoe UI" panose="020B0502040204020203" pitchFamily="34" charset="0"/>
              </a:rPr>
              <a:t>: Gatekeepers must allow business users to access the data they generate on the platform, including data related to customer interactions</a:t>
            </a:r>
            <a:r>
              <a:rPr lang="en-US" sz="1600" dirty="0">
                <a:solidFill>
                  <a:srgbClr val="242424"/>
                </a:solidFill>
                <a:latin typeface="var(--fontFamilyBase)"/>
              </a:rPr>
              <a:t>.</a:t>
            </a:r>
            <a:endParaRPr lang="en-US" sz="1600" b="0" i="0" dirty="0">
              <a:solidFill>
                <a:srgbClr val="242424"/>
              </a:solidFill>
              <a:effectLst/>
              <a:latin typeface="Segoe UI" panose="020B0502040204020203" pitchFamily="34" charset="0"/>
            </a:endParaRPr>
          </a:p>
          <a:p>
            <a:pPr algn="l">
              <a:buFont typeface="+mj-lt"/>
              <a:buAutoNum type="arabicPeriod"/>
            </a:pPr>
            <a:r>
              <a:rPr lang="en-US" sz="1600" b="1" i="0" dirty="0">
                <a:solidFill>
                  <a:srgbClr val="242424"/>
                </a:solidFill>
                <a:effectLst/>
                <a:latin typeface="Segoe UI" panose="020B0502040204020203" pitchFamily="34" charset="0"/>
              </a:rPr>
              <a:t>Data Combination Restrictions</a:t>
            </a:r>
            <a:r>
              <a:rPr lang="en-US" sz="1600" b="0" i="0" dirty="0">
                <a:solidFill>
                  <a:srgbClr val="242424"/>
                </a:solidFill>
                <a:effectLst/>
                <a:latin typeface="Segoe UI" panose="020B0502040204020203" pitchFamily="34" charset="0"/>
              </a:rPr>
              <a:t>: Gatekeepers are prohibited from combining personal data sourced from their core platform services with data from other services, unless explicit consent is obtained from users.</a:t>
            </a:r>
          </a:p>
          <a:p>
            <a:pPr eaLnBrk="1" hangingPunct="1">
              <a:spcBef>
                <a:spcPct val="0"/>
              </a:spcBef>
              <a:defRPr/>
            </a:pPr>
            <a:endParaRPr lang="en-GB" sz="1800" kern="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eaLnBrk="1" hangingPunct="1">
              <a:spcBef>
                <a:spcPct val="0"/>
              </a:spcBef>
              <a:buFont typeface="Arial" panose="020B0604020202020204" pitchFamily="34" charset="0"/>
              <a:buChar char="•"/>
              <a:defRPr/>
            </a:pPr>
            <a:r>
              <a:rPr lang="en-GB" sz="1800" kern="0" dirty="0">
                <a:solidFill>
                  <a:schemeClr val="tx2"/>
                </a:solidFill>
                <a:latin typeface="Aptos" panose="020B0004020202020204" pitchFamily="34" charset="0"/>
                <a:cs typeface="Times New Roman" panose="02020603050405020304" pitchFamily="18" charset="0"/>
              </a:rPr>
              <a:t>What could be the costs and benefits  from DMA for business users in case of online search and online advertising?</a:t>
            </a:r>
          </a:p>
          <a:p>
            <a:pPr eaLnBrk="1" hangingPunct="1">
              <a:spcBef>
                <a:spcPct val="0"/>
              </a:spcBef>
              <a:defRPr/>
            </a:pPr>
            <a:endParaRPr lang="da-DK" dirty="0"/>
          </a:p>
        </p:txBody>
      </p:sp>
      <p:sp>
        <p:nvSpPr>
          <p:cNvPr id="5" name="Text Placeholder 4">
            <a:extLst>
              <a:ext uri="{FF2B5EF4-FFF2-40B4-BE49-F238E27FC236}">
                <a16:creationId xmlns:a16="http://schemas.microsoft.com/office/drawing/2014/main" id="{94FE800B-8190-E1EE-13A8-17D353BF508D}"/>
              </a:ext>
            </a:extLst>
          </p:cNvPr>
          <p:cNvSpPr>
            <a:spLocks noGrp="1"/>
          </p:cNvSpPr>
          <p:nvPr>
            <p:ph type="body" sz="quarter" idx="10"/>
          </p:nvPr>
        </p:nvSpPr>
        <p:spPr/>
        <p:txBody>
          <a:bodyPr/>
          <a:lstStyle/>
          <a:p>
            <a:r>
              <a:rPr lang="en-US" dirty="0"/>
              <a:t>OPEN FORUM</a:t>
            </a:r>
            <a:endParaRPr lang="da-DK" dirty="0"/>
          </a:p>
        </p:txBody>
      </p:sp>
    </p:spTree>
    <p:extLst>
      <p:ext uri="{BB962C8B-B14F-4D97-AF65-F5344CB8AC3E}">
        <p14:creationId xmlns:p14="http://schemas.microsoft.com/office/powerpoint/2010/main" val="2044805578"/>
      </p:ext>
    </p:extLst>
  </p:cSld>
  <p:clrMapOvr>
    <a:masterClrMapping/>
  </p:clrMapOvr>
</p:sld>
</file>

<file path=ppt/theme/theme1.xml><?xml version="1.0" encoding="utf-8"?>
<a:theme xmlns:a="http://schemas.openxmlformats.org/drawingml/2006/main" name="Title Slides">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lassisk kontor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Slides - Pi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BC29BC07FE2BB46AF5224F684219C8B" ma:contentTypeVersion="1" ma:contentTypeDescription="Create a new document." ma:contentTypeScope="" ma:versionID="dc767dc6a6b6d55af0f0d698a45e0b34">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061886-A6B2-4AC7-8398-3DC806DA4D6C}">
  <ds:schemaRefs>
    <ds:schemaRef ds:uri="http://schemas.microsoft.com/sharepoint/v3/contenttype/forms"/>
  </ds:schemaRefs>
</ds:datastoreItem>
</file>

<file path=customXml/itemProps2.xml><?xml version="1.0" encoding="utf-8"?>
<ds:datastoreItem xmlns:ds="http://schemas.openxmlformats.org/officeDocument/2006/customXml" ds:itemID="{E50CD774-C46D-4492-9C14-B8B691B83853}">
  <ds:schemaRefs>
    <ds:schemaRef ds:uri="http://purl.org/dc/elements/1.1/"/>
    <ds:schemaRef ds:uri="http://schemas.microsoft.com/office/2006/metadata/properties"/>
    <ds:schemaRef ds:uri="http://purl.org/dc/terms/"/>
    <ds:schemaRef ds:uri="http://schemas.microsoft.com/sharepoint/v3"/>
    <ds:schemaRef ds:uri="http://schemas.microsoft.com/office/2006/documentManagement/types"/>
    <ds:schemaRef ds:uri="http://schemas.openxmlformats.org/package/2006/metadata/core-properties"/>
    <ds:schemaRef ds:uri="http://www.w3.org/XML/1998/namespace"/>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9A46ABF9-A021-4776-A5A5-26C5441FE4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16530</TotalTime>
  <Words>861</Words>
  <Application>Microsoft Office PowerPoint</Application>
  <PresentationFormat>On-screen Show (16:9)</PresentationFormat>
  <Paragraphs>121</Paragraphs>
  <Slides>21</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21</vt:i4>
      </vt:variant>
    </vt:vector>
  </HeadingPairs>
  <TitlesOfParts>
    <vt:vector size="33" baseType="lpstr">
      <vt:lpstr>ＭＳ Ｐゴシック</vt:lpstr>
      <vt:lpstr>Aptos</vt:lpstr>
      <vt:lpstr>Arial</vt:lpstr>
      <vt:lpstr>Calibri</vt:lpstr>
      <vt:lpstr>Segoe UI</vt:lpstr>
      <vt:lpstr>Tahoma</vt:lpstr>
      <vt:lpstr>Times New Roman</vt:lpstr>
      <vt:lpstr>var(--fontFamilyBase)</vt:lpstr>
      <vt:lpstr>Wingdings</vt:lpstr>
      <vt:lpstr>Title Slides</vt:lpstr>
      <vt:lpstr>Content Slides</vt:lpstr>
      <vt:lpstr>Content Slides -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CBS EA</dc:creator>
  <cp:lastModifiedBy>Ioanna Constantiou</cp:lastModifiedBy>
  <cp:revision>396</cp:revision>
  <cp:lastPrinted>2017-02-03T11:55:52Z</cp:lastPrinted>
  <dcterms:created xsi:type="dcterms:W3CDTF">2013-11-09T16:46:18Z</dcterms:created>
  <dcterms:modified xsi:type="dcterms:W3CDTF">2026-02-15T14:54:58Z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0x0101004BC29BC07FE2BB46AF5224F684219C8B</vt:lpwstr>
  </property>
</Properties>
</file>