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9" r:id="rId2"/>
    <p:sldId id="269" r:id="rId3"/>
    <p:sldId id="262" r:id="rId4"/>
    <p:sldId id="294" r:id="rId5"/>
    <p:sldId id="276" r:id="rId6"/>
  </p:sldIdLst>
  <p:sldSz cx="9144000" cy="6858000" type="screen4x3"/>
  <p:notesSz cx="6797675" cy="9926638"/>
  <p:defaultTextStyle>
    <a:defPPr>
      <a:defRPr lang="da-DK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 varScale="1">
        <p:scale>
          <a:sx n="95" d="100"/>
          <a:sy n="95" d="100"/>
        </p:scale>
        <p:origin x="10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31F9B17-30BF-13D6-DC68-CDBDBB5C53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9" tIns="45670" rIns="91339" bIns="45670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D4DCC05-92EB-6424-325D-0269B4B8A0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9" tIns="45670" rIns="91339" bIns="45670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A3D277D7-6548-5E63-1CCD-95CF5D95B53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9" tIns="45670" rIns="91339" bIns="45670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200"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17A33E53-B248-FF1A-D8AF-85CE24ED8F7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9" tIns="45670" rIns="91339" bIns="45670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/>
            </a:lvl1pPr>
          </a:lstStyle>
          <a:p>
            <a:pPr>
              <a:defRPr/>
            </a:pPr>
            <a:fld id="{7223590F-6D64-434F-A4CB-BD94D05B9609}" type="slidenum">
              <a:rPr lang="da-DK" altLang="sv-SE"/>
              <a:pPr>
                <a:defRPr/>
              </a:pPr>
              <a:t>‹#›</a:t>
            </a:fld>
            <a:endParaRPr lang="da-DK" alt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3415AE9-E59B-C1CF-049F-BB43139B06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B3154F3-26AA-F06E-0AF1-D29AA47BB2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3B8ADE1-BC45-6E9E-8FF6-CDAC89DBFB4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F78D475F-148D-31F9-192F-9B0FD36BF20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8B06E14C-29B7-946B-B4D3-2B64A47A75F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CE1084AA-F7E2-D9CC-EA6B-79111AB8A2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19B079E-3095-4C2D-B61A-AB2E95BF2C73}" type="slidenum">
              <a:rPr lang="en-US" altLang="sv-SE"/>
              <a:pPr>
                <a:defRPr/>
              </a:pPr>
              <a:t>‹#›</a:t>
            </a:fld>
            <a:endParaRPr lang="en-US" alt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54B21A-058B-C4E7-68EF-46A3E2AB4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FF1F82-C657-D712-C130-2112D92FD7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1443995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C8A7A0-7B20-108D-31D4-809977CC88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BBD646-024E-E2D6-268C-C54CD1027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80146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9F1DE4-F546-98FC-635E-5B869C26B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C86168-D6AF-D5D8-890B-A8EBC9C11A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69531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98638"/>
            <a:ext cx="38100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798638"/>
            <a:ext cx="38100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0E284-D3AE-D36D-5115-FA98930589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DD75-6EEA-C57E-525C-3130414735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166626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C656EF-53E0-94D0-BD02-4C1C276B0C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9FC5B6B-3786-94FB-1351-9978B4DA7E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56650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06733D0-A437-0B18-2EF8-F612C7CAC0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426259-69D4-BC7B-1127-4194518B0A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348137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615954-2249-34BC-4CAD-BB810B71D2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483926E-5577-7472-383D-5B037F6444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35837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A9632-B285-D3DE-9531-0F20342991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590E88-7C23-2E6F-4024-AB42C3350B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301356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A15538-DD8C-3619-5B65-6BEC4570F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9A015-2D0C-BD87-51FF-D0E1F5FBC8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329290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481721-D9EF-AC35-72EB-3F0A050FA3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98D76C-C5C3-BBF5-C98B-906FB3FBF1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200367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67525" y="719138"/>
            <a:ext cx="2009775" cy="4813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19138"/>
            <a:ext cx="5876925" cy="4813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BC5DDA-E4A2-A472-DB25-C7D47E4FC4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5CD363-F159-53BF-7A1D-150126F861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161432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15257A05-B098-D603-33FF-F286C80A04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48400"/>
            <a:ext cx="2411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64D17FB-E5C6-8B62-7B8A-8DE20FD0A2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69013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  <p:pic>
        <p:nvPicPr>
          <p:cNvPr id="2" name="Picture 9" descr="pantone_7474">
            <a:extLst>
              <a:ext uri="{FF2B5EF4-FFF2-40B4-BE49-F238E27FC236}">
                <a16:creationId xmlns:a16="http://schemas.microsoft.com/office/drawing/2014/main" id="{B2E64DA5-607E-42F1-7B02-C7516A25A4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50813"/>
            <a:ext cx="8674100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1">
            <a:extLst>
              <a:ext uri="{FF2B5EF4-FFF2-40B4-BE49-F238E27FC236}">
                <a16:creationId xmlns:a16="http://schemas.microsoft.com/office/drawing/2014/main" id="{1736376C-BE8C-2A64-BCA2-2DEF95317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98638"/>
            <a:ext cx="77724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en-US"/>
              <a:t>Klik for at redigere brødteksten</a:t>
            </a:r>
          </a:p>
          <a:p>
            <a:pPr lvl="1"/>
            <a:r>
              <a:rPr lang="da-DK" altLang="en-US"/>
              <a:t>Andet niveau</a:t>
            </a:r>
          </a:p>
          <a:p>
            <a:pPr lvl="2"/>
            <a:r>
              <a:rPr lang="da-DK" altLang="en-US"/>
              <a:t>Tredje niveau</a:t>
            </a:r>
          </a:p>
          <a:p>
            <a:pPr lvl="3"/>
            <a:r>
              <a:rPr lang="da-DK" altLang="en-US"/>
              <a:t>Fjerde niveau</a:t>
            </a:r>
          </a:p>
          <a:p>
            <a:pPr lvl="4"/>
            <a:r>
              <a:rPr lang="da-DK" altLang="en-US"/>
              <a:t>Femte niveau</a:t>
            </a:r>
          </a:p>
        </p:txBody>
      </p:sp>
      <p:sp>
        <p:nvSpPr>
          <p:cNvPr id="1030" name="Rectangle 12">
            <a:extLst>
              <a:ext uri="{FF2B5EF4-FFF2-40B4-BE49-F238E27FC236}">
                <a16:creationId xmlns:a16="http://schemas.microsoft.com/office/drawing/2014/main" id="{42E3A3F6-9E32-6408-7445-AFEB4742E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0" y="719138"/>
            <a:ext cx="563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en-US"/>
              <a:t>Her skal overskriften stå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ic.digi@cbs.d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>
            <a:extLst>
              <a:ext uri="{FF2B5EF4-FFF2-40B4-BE49-F238E27FC236}">
                <a16:creationId xmlns:a16="http://schemas.microsoft.com/office/drawing/2014/main" id="{A0BF0321-868D-7D3A-0A32-28447D202B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Intro</a:t>
            </a:r>
          </a:p>
        </p:txBody>
      </p:sp>
      <p:sp>
        <p:nvSpPr>
          <p:cNvPr id="4099" name="Footer Placeholder 4">
            <a:extLst>
              <a:ext uri="{FF2B5EF4-FFF2-40B4-BE49-F238E27FC236}">
                <a16:creationId xmlns:a16="http://schemas.microsoft.com/office/drawing/2014/main" id="{6FE89747-8451-5858-19C8-87BEBC62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ic.digi@cbs.dk</a:t>
            </a:r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659751E2-2881-9B4D-D90B-414AA2FE7F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4200">
                <a:solidFill>
                  <a:srgbClr val="008080"/>
                </a:solidFill>
              </a:rPr>
              <a:t>Data, Platforms and Digitalization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4EC166A5-0DD1-E4A0-895F-A9390E0979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Ioanna Constantiou, </a:t>
            </a:r>
            <a:r>
              <a:rPr lang="en-US" altLang="en-US" sz="2000">
                <a:solidFill>
                  <a:schemeClr val="accent2"/>
                </a:solidFill>
                <a:hlinkClick r:id="rId2"/>
              </a:rPr>
              <a:t>ic.digi@cbs.dk</a:t>
            </a:r>
            <a:endParaRPr lang="en-US" altLang="en-US" sz="2000">
              <a:solidFill>
                <a:schemeClr val="accent2"/>
              </a:solidFill>
            </a:endParaRPr>
          </a:p>
          <a:p>
            <a:pPr eaLnBrk="1" hangingPunct="1"/>
            <a:r>
              <a:rPr lang="en-US" altLang="en-US" sz="2000"/>
              <a:t>Department of Digitalization</a:t>
            </a:r>
          </a:p>
          <a:p>
            <a:pPr eaLnBrk="1" hangingPunct="1"/>
            <a:endParaRPr lang="en-US" altLang="en-US" sz="2000"/>
          </a:p>
        </p:txBody>
      </p:sp>
      <p:pic>
        <p:nvPicPr>
          <p:cNvPr id="4102" name="Picture 7" descr="Ioanna Constantiou ">
            <a:extLst>
              <a:ext uri="{FF2B5EF4-FFF2-40B4-BE49-F238E27FC236}">
                <a16:creationId xmlns:a16="http://schemas.microsoft.com/office/drawing/2014/main" id="{4407A302-4110-75BB-CDDC-9B9D4DFB2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837113"/>
            <a:ext cx="8223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9" descr="Rony Medaglia">
            <a:extLst>
              <a:ext uri="{FF2B5EF4-FFF2-40B4-BE49-F238E27FC236}">
                <a16:creationId xmlns:a16="http://schemas.microsoft.com/office/drawing/2014/main" id="{34A9814B-F24D-A5BC-3415-34C292AC1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4837113"/>
            <a:ext cx="8477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790E70F-18FE-22DC-4C76-11DBE68D9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a-DK" altLang="en-US" sz="3600"/>
              <a:t>Learning objectives</a:t>
            </a:r>
            <a:endParaRPr lang="en-US" altLang="en-US" sz="36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9573D33-8A9F-AF71-1117-48042B476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da-DK" sz="2000">
                <a:solidFill>
                  <a:srgbClr val="000000"/>
                </a:solidFill>
              </a:rPr>
              <a:t>Explain how digitalization influences key economic theories and strategy tools (LO1)</a:t>
            </a:r>
          </a:p>
          <a:p>
            <a:pPr>
              <a:buFontTx/>
              <a:buChar char="•"/>
            </a:pPr>
            <a:endParaRPr lang="en-US" altLang="da-DK" sz="2000">
              <a:solidFill>
                <a:srgbClr val="000000"/>
              </a:solidFill>
            </a:endParaRPr>
          </a:p>
          <a:p>
            <a:pPr>
              <a:buFontTx/>
              <a:buChar char="•"/>
            </a:pPr>
            <a:r>
              <a:rPr lang="en-US" altLang="da-DK" sz="2000">
                <a:solidFill>
                  <a:srgbClr val="000000"/>
                </a:solidFill>
              </a:rPr>
              <a:t>Explain how digitalization influences markets, and firms through examples based on business cases or sectoral analysis. (LO2)</a:t>
            </a:r>
          </a:p>
          <a:p>
            <a:pPr>
              <a:buFontTx/>
              <a:buChar char="•"/>
            </a:pPr>
            <a:endParaRPr lang="en-US" altLang="da-DK" sz="2000">
              <a:solidFill>
                <a:srgbClr val="000000"/>
              </a:solidFill>
            </a:endParaRPr>
          </a:p>
          <a:p>
            <a:pPr>
              <a:buFontTx/>
              <a:buChar char="•"/>
            </a:pPr>
            <a:r>
              <a:rPr lang="en-US" altLang="da-DK" sz="2000">
                <a:solidFill>
                  <a:srgbClr val="000000"/>
                </a:solidFill>
              </a:rPr>
              <a:t>Use a set of theoretical tools to analyse the impact of digitalization in the markets (LO3)</a:t>
            </a:r>
          </a:p>
          <a:p>
            <a:pPr>
              <a:buFontTx/>
              <a:buChar char="•"/>
            </a:pPr>
            <a:endParaRPr lang="en-US" altLang="da-DK" sz="2000">
              <a:solidFill>
                <a:srgbClr val="000000"/>
              </a:solidFill>
            </a:endParaRPr>
          </a:p>
          <a:p>
            <a:pPr>
              <a:buFontTx/>
              <a:buChar char="•"/>
            </a:pPr>
            <a:r>
              <a:rPr lang="en-US" altLang="da-DK" sz="2000">
                <a:solidFill>
                  <a:srgbClr val="000000"/>
                </a:solidFill>
              </a:rPr>
              <a:t>Identify and reflect upon the strategic implications of digital transformation for the different market players </a:t>
            </a:r>
            <a:r>
              <a:rPr lang="en-US" altLang="da-DK" sz="2400">
                <a:solidFill>
                  <a:srgbClr val="000000"/>
                </a:solidFill>
              </a:rPr>
              <a:t>(LO4)</a:t>
            </a:r>
          </a:p>
          <a:p>
            <a:pPr>
              <a:buFontTx/>
              <a:buChar char="•"/>
            </a:pPr>
            <a:endParaRPr lang="en-US" altLang="en-US" sz="2400"/>
          </a:p>
        </p:txBody>
      </p:sp>
      <p:sp>
        <p:nvSpPr>
          <p:cNvPr id="5124" name="Footer Placeholder 4">
            <a:extLst>
              <a:ext uri="{FF2B5EF4-FFF2-40B4-BE49-F238E27FC236}">
                <a16:creationId xmlns:a16="http://schemas.microsoft.com/office/drawing/2014/main" id="{FF478ED2-011C-12E6-B81D-5622F6E9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ic.digi@cbs.dk</a:t>
            </a:r>
          </a:p>
        </p:txBody>
      </p:sp>
      <p:sp>
        <p:nvSpPr>
          <p:cNvPr id="5125" name="Date Placeholder 3">
            <a:extLst>
              <a:ext uri="{FF2B5EF4-FFF2-40B4-BE49-F238E27FC236}">
                <a16:creationId xmlns:a16="http://schemas.microsoft.com/office/drawing/2014/main" id="{14B8C0BA-28EF-3342-0BC4-1DB82FDC3C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69EF990-D5F7-1735-5B57-4CACC354C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>
                <a:solidFill>
                  <a:schemeClr val="bg1"/>
                </a:solidFill>
              </a:rPr>
              <a:t>DPD Outline (1/2)</a:t>
            </a:r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8324BC2-9164-EA80-4055-AD5FB3A6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ic.digi@cbs.dk</a:t>
            </a:r>
          </a:p>
        </p:txBody>
      </p:sp>
      <p:sp>
        <p:nvSpPr>
          <p:cNvPr id="6148" name="Date Placeholder 3">
            <a:extLst>
              <a:ext uri="{FF2B5EF4-FFF2-40B4-BE49-F238E27FC236}">
                <a16:creationId xmlns:a16="http://schemas.microsoft.com/office/drawing/2014/main" id="{3318E2CE-9C25-5CE4-BFD4-01C23E8977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Intro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1FF5A78-725F-3CC3-4643-E53EB8BE07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0825" y="1484313"/>
          <a:ext cx="8712200" cy="4689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8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3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latin typeface="Times New Roman"/>
                          <a:ea typeface="Times New Roman"/>
                          <a:cs typeface="Times New Roman"/>
                        </a:rPr>
                        <a:t>Session</a:t>
                      </a:r>
                      <a:endParaRPr lang="da-DK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latin typeface="Times New Roman"/>
                          <a:ea typeface="Times New Roman"/>
                          <a:cs typeface="Times New Roman"/>
                        </a:rPr>
                        <a:t>Topics of the day </a:t>
                      </a:r>
                      <a:endParaRPr lang="da-DK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latin typeface="Times New Roman"/>
                          <a:ea typeface="Times New Roman"/>
                          <a:cs typeface="Times New Roman"/>
                        </a:rPr>
                        <a:t>Learning goal /questions </a:t>
                      </a:r>
                      <a:endParaRPr lang="da-DK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74" marR="6857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7988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 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Course introduction 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Current Technological Trends &amp; Economics 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LO1, LO2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does digitalization influence employment, business performance and competitive advantage?</a:t>
                      </a:r>
                      <a:endParaRPr lang="da-DK" sz="140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24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2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Using information to maximize revenues: Digital Market Dynamics and Characteristics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LO2, LO3, LO4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can firms compete in newly vulnerable markets?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can firms manage network effects and of digital products/services? 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197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3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9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Using information to maximize revenues from the customers: Pricing strategies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LO3 &amp; LO4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can a firm price digital products/services?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What are the alternative revenue models in digital markets?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991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4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10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Using information to maximize value for the organization  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LO2, LO3,LO4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does digitalization influence dynamic capabilities?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is digital transformation challenge the firm’s key resources?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4698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5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11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Strategy formulation  &amp; digital transformation</a:t>
                      </a:r>
                      <a:endParaRPr lang="da-DK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LO2 &amp; LO3, LO4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are the new strategy tools enabled by digitalization?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is digital transformation challenging managerial cognition?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Mid-term course evaluation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EC67820-74AC-4778-3E31-20D2CE670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3575" y="757238"/>
            <a:ext cx="5638800" cy="4572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bg1"/>
                </a:solidFill>
              </a:rPr>
              <a:t>DPD Outline (2/2)</a:t>
            </a:r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BD96E0AE-99D6-922E-F44E-883BDD38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ic.digi@cbs.dk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19BC4CC3-A7EC-0535-528D-7C412674F96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Intro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F93219-9A23-5393-9AF2-63702992B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342425"/>
              </p:ext>
            </p:extLst>
          </p:nvPr>
        </p:nvGraphicFramePr>
        <p:xfrm>
          <a:off x="227013" y="1522413"/>
          <a:ext cx="8713787" cy="4725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5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Times New Roman"/>
                          <a:ea typeface="Times New Roman"/>
                          <a:cs typeface="Times New Roman"/>
                        </a:rPr>
                        <a:t>Session</a:t>
                      </a:r>
                      <a:endParaRPr lang="da-DK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Times New Roman"/>
                          <a:ea typeface="Times New Roman"/>
                          <a:cs typeface="Times New Roman"/>
                        </a:rPr>
                        <a:t>Topics of the day </a:t>
                      </a:r>
                      <a:endParaRPr lang="da-DK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Times New Roman"/>
                          <a:ea typeface="Times New Roman"/>
                          <a:cs typeface="Times New Roman"/>
                        </a:rPr>
                        <a:t>Learning goal /questions </a:t>
                      </a:r>
                      <a:endParaRPr lang="da-DK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302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6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12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Aft>
                          <a:spcPts val="60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Using smart data for digital strategy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LO2, LO3, LO4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does competition change in light of connected products? 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 new-comers still compete with incumbents?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055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7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r>
                        <a:rPr lang="el-G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Aft>
                          <a:spcPts val="60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Multi-sided platforms and datification</a:t>
                      </a:r>
                      <a:endParaRPr lang="da-DK" sz="140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LO2 &amp; LO3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does data provide value in multi-sided platforms?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What are the impacts of multi-sided platforms on market participants?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1388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8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Aft>
                          <a:spcPts val="60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Datification and transaction costs: new governance structures</a:t>
                      </a:r>
                      <a:endParaRPr lang="da-DK" sz="140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LO3 &amp; LO4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are co-ordination costs minimised in a data driven business ? 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 do firms choose to move to the middle of markets and hierarchies?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75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9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Aft>
                          <a:spcPts val="600"/>
                        </a:spcAft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Using data in contract design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LO1, LO2, LO3, LO4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can digitalization shape contracts?</a:t>
                      </a:r>
                      <a:endParaRPr lang="da-D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695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 10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r>
                        <a:rPr lang="el-GR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da-DK" sz="14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Ethics and responsibility of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datification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and algorithmic management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LO2 &amp; LO4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What are the ethics and responsibility implications of IT and algorithmic management?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286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Course evaluation</a:t>
                      </a:r>
                      <a:endParaRPr lang="da-D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E2F97CB-194A-030D-06F3-FC045AD2A7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Exam rationale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47C6C97-E1F2-8D47-39A0-0275D36815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a-DK" sz="2000"/>
              <a:t>Home written assignment - written product- Individual exam (</a:t>
            </a:r>
            <a:r>
              <a:rPr lang="en-US" altLang="da-DK" sz="2000">
                <a:solidFill>
                  <a:srgbClr val="FF0000"/>
                </a:solidFill>
              </a:rPr>
              <a:t>Max. 10 pages</a:t>
            </a:r>
            <a:r>
              <a:rPr lang="en-US" altLang="da-DK" sz="2000"/>
              <a:t>)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Introduce a specific business problem that you wish to address</a:t>
            </a:r>
          </a:p>
          <a:p>
            <a:pPr lvl="1" eaLnBrk="1" hangingPunct="1">
              <a:buFontTx/>
              <a:buChar char="•"/>
            </a:pPr>
            <a:r>
              <a:rPr lang="en-US" altLang="en-US"/>
              <a:t>Traditional firm: Digital transformation e.g., specific business processes, new business activity </a:t>
            </a:r>
          </a:p>
          <a:p>
            <a:pPr lvl="1" eaLnBrk="1" hangingPunct="1">
              <a:buFontTx/>
              <a:buChar char="•"/>
            </a:pPr>
            <a:r>
              <a:rPr lang="en-US" altLang="en-US"/>
              <a:t>Digital firm: Digital transformation in the industry, market dynamics, new barriers etc</a:t>
            </a:r>
            <a:r>
              <a:rPr lang="en-US" altLang="en-US" sz="2000"/>
              <a:t>.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How do theories advise managers to deal with the problem?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What are the consequences for the firm?</a:t>
            </a:r>
          </a:p>
          <a:p>
            <a:pPr eaLnBrk="1" hangingPunct="1">
              <a:buFontTx/>
              <a:buChar char="•"/>
            </a:pPr>
            <a:r>
              <a:rPr lang="en-US" altLang="en-US" sz="2000"/>
              <a:t>Be analytical, use arguments from specific sources-mention the academics’ </a:t>
            </a:r>
            <a:r>
              <a:rPr lang="en-US" altLang="en-US" sz="2000">
                <a:solidFill>
                  <a:srgbClr val="3333FF"/>
                </a:solidFill>
              </a:rPr>
              <a:t>names</a:t>
            </a:r>
            <a:r>
              <a:rPr lang="en-US" altLang="en-US" sz="2000"/>
              <a:t>!</a:t>
            </a:r>
          </a:p>
          <a:p>
            <a:pPr eaLnBrk="1" hangingPunct="1">
              <a:buFontTx/>
              <a:buChar char="•"/>
            </a:pPr>
            <a:endParaRPr lang="en-US" altLang="en-US" sz="2000">
              <a:solidFill>
                <a:srgbClr val="3333FF"/>
              </a:solidFill>
            </a:endParaRPr>
          </a:p>
        </p:txBody>
      </p:sp>
      <p:sp>
        <p:nvSpPr>
          <p:cNvPr id="8196" name="Footer Placeholder 4">
            <a:extLst>
              <a:ext uri="{FF2B5EF4-FFF2-40B4-BE49-F238E27FC236}">
                <a16:creationId xmlns:a16="http://schemas.microsoft.com/office/drawing/2014/main" id="{C1E281E6-D97F-C981-F8E5-64A769CD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ic.digi@cbs.dk</a:t>
            </a:r>
          </a:p>
        </p:txBody>
      </p:sp>
      <p:sp>
        <p:nvSpPr>
          <p:cNvPr id="8197" name="Date Placeholder 3">
            <a:extLst>
              <a:ext uri="{FF2B5EF4-FFF2-40B4-BE49-F238E27FC236}">
                <a16:creationId xmlns:a16="http://schemas.microsoft.com/office/drawing/2014/main" id="{7F703328-ED15-3C31-294B-ED6C06E967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da-DK" altLang="en-US">
                <a:latin typeface="Times New Roman" panose="02020603050405020304" pitchFamily="18" charset="0"/>
              </a:rPr>
              <a:t>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2118</TotalTime>
  <Words>592</Words>
  <Application>Microsoft Office PowerPoint</Application>
  <PresentationFormat>On-screen Show (4:3)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Tahoma</vt:lpstr>
      <vt:lpstr>Symbol</vt:lpstr>
      <vt:lpstr>Standarddesign</vt:lpstr>
      <vt:lpstr>Data, Platforms and Digitalization</vt:lpstr>
      <vt:lpstr>Learning objectives</vt:lpstr>
      <vt:lpstr>DPD Outline (1/2)</vt:lpstr>
      <vt:lpstr>DPD Outline (2/2)</vt:lpstr>
      <vt:lpstr>Exam rationale</vt:lpstr>
    </vt:vector>
  </TitlesOfParts>
  <Company>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Bjarne Mobeck</dc:creator>
  <cp:lastModifiedBy>Ioanna Constantiou</cp:lastModifiedBy>
  <cp:revision>182</cp:revision>
  <cp:lastPrinted>2019-02-04T08:06:30Z</cp:lastPrinted>
  <dcterms:created xsi:type="dcterms:W3CDTF">2005-01-14T09:58:28Z</dcterms:created>
  <dcterms:modified xsi:type="dcterms:W3CDTF">2026-02-04T07:41:40Z</dcterms:modified>
</cp:coreProperties>
</file>